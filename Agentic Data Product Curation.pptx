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curator states the data product intent in chat and attaches any supporting context: docs, PDFs, specs. The harness, built on the OpenAI Agents SDK, runs a main agent that plans the work and queries five context sources: the ontology for business concepts, MetaQ for metadata, Denodo MCP for profiling and sampling, source code search for transformation logic, and previous mappings from approved data products so proven patterns are reused. Harness capabilities include subagents the main agent can spin up when needed, context compaction, file-system offload, skills, an MCP client, multi-format ingestion and canvas sync. It drafts the intent-to-source mapping, which appears live in the AG Grid canvas. A reviewer agent validates it and sends issues back until it passes. Humans then review, edit and approve before the data product is published to the catalogue.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curating a data product is a chain of hand-offs. An analyst captures the request, data stewards search metadata and map it to the ontology, engineers profile the data and read source code, and then the team writes the spec, reviews it and publishes. Knowledge sits with individuals, and gaps often surface late, which forces rework. With the harness, the user describes the intent once, with supporting documents. The main agent gathers context from all five sources, spawning subagents when needed, including previous mappings from approved products, drafts the mapping live on the AG Grid canvas, and a reviewer agent validates it. The user then reviews, edits cells, and accepts or rejects. Reviewer findings and human edits loop back to the agent until the user approves, and only then is the product published to the catalogue. Fill in the impact metrics on the right with your baseline and pilot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alternative to the first architecture slide; keep whichever reads better for your audience. Follow the blue numbers 1 to 6, each used once, to trace one request. 1: the curator states the intent in chat, with any documents. 2: the main agent plans, gathers context from the context plane through MCP and tools (ontology, MetaQ, Denodo MCP, code search, prior mappings) and drafts the mapping. Subagents are one of the harness capabilities, alongside skills, MCP, context compaction and file-system offload; the main agent uses them when the task needs it. 3: the draft mapping appears live on the AG Grid canvas. 4: the reviewer agent validates it; the loop of plan, act, observe and review repeats until it passes. 5: the human reviews and edits on the canvas, then approves. 6: the data product is published to the catalogue. The orange dashed line on the left shows human edits and rejections going back to the main agent. Agent state covers working context, offloaded files, session history and canvas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arrows left to right; the flow zig-zags between you and the agents. 1: you start in chat with your intent and any documents. 2: the main agent maps the intent, querying only the context sources it needs: ontology, MetaQ, Denodo MCP, code search and prior mappings. 3: the draft mapping appears on the AG Grid canvas. 4: the reviewer agent validates it; if it finds issues, the main agent re-edits the canvas and the reviewer checks again. 5: you review, edit if needed and approve; if you request changes, it goes back to the main agent. 6: after your approval, the harness publishes the data product to the catalogue. Subagents, skills, MCP, context compaction and file-system offload are harness capabilities the main agent uses as needed, not fixed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combines the layered architecture and the runtime flow. The four bands are the architecture planes: experience, control, context and governance. The path shows how one request moves through them, zig-zagging between you and the agents. 1: you start in chat with your intent and documents. 2: the main agent maps the intent, querying only the context sources it needs. 3: the draft mapping appears on the AG Grid canvas. 4: the reviewer agent validates it; if it finds issues, the main agent re-edits the canvas. 5: you review, edit and approve on the canvas; if you request changes, it goes back to the main agent. 6: only after approval does the harness publish the data product to the catalogue. Subagents, skills, MCP, context compaction and file-system offload are harness capabilities the main agent uses as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457128" y="678114"/>
            <a:ext cx="4615566" cy="363231"/>
          </a:xfrm>
          <a:prstGeom prst="rect">
            <a:avLst/>
          </a:prstGeom>
          <a:noFill/>
          <a:ln/>
        </p:spPr>
        <p:txBody>
          <a:bodyPr wrap="square" lIns="0" tIns="0" rIns="0" bIns="0" rtlCol="0" anchor="t"/>
          <a:lstStyle>
            <a:lvl1pPr algn="l" indent="0" marL="0">
              <a:lnSpc>
                <a:spcPct val="115000"/>
              </a:lnSpc>
              <a:buNone/>
              <a:defRPr lang="en-US" sz="2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457128" y="1346144"/>
            <a:ext cx="10922072" cy="4699056"/>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457128" y="678114"/>
            <a:ext cx="4615566" cy="363231"/>
          </a:xfrm>
          <a:prstGeom prst="rect">
            <a:avLst/>
          </a:prstGeom>
          <a:noFill/>
          <a:ln/>
        </p:spPr>
        <p:txBody>
          <a:bodyPr wrap="square" lIns="0" tIns="0" rIns="0" bIns="0" rtlCol="0" anchor="t"/>
          <a:lstStyle>
            <a:lvl1pPr algn="l" indent="0" marL="0">
              <a:lnSpc>
                <a:spcPct val="115000"/>
              </a:lnSpc>
              <a:buNone/>
              <a:defRPr lang="en-US" sz="2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457128" y="1346144"/>
            <a:ext cx="10922072" cy="4699056"/>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slideLayout" Target="../slideLayouts/slideLayout2.xml"/><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slideLayout" Target="../slideLayouts/slideLayout2.xml"/><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slideLayout" Target="../slideLayouts/slideLayout2.xml"/><Relationship Id="rId1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2.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2.xml"/><Relationship Id="rId1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128" y="356736"/>
            <a:ext cx="4686212" cy="2388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563C9"/>
                </a:solidFill>
                <a:latin typeface="IBM Plex Sans" pitchFamily="34" charset="0"/>
                <a:ea typeface="IBM Plex Sans" pitchFamily="34" charset="-122"/>
                <a:cs typeface="IBM Plex Sans" pitchFamily="34" charset="-120"/>
              </a:rPr>
              <a:t>REFERENCE ARCHITECTURE</a:t>
            </a:r>
            <a:endParaRPr lang="en-US" sz="1200" dirty="0"/>
          </a:p>
        </p:txBody>
      </p:sp>
      <p:sp>
        <p:nvSpPr>
          <p:cNvPr id="3" name="Text 1"/>
          <p:cNvSpPr/>
          <p:nvPr>
            <p:ph type="title"/>
          </p:nvPr>
        </p:nvSpPr>
        <p:spPr>
          <a:xfrm>
            <a:off x="457128" y="608211"/>
            <a:ext cx="5459665" cy="388631"/>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14213D"/>
                </a:solidFill>
                <a:latin typeface="IBM Plex Sans" pitchFamily="34" charset="0"/>
                <a:ea typeface="IBM Plex Sans" pitchFamily="34" charset="-122"/>
                <a:cs typeface="IBM Plex Sans" pitchFamily="34" charset="-120"/>
              </a:rPr>
              <a:t>Agentic data product curation</a:t>
            </a:r>
            <a:endParaRPr lang="en-US" sz="2600" dirty="0"/>
          </a:p>
        </p:txBody>
      </p:sp>
      <p:sp>
        <p:nvSpPr>
          <p:cNvPr id="4" name="Text 2"/>
          <p:cNvSpPr/>
          <p:nvPr/>
        </p:nvSpPr>
        <p:spPr>
          <a:xfrm>
            <a:off x="8691563" y="758031"/>
            <a:ext cx="3134423" cy="23881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From user intent to a published data product</a:t>
            </a:r>
            <a:endParaRPr lang="en-US" sz="1200" dirty="0"/>
          </a:p>
        </p:txBody>
      </p:sp>
      <p:sp>
        <p:nvSpPr>
          <p:cNvPr id="5" name="Text 3"/>
          <p:cNvSpPr/>
          <p:nvPr/>
        </p:nvSpPr>
        <p:spPr>
          <a:xfrm>
            <a:off x="457128" y="1149314"/>
            <a:ext cx="2616200" cy="2388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563C9"/>
                </a:solidFill>
                <a:latin typeface="IBM Plex Sans" pitchFamily="34" charset="0"/>
                <a:ea typeface="IBM Plex Sans" pitchFamily="34" charset="-122"/>
                <a:cs typeface="IBM Plex Sans" pitchFamily="34" charset="-120"/>
              </a:rPr>
              <a:t>USER &amp; WORKSPACE</a:t>
            </a:r>
            <a:endParaRPr lang="en-US" sz="1200" dirty="0"/>
          </a:p>
        </p:txBody>
      </p:sp>
      <p:sp>
        <p:nvSpPr>
          <p:cNvPr id="6" name="Shape 4"/>
          <p:cNvSpPr/>
          <p:nvPr/>
        </p:nvSpPr>
        <p:spPr>
          <a:xfrm>
            <a:off x="460303" y="1467463"/>
            <a:ext cx="2533650" cy="960041"/>
          </a:xfrm>
          <a:prstGeom prst="roundRect">
            <a:avLst>
              <a:gd name="adj" fmla="val 10252"/>
            </a:avLst>
          </a:prstGeom>
          <a:solidFill>
            <a:srgbClr val="FFFFFF"/>
          </a:solidFill>
          <a:ln w="6350">
            <a:solidFill>
              <a:srgbClr val="DADCE0"/>
            </a:solidFill>
            <a:prstDash val="solid"/>
          </a:ln>
        </p:spPr>
      </p:sp>
      <p:pic>
        <p:nvPicPr>
          <p:cNvPr id="7" name="Image 0" descr="Users">    </p:cNvPr>
          <p:cNvPicPr>
            <a:picLocks noChangeAspect="1"/>
          </p:cNvPicPr>
          <p:nvPr/>
        </p:nvPicPr>
        <p:blipFill>
          <a:blip r:embed="rId1"/>
          <a:srcRect l="0" r="0" t="0" b="0"/>
          <a:stretch/>
        </p:blipFill>
        <p:spPr>
          <a:xfrm>
            <a:off x="615246" y="1614740"/>
            <a:ext cx="203128" cy="203128"/>
          </a:xfrm>
          <a:prstGeom prst="rect">
            <a:avLst/>
          </a:prstGeom>
        </p:spPr>
      </p:pic>
      <p:sp>
        <p:nvSpPr>
          <p:cNvPr id="8" name="Text 5"/>
          <p:cNvSpPr/>
          <p:nvPr/>
        </p:nvSpPr>
        <p:spPr>
          <a:xfrm>
            <a:off x="894502" y="1609689"/>
            <a:ext cx="74522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Curator</a:t>
            </a:r>
            <a:endParaRPr lang="en-US" sz="1400" dirty="0"/>
          </a:p>
        </p:txBody>
      </p:sp>
      <p:sp>
        <p:nvSpPr>
          <p:cNvPr id="9" name="Text 6"/>
          <p:cNvSpPr/>
          <p:nvPr/>
        </p:nvSpPr>
        <p:spPr>
          <a:xfrm>
            <a:off x="615246" y="1873791"/>
            <a:ext cx="2290476" cy="43688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States intent in chat; attaches docs, PDFs, specs</a:t>
            </a:r>
            <a:endParaRPr lang="en-US" sz="1200" dirty="0"/>
          </a:p>
        </p:txBody>
      </p:sp>
      <p:sp>
        <p:nvSpPr>
          <p:cNvPr id="10" name="Shape 7"/>
          <p:cNvSpPr/>
          <p:nvPr/>
        </p:nvSpPr>
        <p:spPr>
          <a:xfrm>
            <a:off x="460303" y="2535418"/>
            <a:ext cx="2533650" cy="3182721"/>
          </a:xfrm>
          <a:prstGeom prst="roundRect">
            <a:avLst>
              <a:gd name="adj" fmla="val 3885"/>
            </a:avLst>
          </a:prstGeom>
          <a:solidFill>
            <a:srgbClr val="FFFFFF"/>
          </a:solidFill>
          <a:ln w="6350">
            <a:solidFill>
              <a:srgbClr val="DADCE0"/>
            </a:solidFill>
            <a:prstDash val="solid"/>
          </a:ln>
        </p:spPr>
      </p:sp>
      <p:pic>
        <p:nvPicPr>
          <p:cNvPr id="11" name="Image 1" descr="Chat">    </p:cNvPr>
          <p:cNvPicPr>
            <a:picLocks noChangeAspect="1"/>
          </p:cNvPicPr>
          <p:nvPr/>
        </p:nvPicPr>
        <p:blipFill>
          <a:blip r:embed="rId2"/>
          <a:srcRect l="0" r="0" t="0" b="0"/>
          <a:stretch/>
        </p:blipFill>
        <p:spPr>
          <a:xfrm>
            <a:off x="615246" y="2682695"/>
            <a:ext cx="203128" cy="203128"/>
          </a:xfrm>
          <a:prstGeom prst="rect">
            <a:avLst/>
          </a:prstGeom>
        </p:spPr>
      </p:pic>
      <p:sp>
        <p:nvSpPr>
          <p:cNvPr id="12" name="Text 8"/>
          <p:cNvSpPr/>
          <p:nvPr/>
        </p:nvSpPr>
        <p:spPr>
          <a:xfrm>
            <a:off x="894502" y="2677643"/>
            <a:ext cx="138826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Workspace UI</a:t>
            </a:r>
            <a:endParaRPr lang="en-US" sz="1400" dirty="0"/>
          </a:p>
        </p:txBody>
      </p:sp>
      <p:sp>
        <p:nvSpPr>
          <p:cNvPr id="13" name="Shape 9"/>
          <p:cNvSpPr/>
          <p:nvPr/>
        </p:nvSpPr>
        <p:spPr>
          <a:xfrm>
            <a:off x="615246" y="2979810"/>
            <a:ext cx="2223763" cy="622192"/>
          </a:xfrm>
          <a:prstGeom prst="roundRect">
            <a:avLst>
              <a:gd name="adj" fmla="val 12247"/>
            </a:avLst>
          </a:prstGeom>
          <a:solidFill>
            <a:srgbClr val="EEF3FB"/>
          </a:solidFill>
          <a:ln/>
        </p:spPr>
      </p:sp>
      <p:sp>
        <p:nvSpPr>
          <p:cNvPr id="14" name="Text 10"/>
          <p:cNvSpPr/>
          <p:nvPr/>
        </p:nvSpPr>
        <p:spPr>
          <a:xfrm>
            <a:off x="716810" y="3068656"/>
            <a:ext cx="2081254"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Chat</a:t>
            </a:r>
            <a:endParaRPr lang="en-US" sz="1200" dirty="0"/>
          </a:p>
        </p:txBody>
      </p:sp>
      <p:sp>
        <p:nvSpPr>
          <p:cNvPr id="15" name="Text 11"/>
          <p:cNvSpPr/>
          <p:nvPr/>
        </p:nvSpPr>
        <p:spPr>
          <a:xfrm>
            <a:off x="716810" y="3307412"/>
            <a:ext cx="2081254" cy="23114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Converse, steer, approve</a:t>
            </a:r>
            <a:endParaRPr lang="en-US" sz="1200" dirty="0"/>
          </a:p>
        </p:txBody>
      </p:sp>
      <p:sp>
        <p:nvSpPr>
          <p:cNvPr id="16" name="Shape 12"/>
          <p:cNvSpPr/>
          <p:nvPr/>
        </p:nvSpPr>
        <p:spPr>
          <a:xfrm>
            <a:off x="615246" y="3690847"/>
            <a:ext cx="2223763" cy="827935"/>
          </a:xfrm>
          <a:prstGeom prst="roundRect">
            <a:avLst>
              <a:gd name="adj" fmla="val 9204"/>
            </a:avLst>
          </a:prstGeom>
          <a:solidFill>
            <a:srgbClr val="EEF3FB"/>
          </a:solidFill>
          <a:ln/>
        </p:spPr>
      </p:sp>
      <p:sp>
        <p:nvSpPr>
          <p:cNvPr id="17" name="Text 13"/>
          <p:cNvSpPr/>
          <p:nvPr/>
        </p:nvSpPr>
        <p:spPr>
          <a:xfrm>
            <a:off x="716810" y="3779693"/>
            <a:ext cx="2081254"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Canvas · AG Grid</a:t>
            </a:r>
            <a:endParaRPr lang="en-US" sz="1200" dirty="0"/>
          </a:p>
        </p:txBody>
      </p:sp>
      <p:sp>
        <p:nvSpPr>
          <p:cNvPr id="18" name="Text 14"/>
          <p:cNvSpPr/>
          <p:nvPr/>
        </p:nvSpPr>
        <p:spPr>
          <a:xfrm>
            <a:off x="716810" y="4018449"/>
            <a:ext cx="2081254" cy="43688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Intent ↔ source mapping, updated live</a:t>
            </a:r>
            <a:endParaRPr lang="en-US" sz="1200" dirty="0"/>
          </a:p>
        </p:txBody>
      </p:sp>
      <p:pic>
        <p:nvPicPr>
          <p:cNvPr id="19" name="Image 2" descr="connector">    </p:cNvPr>
          <p:cNvPicPr>
            <a:picLocks noChangeAspect="1"/>
          </p:cNvPicPr>
          <p:nvPr/>
        </p:nvPicPr>
        <p:blipFill>
          <a:blip r:embed="rId3"/>
          <a:srcRect l="-13" r="-13" t="0" b="0"/>
          <a:stretch/>
        </p:blipFill>
        <p:spPr>
          <a:xfrm>
            <a:off x="2997128" y="3384532"/>
            <a:ext cx="355564" cy="101564"/>
          </a:xfrm>
          <a:prstGeom prst="rect">
            <a:avLst/>
          </a:prstGeom>
        </p:spPr>
      </p:pic>
      <p:sp>
        <p:nvSpPr>
          <p:cNvPr id="20" name="Shape 15"/>
          <p:cNvSpPr/>
          <p:nvPr/>
        </p:nvSpPr>
        <p:spPr>
          <a:xfrm>
            <a:off x="3355866" y="1152489"/>
            <a:ext cx="5480086" cy="4565650"/>
          </a:xfrm>
          <a:prstGeom prst="roundRect">
            <a:avLst>
              <a:gd name="adj" fmla="val 2712"/>
            </a:avLst>
          </a:prstGeom>
          <a:solidFill>
            <a:srgbClr val="EEF3FD"/>
          </a:solidFill>
          <a:ln w="6350">
            <a:solidFill>
              <a:srgbClr val="C9D7F2"/>
            </a:solidFill>
            <a:prstDash val="solid"/>
          </a:ln>
        </p:spPr>
      </p:sp>
      <p:pic>
        <p:nvPicPr>
          <p:cNvPr id="21" name="Image 3" descr="Settings">    </p:cNvPr>
          <p:cNvPicPr>
            <a:picLocks noChangeAspect="1"/>
          </p:cNvPicPr>
          <p:nvPr/>
        </p:nvPicPr>
        <p:blipFill>
          <a:blip r:embed="rId4"/>
          <a:srcRect l="0" r="0" t="0" b="0"/>
          <a:stretch/>
        </p:blipFill>
        <p:spPr>
          <a:xfrm>
            <a:off x="3561592" y="1355689"/>
            <a:ext cx="228564" cy="228564"/>
          </a:xfrm>
          <a:prstGeom prst="rect">
            <a:avLst/>
          </a:prstGeom>
        </p:spPr>
      </p:pic>
      <p:sp>
        <p:nvSpPr>
          <p:cNvPr id="22" name="Text 16"/>
          <p:cNvSpPr/>
          <p:nvPr/>
        </p:nvSpPr>
        <p:spPr>
          <a:xfrm>
            <a:off x="3866284" y="1332869"/>
            <a:ext cx="1044719" cy="29960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Harness</a:t>
            </a:r>
            <a:endParaRPr lang="en-US" sz="1800" dirty="0"/>
          </a:p>
        </p:txBody>
      </p:sp>
      <p:sp>
        <p:nvSpPr>
          <p:cNvPr id="23" name="Text 17"/>
          <p:cNvSpPr/>
          <p:nvPr/>
        </p:nvSpPr>
        <p:spPr>
          <a:xfrm>
            <a:off x="6229494" y="1363266"/>
            <a:ext cx="2400733"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OpenAI Agents SDK · [Model]</a:t>
            </a:r>
            <a:endParaRPr lang="en-US" sz="1200" dirty="0"/>
          </a:p>
        </p:txBody>
      </p:sp>
      <p:sp>
        <p:nvSpPr>
          <p:cNvPr id="24" name="Shape 18"/>
          <p:cNvSpPr/>
          <p:nvPr/>
        </p:nvSpPr>
        <p:spPr>
          <a:xfrm>
            <a:off x="3564767" y="2511876"/>
            <a:ext cx="2223185" cy="934785"/>
          </a:xfrm>
          <a:prstGeom prst="roundRect">
            <a:avLst>
              <a:gd name="adj" fmla="val 9171"/>
            </a:avLst>
          </a:prstGeom>
          <a:solidFill>
            <a:srgbClr val="FFFFFF"/>
          </a:solidFill>
          <a:ln w="6350">
            <a:solidFill>
              <a:srgbClr val="DADCE0"/>
            </a:solidFill>
            <a:prstDash val="solid"/>
          </a:ln>
        </p:spPr>
      </p:sp>
      <p:sp>
        <p:nvSpPr>
          <p:cNvPr id="25" name="Text 19"/>
          <p:cNvSpPr/>
          <p:nvPr/>
        </p:nvSpPr>
        <p:spPr>
          <a:xfrm>
            <a:off x="3706993" y="2641474"/>
            <a:ext cx="199689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Main agent</a:t>
            </a:r>
            <a:endParaRPr lang="en-US" sz="1400" dirty="0"/>
          </a:p>
        </p:txBody>
      </p:sp>
      <p:sp>
        <p:nvSpPr>
          <p:cNvPr id="26" name="Text 20"/>
          <p:cNvSpPr/>
          <p:nvPr/>
        </p:nvSpPr>
        <p:spPr>
          <a:xfrm>
            <a:off x="3706993" y="2905576"/>
            <a:ext cx="1996896" cy="43688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Plans, gathers context, drafts the mapping</a:t>
            </a:r>
            <a:endParaRPr lang="en-US" sz="1200" dirty="0"/>
          </a:p>
        </p:txBody>
      </p:sp>
      <p:pic>
        <p:nvPicPr>
          <p:cNvPr id="27" name="Image 4" descr="connector">    </p:cNvPr>
          <p:cNvPicPr>
            <a:picLocks noChangeAspect="1"/>
          </p:cNvPicPr>
          <p:nvPr/>
        </p:nvPicPr>
        <p:blipFill>
          <a:blip r:embed="rId5"/>
          <a:srcRect l="-10" r="-10" t="0" b="0"/>
          <a:stretch/>
        </p:blipFill>
        <p:spPr>
          <a:xfrm>
            <a:off x="5867346" y="2802749"/>
            <a:ext cx="457128" cy="101564"/>
          </a:xfrm>
          <a:prstGeom prst="rect">
            <a:avLst/>
          </a:prstGeom>
        </p:spPr>
      </p:pic>
      <p:sp>
        <p:nvSpPr>
          <p:cNvPr id="28" name="Text 21"/>
          <p:cNvSpPr/>
          <p:nvPr/>
        </p:nvSpPr>
        <p:spPr>
          <a:xfrm>
            <a:off x="5915584" y="2942377"/>
            <a:ext cx="360651" cy="23881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2611A"/>
                </a:solidFill>
                <a:latin typeface="IBM Plex Sans" pitchFamily="34" charset="0"/>
                <a:ea typeface="IBM Plex Sans" pitchFamily="34" charset="-122"/>
                <a:cs typeface="IBM Plex Sans" pitchFamily="34" charset="-120"/>
              </a:rPr>
              <a:t>loop</a:t>
            </a:r>
            <a:endParaRPr lang="en-US" sz="1200" dirty="0"/>
          </a:p>
        </p:txBody>
      </p:sp>
      <p:sp>
        <p:nvSpPr>
          <p:cNvPr id="29" name="Shape 22"/>
          <p:cNvSpPr/>
          <p:nvPr/>
        </p:nvSpPr>
        <p:spPr>
          <a:xfrm>
            <a:off x="6403866" y="2511876"/>
            <a:ext cx="2223185" cy="934785"/>
          </a:xfrm>
          <a:prstGeom prst="roundRect">
            <a:avLst>
              <a:gd name="adj" fmla="val 9171"/>
            </a:avLst>
          </a:prstGeom>
          <a:solidFill>
            <a:srgbClr val="FFFFFF"/>
          </a:solidFill>
          <a:ln w="6350">
            <a:solidFill>
              <a:srgbClr val="DADCE0"/>
            </a:solidFill>
            <a:prstDash val="solid"/>
          </a:ln>
        </p:spPr>
      </p:sp>
      <p:sp>
        <p:nvSpPr>
          <p:cNvPr id="30" name="Text 23"/>
          <p:cNvSpPr/>
          <p:nvPr/>
        </p:nvSpPr>
        <p:spPr>
          <a:xfrm>
            <a:off x="6546092" y="2641474"/>
            <a:ext cx="199689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Reviewer agent</a:t>
            </a:r>
            <a:endParaRPr lang="en-US" sz="1400" dirty="0"/>
          </a:p>
        </p:txBody>
      </p:sp>
      <p:sp>
        <p:nvSpPr>
          <p:cNvPr id="31" name="Text 24"/>
          <p:cNvSpPr/>
          <p:nvPr/>
        </p:nvSpPr>
        <p:spPr>
          <a:xfrm>
            <a:off x="6546092" y="2905576"/>
            <a:ext cx="1996896" cy="43688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Validates, scores, returns issues to revise</a:t>
            </a:r>
            <a:endParaRPr lang="en-US" sz="1200" dirty="0"/>
          </a:p>
        </p:txBody>
      </p:sp>
      <p:sp>
        <p:nvSpPr>
          <p:cNvPr id="32" name="Text 25"/>
          <p:cNvSpPr/>
          <p:nvPr/>
        </p:nvSpPr>
        <p:spPr>
          <a:xfrm>
            <a:off x="3561592" y="3805400"/>
            <a:ext cx="5220694" cy="2388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563C9"/>
                </a:solidFill>
                <a:latin typeface="IBM Plex Sans" pitchFamily="34" charset="0"/>
                <a:ea typeface="IBM Plex Sans" pitchFamily="34" charset="-122"/>
                <a:cs typeface="IBM Plex Sans" pitchFamily="34" charset="-120"/>
              </a:rPr>
              <a:t>HARNESS CAPABILITIES</a:t>
            </a:r>
            <a:endParaRPr lang="en-US" sz="1200" dirty="0"/>
          </a:p>
        </p:txBody>
      </p:sp>
      <p:sp>
        <p:nvSpPr>
          <p:cNvPr id="33" name="Text 26"/>
          <p:cNvSpPr/>
          <p:nvPr/>
        </p:nvSpPr>
        <p:spPr>
          <a:xfrm>
            <a:off x="3561592" y="4082310"/>
            <a:ext cx="950967" cy="314974"/>
          </a:xfrm>
          <a:prstGeom prst="roundRect">
            <a:avLst>
              <a:gd name="adj" fmla="val 20160"/>
            </a:avLst>
          </a:prstGeom>
          <a:solidFill>
            <a:srgbClr val="DDE7F8"/>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Subagents</a:t>
            </a:r>
            <a:endParaRPr lang="en-US" sz="1200" dirty="0"/>
          </a:p>
        </p:txBody>
      </p:sp>
      <p:sp>
        <p:nvSpPr>
          <p:cNvPr id="34" name="Text 27"/>
          <p:cNvSpPr/>
          <p:nvPr/>
        </p:nvSpPr>
        <p:spPr>
          <a:xfrm>
            <a:off x="4576059" y="4082310"/>
            <a:ext cx="1600669" cy="314974"/>
          </a:xfrm>
          <a:prstGeom prst="roundRect">
            <a:avLst>
              <a:gd name="adj" fmla="val 20160"/>
            </a:avLst>
          </a:prstGeom>
          <a:solidFill>
            <a:srgbClr val="DDE7F8"/>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Context compaction</a:t>
            </a:r>
            <a:endParaRPr lang="en-US" sz="1200" dirty="0"/>
          </a:p>
        </p:txBody>
      </p:sp>
      <p:sp>
        <p:nvSpPr>
          <p:cNvPr id="35" name="Text 28"/>
          <p:cNvSpPr/>
          <p:nvPr/>
        </p:nvSpPr>
        <p:spPr>
          <a:xfrm>
            <a:off x="6240228" y="4082310"/>
            <a:ext cx="1544746" cy="314974"/>
          </a:xfrm>
          <a:prstGeom prst="roundRect">
            <a:avLst>
              <a:gd name="adj" fmla="val 20160"/>
            </a:avLst>
          </a:prstGeom>
          <a:solidFill>
            <a:srgbClr val="DDE7F8"/>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File-system offload</a:t>
            </a:r>
            <a:endParaRPr lang="en-US" sz="1200" dirty="0"/>
          </a:p>
        </p:txBody>
      </p:sp>
      <p:sp>
        <p:nvSpPr>
          <p:cNvPr id="36" name="Text 29"/>
          <p:cNvSpPr/>
          <p:nvPr/>
        </p:nvSpPr>
        <p:spPr>
          <a:xfrm>
            <a:off x="7848474" y="4082310"/>
            <a:ext cx="591975" cy="314974"/>
          </a:xfrm>
          <a:prstGeom prst="roundRect">
            <a:avLst>
              <a:gd name="adj" fmla="val 20160"/>
            </a:avLst>
          </a:prstGeom>
          <a:solidFill>
            <a:srgbClr val="DDE7F8"/>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Skills</a:t>
            </a:r>
            <a:endParaRPr lang="en-US" sz="1200" dirty="0"/>
          </a:p>
        </p:txBody>
      </p:sp>
      <p:sp>
        <p:nvSpPr>
          <p:cNvPr id="37" name="Text 30"/>
          <p:cNvSpPr/>
          <p:nvPr/>
        </p:nvSpPr>
        <p:spPr>
          <a:xfrm>
            <a:off x="3561592" y="4460785"/>
            <a:ext cx="955296" cy="314974"/>
          </a:xfrm>
          <a:prstGeom prst="roundRect">
            <a:avLst>
              <a:gd name="adj" fmla="val 20160"/>
            </a:avLst>
          </a:prstGeom>
          <a:solidFill>
            <a:srgbClr val="DDE7F8"/>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MCP client</a:t>
            </a:r>
            <a:endParaRPr lang="en-US" sz="1200" dirty="0"/>
          </a:p>
        </p:txBody>
      </p:sp>
      <p:sp>
        <p:nvSpPr>
          <p:cNvPr id="38" name="Text 31"/>
          <p:cNvSpPr/>
          <p:nvPr/>
        </p:nvSpPr>
        <p:spPr>
          <a:xfrm>
            <a:off x="4580388" y="4460785"/>
            <a:ext cx="1750489" cy="314974"/>
          </a:xfrm>
          <a:prstGeom prst="roundRect">
            <a:avLst>
              <a:gd name="adj" fmla="val 20160"/>
            </a:avLst>
          </a:prstGeom>
          <a:solidFill>
            <a:srgbClr val="DDE7F8"/>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Multi-format ingestion</a:t>
            </a:r>
            <a:endParaRPr lang="en-US" sz="1200" dirty="0"/>
          </a:p>
        </p:txBody>
      </p:sp>
      <p:sp>
        <p:nvSpPr>
          <p:cNvPr id="39" name="Text 32"/>
          <p:cNvSpPr/>
          <p:nvPr/>
        </p:nvSpPr>
        <p:spPr>
          <a:xfrm>
            <a:off x="6394378" y="4460785"/>
            <a:ext cx="1065880" cy="314974"/>
          </a:xfrm>
          <a:prstGeom prst="roundRect">
            <a:avLst>
              <a:gd name="adj" fmla="val 20160"/>
            </a:avLst>
          </a:prstGeom>
          <a:solidFill>
            <a:srgbClr val="DDE7F8"/>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Canvas sync</a:t>
            </a:r>
            <a:endParaRPr lang="en-US" sz="1200" dirty="0"/>
          </a:p>
        </p:txBody>
      </p:sp>
      <p:pic>
        <p:nvPicPr>
          <p:cNvPr id="40" name="Image 5" descr="connector">    </p:cNvPr>
          <p:cNvPicPr>
            <a:picLocks noChangeAspect="1"/>
          </p:cNvPicPr>
          <p:nvPr/>
        </p:nvPicPr>
        <p:blipFill>
          <a:blip r:embed="rId6"/>
          <a:srcRect l="-13" r="-13" t="0" b="0"/>
          <a:stretch/>
        </p:blipFill>
        <p:spPr>
          <a:xfrm>
            <a:off x="8839128" y="3384532"/>
            <a:ext cx="355564" cy="101564"/>
          </a:xfrm>
          <a:prstGeom prst="rect">
            <a:avLst/>
          </a:prstGeom>
        </p:spPr>
      </p:pic>
      <p:sp>
        <p:nvSpPr>
          <p:cNvPr id="41" name="Text 33"/>
          <p:cNvSpPr/>
          <p:nvPr/>
        </p:nvSpPr>
        <p:spPr>
          <a:xfrm>
            <a:off x="9194691" y="1149314"/>
            <a:ext cx="2616200" cy="2388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563C9"/>
                </a:solidFill>
                <a:latin typeface="IBM Plex Sans" pitchFamily="34" charset="0"/>
                <a:ea typeface="IBM Plex Sans" pitchFamily="34" charset="-122"/>
                <a:cs typeface="IBM Plex Sans" pitchFamily="34" charset="-120"/>
              </a:rPr>
              <a:t>CONTEXT SOURCES</a:t>
            </a:r>
            <a:endParaRPr lang="en-US" sz="1200" dirty="0"/>
          </a:p>
        </p:txBody>
      </p:sp>
      <p:sp>
        <p:nvSpPr>
          <p:cNvPr id="42" name="Shape 34"/>
          <p:cNvSpPr/>
          <p:nvPr/>
        </p:nvSpPr>
        <p:spPr>
          <a:xfrm>
            <a:off x="9197866" y="1467463"/>
            <a:ext cx="2533650" cy="763768"/>
          </a:xfrm>
          <a:prstGeom prst="roundRect">
            <a:avLst>
              <a:gd name="adj" fmla="val 11224"/>
            </a:avLst>
          </a:prstGeom>
          <a:solidFill>
            <a:srgbClr val="FFFFFF"/>
          </a:solidFill>
          <a:ln w="6350">
            <a:solidFill>
              <a:srgbClr val="DADCE0"/>
            </a:solidFill>
            <a:prstDash val="solid"/>
          </a:ln>
        </p:spPr>
      </p:sp>
      <p:pic>
        <p:nvPicPr>
          <p:cNvPr id="43" name="Image 6" descr="Book">    </p:cNvPr>
          <p:cNvPicPr>
            <a:picLocks noChangeAspect="1"/>
          </p:cNvPicPr>
          <p:nvPr/>
        </p:nvPicPr>
        <p:blipFill>
          <a:blip r:embed="rId7"/>
          <a:srcRect l="0" r="0" t="0" b="0"/>
          <a:stretch/>
        </p:blipFill>
        <p:spPr>
          <a:xfrm>
            <a:off x="9327464" y="1735065"/>
            <a:ext cx="228564" cy="228564"/>
          </a:xfrm>
          <a:prstGeom prst="rect">
            <a:avLst/>
          </a:prstGeom>
        </p:spPr>
      </p:pic>
      <p:sp>
        <p:nvSpPr>
          <p:cNvPr id="44" name="Text 35"/>
          <p:cNvSpPr/>
          <p:nvPr/>
        </p:nvSpPr>
        <p:spPr>
          <a:xfrm>
            <a:off x="9657592" y="1629623"/>
            <a:ext cx="132522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Ontology</a:t>
            </a:r>
            <a:endParaRPr lang="en-US" sz="1400" dirty="0"/>
          </a:p>
        </p:txBody>
      </p:sp>
      <p:sp>
        <p:nvSpPr>
          <p:cNvPr id="45" name="Text 36"/>
          <p:cNvSpPr/>
          <p:nvPr/>
        </p:nvSpPr>
        <p:spPr>
          <a:xfrm>
            <a:off x="9657592" y="1855571"/>
            <a:ext cx="1529304"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Business concepts</a:t>
            </a:r>
            <a:endParaRPr lang="en-US" sz="1200" dirty="0"/>
          </a:p>
        </p:txBody>
      </p:sp>
      <p:sp>
        <p:nvSpPr>
          <p:cNvPr id="46" name="Shape 37"/>
          <p:cNvSpPr/>
          <p:nvPr/>
        </p:nvSpPr>
        <p:spPr>
          <a:xfrm>
            <a:off x="9197866" y="2339145"/>
            <a:ext cx="2533650" cy="763858"/>
          </a:xfrm>
          <a:prstGeom prst="roundRect">
            <a:avLst>
              <a:gd name="adj" fmla="val 11223"/>
            </a:avLst>
          </a:prstGeom>
          <a:solidFill>
            <a:srgbClr val="FFFFFF"/>
          </a:solidFill>
          <a:ln w="6350">
            <a:solidFill>
              <a:srgbClr val="DADCE0"/>
            </a:solidFill>
            <a:prstDash val="solid"/>
          </a:ln>
        </p:spPr>
      </p:sp>
      <p:pic>
        <p:nvPicPr>
          <p:cNvPr id="47" name="Image 7" descr="Database">    </p:cNvPr>
          <p:cNvPicPr>
            <a:picLocks noChangeAspect="1"/>
          </p:cNvPicPr>
          <p:nvPr/>
        </p:nvPicPr>
        <p:blipFill>
          <a:blip r:embed="rId8"/>
          <a:srcRect l="0" r="0" t="0" b="0"/>
          <a:stretch/>
        </p:blipFill>
        <p:spPr>
          <a:xfrm>
            <a:off x="9327464" y="2606747"/>
            <a:ext cx="228564" cy="228564"/>
          </a:xfrm>
          <a:prstGeom prst="rect">
            <a:avLst/>
          </a:prstGeom>
        </p:spPr>
      </p:pic>
      <p:sp>
        <p:nvSpPr>
          <p:cNvPr id="48" name="Text 38"/>
          <p:cNvSpPr/>
          <p:nvPr/>
        </p:nvSpPr>
        <p:spPr>
          <a:xfrm>
            <a:off x="9657592" y="2501395"/>
            <a:ext cx="107067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MetaQ</a:t>
            </a:r>
            <a:endParaRPr lang="en-US" sz="1400" dirty="0"/>
          </a:p>
        </p:txBody>
      </p:sp>
      <p:sp>
        <p:nvSpPr>
          <p:cNvPr id="49" name="Text 39"/>
          <p:cNvSpPr/>
          <p:nvPr/>
        </p:nvSpPr>
        <p:spPr>
          <a:xfrm>
            <a:off x="9657592" y="2727343"/>
            <a:ext cx="1223854"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Metadata layer</a:t>
            </a:r>
            <a:endParaRPr lang="en-US" sz="1200" dirty="0"/>
          </a:p>
        </p:txBody>
      </p:sp>
      <p:sp>
        <p:nvSpPr>
          <p:cNvPr id="50" name="Shape 40"/>
          <p:cNvSpPr/>
          <p:nvPr/>
        </p:nvSpPr>
        <p:spPr>
          <a:xfrm>
            <a:off x="9197866" y="3210917"/>
            <a:ext cx="2533650" cy="763768"/>
          </a:xfrm>
          <a:prstGeom prst="roundRect">
            <a:avLst>
              <a:gd name="adj" fmla="val 11224"/>
            </a:avLst>
          </a:prstGeom>
          <a:solidFill>
            <a:srgbClr val="FFFFFF"/>
          </a:solidFill>
          <a:ln w="6350">
            <a:solidFill>
              <a:srgbClr val="DADCE0"/>
            </a:solidFill>
            <a:prstDash val="solid"/>
          </a:ln>
        </p:spPr>
      </p:sp>
      <p:pic>
        <p:nvPicPr>
          <p:cNvPr id="51" name="Image 8" descr="Activity">    </p:cNvPr>
          <p:cNvPicPr>
            <a:picLocks noChangeAspect="1"/>
          </p:cNvPicPr>
          <p:nvPr/>
        </p:nvPicPr>
        <p:blipFill>
          <a:blip r:embed="rId9"/>
          <a:srcRect l="0" r="0" t="0" b="0"/>
          <a:stretch/>
        </p:blipFill>
        <p:spPr>
          <a:xfrm>
            <a:off x="9327464" y="3478519"/>
            <a:ext cx="228564" cy="228564"/>
          </a:xfrm>
          <a:prstGeom prst="rect">
            <a:avLst/>
          </a:prstGeom>
        </p:spPr>
      </p:pic>
      <p:sp>
        <p:nvSpPr>
          <p:cNvPr id="52" name="Text 41"/>
          <p:cNvSpPr/>
          <p:nvPr/>
        </p:nvSpPr>
        <p:spPr>
          <a:xfrm>
            <a:off x="9657592" y="3373077"/>
            <a:ext cx="141559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Denodo MCP</a:t>
            </a:r>
            <a:endParaRPr lang="en-US" sz="1400" dirty="0"/>
          </a:p>
        </p:txBody>
      </p:sp>
      <p:sp>
        <p:nvSpPr>
          <p:cNvPr id="53" name="Text 42"/>
          <p:cNvSpPr/>
          <p:nvPr/>
        </p:nvSpPr>
        <p:spPr>
          <a:xfrm>
            <a:off x="9657592" y="3599025"/>
            <a:ext cx="1637759"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Profiling &amp; sampling</a:t>
            </a:r>
            <a:endParaRPr lang="en-US" sz="1200" dirty="0"/>
          </a:p>
        </p:txBody>
      </p:sp>
      <p:sp>
        <p:nvSpPr>
          <p:cNvPr id="54" name="Shape 43"/>
          <p:cNvSpPr/>
          <p:nvPr/>
        </p:nvSpPr>
        <p:spPr>
          <a:xfrm>
            <a:off x="9197866" y="4082599"/>
            <a:ext cx="2533650" cy="763858"/>
          </a:xfrm>
          <a:prstGeom prst="roundRect">
            <a:avLst>
              <a:gd name="adj" fmla="val 11223"/>
            </a:avLst>
          </a:prstGeom>
          <a:solidFill>
            <a:srgbClr val="FFFFFF"/>
          </a:solidFill>
          <a:ln w="6350">
            <a:solidFill>
              <a:srgbClr val="DADCE0"/>
            </a:solidFill>
            <a:prstDash val="solid"/>
          </a:ln>
        </p:spPr>
      </p:sp>
      <p:pic>
        <p:nvPicPr>
          <p:cNvPr id="55" name="Image 9" descr="Code">    </p:cNvPr>
          <p:cNvPicPr>
            <a:picLocks noChangeAspect="1"/>
          </p:cNvPicPr>
          <p:nvPr/>
        </p:nvPicPr>
        <p:blipFill>
          <a:blip r:embed="rId10"/>
          <a:srcRect l="0" r="0" t="0" b="0"/>
          <a:stretch/>
        </p:blipFill>
        <p:spPr>
          <a:xfrm>
            <a:off x="9327464" y="4350201"/>
            <a:ext cx="228564" cy="228564"/>
          </a:xfrm>
          <a:prstGeom prst="rect">
            <a:avLst/>
          </a:prstGeom>
        </p:spPr>
      </p:pic>
      <p:sp>
        <p:nvSpPr>
          <p:cNvPr id="56" name="Text 44"/>
          <p:cNvSpPr/>
          <p:nvPr/>
        </p:nvSpPr>
        <p:spPr>
          <a:xfrm>
            <a:off x="9657592" y="4244849"/>
            <a:ext cx="192480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Source code search</a:t>
            </a:r>
            <a:endParaRPr lang="en-US" sz="1400" dirty="0"/>
          </a:p>
        </p:txBody>
      </p:sp>
      <p:sp>
        <p:nvSpPr>
          <p:cNvPr id="57" name="Text 45"/>
          <p:cNvSpPr/>
          <p:nvPr/>
        </p:nvSpPr>
        <p:spPr>
          <a:xfrm>
            <a:off x="9657592" y="4470797"/>
            <a:ext cx="1654806"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Logic, joins, usage</a:t>
            </a:r>
            <a:endParaRPr lang="en-US" sz="1200" dirty="0"/>
          </a:p>
        </p:txBody>
      </p:sp>
      <p:sp>
        <p:nvSpPr>
          <p:cNvPr id="58" name="Shape 46"/>
          <p:cNvSpPr/>
          <p:nvPr/>
        </p:nvSpPr>
        <p:spPr>
          <a:xfrm>
            <a:off x="9197866" y="4954371"/>
            <a:ext cx="2533650" cy="763768"/>
          </a:xfrm>
          <a:prstGeom prst="roundRect">
            <a:avLst>
              <a:gd name="adj" fmla="val 11224"/>
            </a:avLst>
          </a:prstGeom>
          <a:solidFill>
            <a:srgbClr val="FFFFFF"/>
          </a:solidFill>
          <a:ln w="6350">
            <a:solidFill>
              <a:srgbClr val="DADCE0"/>
            </a:solidFill>
            <a:prstDash val="solid"/>
          </a:ln>
        </p:spPr>
      </p:sp>
      <p:pic>
        <p:nvPicPr>
          <p:cNvPr id="59" name="Image 10" descr="Clock">    </p:cNvPr>
          <p:cNvPicPr>
            <a:picLocks noChangeAspect="1"/>
          </p:cNvPicPr>
          <p:nvPr/>
        </p:nvPicPr>
        <p:blipFill>
          <a:blip r:embed="rId11"/>
          <a:srcRect l="0" r="0" t="0" b="0"/>
          <a:stretch/>
        </p:blipFill>
        <p:spPr>
          <a:xfrm>
            <a:off x="9327464" y="5221973"/>
            <a:ext cx="228564" cy="228564"/>
          </a:xfrm>
          <a:prstGeom prst="rect">
            <a:avLst/>
          </a:prstGeom>
        </p:spPr>
      </p:pic>
      <p:sp>
        <p:nvSpPr>
          <p:cNvPr id="60" name="Text 47"/>
          <p:cNvSpPr/>
          <p:nvPr/>
        </p:nvSpPr>
        <p:spPr>
          <a:xfrm>
            <a:off x="9657592" y="5116530"/>
            <a:ext cx="187902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Previous mappings</a:t>
            </a:r>
            <a:endParaRPr lang="en-US" sz="1400" dirty="0"/>
          </a:p>
        </p:txBody>
      </p:sp>
      <p:sp>
        <p:nvSpPr>
          <p:cNvPr id="61" name="Text 48"/>
          <p:cNvSpPr/>
          <p:nvPr/>
        </p:nvSpPr>
        <p:spPr>
          <a:xfrm>
            <a:off x="9657592" y="5342479"/>
            <a:ext cx="1616652"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Reusable patterns</a:t>
            </a:r>
            <a:endParaRPr lang="en-US" sz="1200" dirty="0"/>
          </a:p>
        </p:txBody>
      </p:sp>
      <p:sp>
        <p:nvSpPr>
          <p:cNvPr id="62" name="Shape 49"/>
          <p:cNvSpPr/>
          <p:nvPr/>
        </p:nvSpPr>
        <p:spPr>
          <a:xfrm>
            <a:off x="460303" y="5895957"/>
            <a:ext cx="11271214" cy="603214"/>
          </a:xfrm>
          <a:prstGeom prst="roundRect">
            <a:avLst>
              <a:gd name="adj" fmla="val 16317"/>
            </a:avLst>
          </a:prstGeom>
          <a:solidFill>
            <a:srgbClr val="FFFFFF"/>
          </a:solidFill>
          <a:ln w="6350">
            <a:solidFill>
              <a:srgbClr val="DADCE0"/>
            </a:solidFill>
            <a:prstDash val="solid"/>
          </a:ln>
        </p:spPr>
      </p:sp>
      <p:sp>
        <p:nvSpPr>
          <p:cNvPr id="63" name="Text 50"/>
          <p:cNvSpPr/>
          <p:nvPr/>
        </p:nvSpPr>
        <p:spPr>
          <a:xfrm>
            <a:off x="640683" y="6090858"/>
            <a:ext cx="1191725" cy="238810"/>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2563C9"/>
                </a:solidFill>
                <a:latin typeface="IBM Plex Sans" pitchFamily="34" charset="0"/>
                <a:ea typeface="IBM Plex Sans" pitchFamily="34" charset="-122"/>
                <a:cs typeface="IBM Plex Sans" pitchFamily="34" charset="-120"/>
              </a:rPr>
              <a:t>GOVERNANCE</a:t>
            </a:r>
            <a:endParaRPr lang="en-US" sz="1200" dirty="0"/>
          </a:p>
        </p:txBody>
      </p:sp>
      <p:sp>
        <p:nvSpPr>
          <p:cNvPr id="64" name="Text 51"/>
          <p:cNvSpPr/>
          <p:nvPr/>
        </p:nvSpPr>
        <p:spPr>
          <a:xfrm>
            <a:off x="1908608" y="6040077"/>
            <a:ext cx="1580374" cy="314974"/>
          </a:xfrm>
          <a:prstGeom prst="roundRect">
            <a:avLst>
              <a:gd name="adj" fmla="val 50000"/>
            </a:avLst>
          </a:prstGeom>
          <a:solidFill>
            <a:srgbClr val="EEF3FB"/>
          </a:solidFill>
          <a:ln/>
        </p:spPr>
        <p:txBody>
          <a:bodyPr wrap="none" lIns="0" tIns="0" rIns="0" bIns="0" rtlCol="0" anchor="ctr">
            <a:normAutofit/>
          </a:bodyPr>
          <a:lstStyle/>
          <a:p>
            <a:pPr algn="ct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Validated mapping</a:t>
            </a:r>
            <a:endParaRPr lang="en-US" sz="1200" dirty="0"/>
          </a:p>
        </p:txBody>
      </p:sp>
      <p:pic>
        <p:nvPicPr>
          <p:cNvPr id="65" name="Image 11" descr="connector">    </p:cNvPr>
          <p:cNvPicPr>
            <a:picLocks noChangeAspect="1"/>
          </p:cNvPicPr>
          <p:nvPr/>
        </p:nvPicPr>
        <p:blipFill>
          <a:blip r:embed="rId12"/>
          <a:srcRect l="-15" r="-15" t="0" b="0"/>
          <a:stretch/>
        </p:blipFill>
        <p:spPr>
          <a:xfrm>
            <a:off x="3615982" y="6146782"/>
            <a:ext cx="304782" cy="101564"/>
          </a:xfrm>
          <a:prstGeom prst="rect">
            <a:avLst/>
          </a:prstGeom>
        </p:spPr>
      </p:pic>
      <p:sp>
        <p:nvSpPr>
          <p:cNvPr id="66" name="Text 52"/>
          <p:cNvSpPr/>
          <p:nvPr/>
        </p:nvSpPr>
        <p:spPr>
          <a:xfrm>
            <a:off x="4054114" y="6034881"/>
            <a:ext cx="1815360" cy="325365"/>
          </a:xfrm>
          <a:prstGeom prst="roundRect">
            <a:avLst>
              <a:gd name="adj" fmla="val 50000"/>
            </a:avLst>
          </a:prstGeom>
          <a:solidFill>
            <a:srgbClr val="FCEFE3"/>
          </a:solidFill>
          <a:ln w="12700">
            <a:solidFill>
              <a:srgbClr val="D9822B"/>
            </a:solidFill>
            <a:prstDash val="solid"/>
          </a:ln>
        </p:spPr>
        <p:txBody>
          <a:bodyPr wrap="none" lIns="0" tIns="0" rIns="0" bIns="0" rtlCol="0" anchor="ctr">
            <a:normAutofit/>
          </a:bodyPr>
          <a:lstStyle/>
          <a:p>
            <a:pPr algn="ctr" indent="0" marL="0">
              <a:lnSpc>
                <a:spcPts val="1680"/>
              </a:lnSpc>
              <a:buNone/>
            </a:pPr>
            <a:r>
              <a:rPr lang="en-US" sz="1200" b="1" dirty="0">
                <a:solidFill>
                  <a:srgbClr val="8A3F0E"/>
                </a:solidFill>
                <a:latin typeface="IBM Plex Sans" pitchFamily="34" charset="0"/>
                <a:ea typeface="IBM Plex Sans" pitchFamily="34" charset="-122"/>
                <a:cs typeface="IBM Plex Sans" pitchFamily="34" charset="-120"/>
              </a:rPr>
              <a:t>Human review &amp; edits</a:t>
            </a:r>
            <a:endParaRPr lang="en-US" sz="1200" dirty="0"/>
          </a:p>
        </p:txBody>
      </p:sp>
      <p:pic>
        <p:nvPicPr>
          <p:cNvPr id="67" name="Image 12" descr="connector">    </p:cNvPr>
          <p:cNvPicPr>
            <a:picLocks noChangeAspect="1"/>
          </p:cNvPicPr>
          <p:nvPr/>
        </p:nvPicPr>
        <p:blipFill>
          <a:blip r:embed="rId13"/>
          <a:srcRect l="-15" r="-15" t="0" b="0"/>
          <a:stretch/>
        </p:blipFill>
        <p:spPr>
          <a:xfrm>
            <a:off x="6002824" y="6146782"/>
            <a:ext cx="304782" cy="101564"/>
          </a:xfrm>
          <a:prstGeom prst="rect">
            <a:avLst/>
          </a:prstGeom>
        </p:spPr>
      </p:pic>
      <p:sp>
        <p:nvSpPr>
          <p:cNvPr id="68" name="Text 53"/>
          <p:cNvSpPr/>
          <p:nvPr/>
        </p:nvSpPr>
        <p:spPr>
          <a:xfrm>
            <a:off x="6440956" y="6034881"/>
            <a:ext cx="857088" cy="325365"/>
          </a:xfrm>
          <a:prstGeom prst="roundRect">
            <a:avLst>
              <a:gd name="adj" fmla="val 50000"/>
            </a:avLst>
          </a:prstGeom>
          <a:solidFill>
            <a:srgbClr val="FCEFE3"/>
          </a:solidFill>
          <a:ln w="12700">
            <a:solidFill>
              <a:srgbClr val="D9822B"/>
            </a:solidFill>
            <a:prstDash val="solid"/>
          </a:ln>
        </p:spPr>
        <p:txBody>
          <a:bodyPr wrap="none" lIns="0" tIns="0" rIns="0" bIns="0" rtlCol="0" anchor="ctr">
            <a:normAutofit/>
          </a:bodyPr>
          <a:lstStyle/>
          <a:p>
            <a:pPr algn="ctr" indent="0" marL="0">
              <a:lnSpc>
                <a:spcPts val="1680"/>
              </a:lnSpc>
              <a:buNone/>
            </a:pPr>
            <a:r>
              <a:rPr lang="en-US" sz="1200" b="1" dirty="0">
                <a:solidFill>
                  <a:srgbClr val="8A3F0E"/>
                </a:solidFill>
                <a:latin typeface="IBM Plex Sans" pitchFamily="34" charset="0"/>
                <a:ea typeface="IBM Plex Sans" pitchFamily="34" charset="-122"/>
                <a:cs typeface="IBM Plex Sans" pitchFamily="34" charset="-120"/>
              </a:rPr>
              <a:t>Approve</a:t>
            </a:r>
            <a:endParaRPr lang="en-US" sz="1200" dirty="0"/>
          </a:p>
        </p:txBody>
      </p:sp>
      <p:pic>
        <p:nvPicPr>
          <p:cNvPr id="69" name="Image 13" descr="connector">    </p:cNvPr>
          <p:cNvPicPr>
            <a:picLocks noChangeAspect="1"/>
          </p:cNvPicPr>
          <p:nvPr/>
        </p:nvPicPr>
        <p:blipFill>
          <a:blip r:embed="rId14"/>
          <a:srcRect l="-15" r="-15" t="0" b="0"/>
          <a:stretch/>
        </p:blipFill>
        <p:spPr>
          <a:xfrm>
            <a:off x="7431394" y="6146782"/>
            <a:ext cx="304782" cy="101564"/>
          </a:xfrm>
          <a:prstGeom prst="rect">
            <a:avLst/>
          </a:prstGeom>
        </p:spPr>
      </p:pic>
      <p:sp>
        <p:nvSpPr>
          <p:cNvPr id="70" name="Text 54"/>
          <p:cNvSpPr/>
          <p:nvPr/>
        </p:nvSpPr>
        <p:spPr>
          <a:xfrm>
            <a:off x="7869526" y="6034881"/>
            <a:ext cx="2189956" cy="325365"/>
          </a:xfrm>
          <a:prstGeom prst="roundRect">
            <a:avLst>
              <a:gd name="adj" fmla="val 50000"/>
            </a:avLst>
          </a:prstGeom>
          <a:solidFill>
            <a:srgbClr val="E8F0FE"/>
          </a:solidFill>
          <a:ln w="12700">
            <a:solidFill>
              <a:srgbClr val="2563C9"/>
            </a:solidFill>
            <a:prstDash val="solid"/>
          </a:ln>
        </p:spPr>
        <p:txBody>
          <a:bodyPr wrap="none" lIns="0" tIns="0" rIns="0" bIns="0" rtlCol="0" anchor="ctr">
            <a:normAutofit/>
          </a:bodyPr>
          <a:lstStyle/>
          <a:p>
            <a:pPr algn="ctr" indent="0" marL="0">
              <a:lnSpc>
                <a:spcPts val="1680"/>
              </a:lnSpc>
              <a:buNone/>
            </a:pPr>
            <a:r>
              <a:rPr lang="en-US" sz="1200" b="1" dirty="0">
                <a:solidFill>
                  <a:srgbClr val="174EA6"/>
                </a:solidFill>
                <a:latin typeface="IBM Plex Sans" pitchFamily="34" charset="0"/>
                <a:ea typeface="IBM Plex Sans" pitchFamily="34" charset="-122"/>
                <a:cs typeface="IBM Plex Sans" pitchFamily="34" charset="-120"/>
              </a:rPr>
              <a:t>Publish to [Data Catalogue]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128" y="355564"/>
            <a:ext cx="6268660" cy="2388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563C9"/>
                </a:solidFill>
                <a:latin typeface="IBM Plex Sans" pitchFamily="34" charset="0"/>
                <a:ea typeface="IBM Plex Sans" pitchFamily="34" charset="-122"/>
                <a:cs typeface="IBM Plex Sans" pitchFamily="34" charset="-120"/>
              </a:rPr>
              <a:t>PROCESS FLOW</a:t>
            </a:r>
            <a:endParaRPr lang="en-US" sz="1200" dirty="0"/>
          </a:p>
        </p:txBody>
      </p:sp>
      <p:sp>
        <p:nvSpPr>
          <p:cNvPr id="3" name="Text 1"/>
          <p:cNvSpPr/>
          <p:nvPr>
            <p:ph type="title"/>
          </p:nvPr>
        </p:nvSpPr>
        <p:spPr>
          <a:xfrm>
            <a:off x="457128" y="607038"/>
            <a:ext cx="7303293" cy="388631"/>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14213D"/>
                </a:solidFill>
                <a:latin typeface="IBM Plex Sans" pitchFamily="34" charset="0"/>
                <a:ea typeface="IBM Plex Sans" pitchFamily="34" charset="-122"/>
                <a:cs typeface="IBM Plex Sans" pitchFamily="34" charset="-120"/>
              </a:rPr>
              <a:t>From manual to agent-assisted curation</a:t>
            </a:r>
            <a:endParaRPr lang="en-US" sz="2600" dirty="0"/>
          </a:p>
        </p:txBody>
      </p:sp>
      <p:sp>
        <p:nvSpPr>
          <p:cNvPr id="4" name="Text 2"/>
          <p:cNvSpPr/>
          <p:nvPr/>
        </p:nvSpPr>
        <p:spPr>
          <a:xfrm>
            <a:off x="8697154" y="756858"/>
            <a:ext cx="3128849" cy="23881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Humans decide · the agent does the legwork</a:t>
            </a:r>
            <a:endParaRPr lang="en-US" sz="1200" dirty="0"/>
          </a:p>
        </p:txBody>
      </p:sp>
      <p:sp>
        <p:nvSpPr>
          <p:cNvPr id="5" name="Text 3"/>
          <p:cNvSpPr/>
          <p:nvPr/>
        </p:nvSpPr>
        <p:spPr>
          <a:xfrm>
            <a:off x="457128" y="1148051"/>
            <a:ext cx="1303013" cy="289538"/>
          </a:xfrm>
          <a:custGeom>
            <a:avLst/>
            <a:gdLst/>
            <a:ahLst/>
            <a:cxnLst/>
            <a:rect l="l" t="t" r="r" b="b"/>
            <a:pathLst>
              <a:path w="1303013" h="289538">
                <a:moveTo>
                  <a:pt x="144769" y="0"/>
                </a:moveTo>
                <a:lnTo>
                  <a:pt x="1158244" y="0"/>
                </a:lnTo>
                <a:arcTo hR="144769" wR="144769" stAng="16200000" swAng="5400000"/>
                <a:lnTo>
                  <a:pt x="1303013" y="144769"/>
                </a:lnTo>
                <a:arcTo hR="144769" wR="144769" stAng="0" swAng="5400000"/>
                <a:lnTo>
                  <a:pt x="144769" y="289538"/>
                </a:lnTo>
                <a:arcTo hR="144769" wR="144769" stAng="5400000" swAng="5400000"/>
                <a:lnTo>
                  <a:pt x="0" y="144769"/>
                </a:lnTo>
                <a:arcTo hR="144769" wR="144769" stAng="10800000" swAng="5400000"/>
                <a:close/>
              </a:path>
            </a:pathLst>
          </a:custGeom>
          <a:solidFill>
            <a:srgbClr val="E4E7EB"/>
          </a:solidFill>
          <a:ln/>
        </p:spPr>
        <p:txBody>
          <a:bodyPr wrap="none" lIns="0" tIns="0" rIns="0" bIns="0" rtlCol="0" anchor="ctr">
            <a:normAutofit/>
          </a:bodyPr>
          <a:lstStyle/>
          <a:p>
            <a:pPr algn="ctr" indent="0" marL="0">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Today · manual</a:t>
            </a:r>
            <a:endParaRPr lang="en-US" sz="1200" dirty="0"/>
          </a:p>
        </p:txBody>
      </p:sp>
      <p:sp>
        <p:nvSpPr>
          <p:cNvPr id="6" name="Text 4"/>
          <p:cNvSpPr/>
          <p:nvPr/>
        </p:nvSpPr>
        <p:spPr>
          <a:xfrm>
            <a:off x="1861704" y="1186114"/>
            <a:ext cx="5058533"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Sequential hand-offs across analysts, stewards and engineers</a:t>
            </a:r>
            <a:endParaRPr lang="en-US" sz="1200" dirty="0"/>
          </a:p>
        </p:txBody>
      </p:sp>
      <p:sp>
        <p:nvSpPr>
          <p:cNvPr id="7" name="Shape 5"/>
          <p:cNvSpPr/>
          <p:nvPr/>
        </p:nvSpPr>
        <p:spPr>
          <a:xfrm>
            <a:off x="460303" y="1529610"/>
            <a:ext cx="1257246" cy="1259862"/>
          </a:xfrm>
          <a:prstGeom prst="roundRect">
            <a:avLst>
              <a:gd name="adj" fmla="val 6818"/>
            </a:avLst>
          </a:prstGeom>
          <a:solidFill>
            <a:srgbClr val="ECEEF1"/>
          </a:solidFill>
          <a:ln w="6350">
            <a:solidFill>
              <a:srgbClr val="D9DEE5"/>
            </a:solidFill>
            <a:prstDash val="solid"/>
          </a:ln>
        </p:spPr>
      </p:sp>
      <p:sp>
        <p:nvSpPr>
          <p:cNvPr id="8" name="Text 6"/>
          <p:cNvSpPr/>
          <p:nvPr/>
        </p:nvSpPr>
        <p:spPr>
          <a:xfrm>
            <a:off x="551746" y="1633772"/>
            <a:ext cx="1125159"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6475"/>
                </a:solidFill>
                <a:latin typeface="IBM Plex Sans" pitchFamily="34" charset="0"/>
                <a:ea typeface="IBM Plex Sans" pitchFamily="34" charset="-122"/>
                <a:cs typeface="IBM Plex Sans" pitchFamily="34" charset="-120"/>
              </a:rPr>
              <a:t>01</a:t>
            </a:r>
            <a:endParaRPr lang="en-US" sz="1200" dirty="0"/>
          </a:p>
        </p:txBody>
      </p:sp>
      <p:sp>
        <p:nvSpPr>
          <p:cNvPr id="9" name="Text 7"/>
          <p:cNvSpPr/>
          <p:nvPr/>
        </p:nvSpPr>
        <p:spPr>
          <a:xfrm>
            <a:off x="551746" y="1885246"/>
            <a:ext cx="1125159"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4213D"/>
                </a:solidFill>
                <a:latin typeface="IBM Plex Sans" pitchFamily="34" charset="0"/>
                <a:ea typeface="IBM Plex Sans" pitchFamily="34" charset="-122"/>
                <a:cs typeface="IBM Plex Sans" pitchFamily="34" charset="-120"/>
              </a:rPr>
              <a:t>Capture request</a:t>
            </a:r>
            <a:endParaRPr lang="en-US" sz="1200" dirty="0"/>
          </a:p>
        </p:txBody>
      </p:sp>
      <p:sp>
        <p:nvSpPr>
          <p:cNvPr id="10" name="Text 8"/>
          <p:cNvSpPr/>
          <p:nvPr/>
        </p:nvSpPr>
        <p:spPr>
          <a:xfrm>
            <a:off x="551746" y="2304310"/>
            <a:ext cx="1125159"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Analyst</a:t>
            </a:r>
            <a:endParaRPr lang="en-US" sz="1200" dirty="0"/>
          </a:p>
        </p:txBody>
      </p:sp>
      <p:pic>
        <p:nvPicPr>
          <p:cNvPr id="11" name="Image 0" descr="connector">    </p:cNvPr>
          <p:cNvPicPr>
            <a:picLocks noChangeAspect="1"/>
          </p:cNvPicPr>
          <p:nvPr/>
        </p:nvPicPr>
        <p:blipFill>
          <a:blip r:embed="rId1"/>
          <a:srcRect l="-30" r="-30" t="0" b="0"/>
          <a:stretch/>
        </p:blipFill>
        <p:spPr>
          <a:xfrm>
            <a:off x="1720724" y="2121477"/>
            <a:ext cx="203128" cy="76128"/>
          </a:xfrm>
          <a:prstGeom prst="rect">
            <a:avLst/>
          </a:prstGeom>
        </p:spPr>
      </p:pic>
      <p:sp>
        <p:nvSpPr>
          <p:cNvPr id="12" name="Shape 9"/>
          <p:cNvSpPr/>
          <p:nvPr/>
        </p:nvSpPr>
        <p:spPr>
          <a:xfrm>
            <a:off x="1927027" y="1529610"/>
            <a:ext cx="1257246" cy="1259862"/>
          </a:xfrm>
          <a:prstGeom prst="roundRect">
            <a:avLst>
              <a:gd name="adj" fmla="val 6818"/>
            </a:avLst>
          </a:prstGeom>
          <a:solidFill>
            <a:srgbClr val="ECEEF1"/>
          </a:solidFill>
          <a:ln w="6350">
            <a:solidFill>
              <a:srgbClr val="D9DEE5"/>
            </a:solidFill>
            <a:prstDash val="solid"/>
          </a:ln>
        </p:spPr>
      </p:sp>
      <p:sp>
        <p:nvSpPr>
          <p:cNvPr id="13" name="Text 10"/>
          <p:cNvSpPr/>
          <p:nvPr/>
        </p:nvSpPr>
        <p:spPr>
          <a:xfrm>
            <a:off x="2018470" y="1633772"/>
            <a:ext cx="1125159"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6475"/>
                </a:solidFill>
                <a:latin typeface="IBM Plex Sans" pitchFamily="34" charset="0"/>
                <a:ea typeface="IBM Plex Sans" pitchFamily="34" charset="-122"/>
                <a:cs typeface="IBM Plex Sans" pitchFamily="34" charset="-120"/>
              </a:rPr>
              <a:t>02</a:t>
            </a:r>
            <a:endParaRPr lang="en-US" sz="1200" dirty="0"/>
          </a:p>
        </p:txBody>
      </p:sp>
      <p:sp>
        <p:nvSpPr>
          <p:cNvPr id="14" name="Text 11"/>
          <p:cNvSpPr/>
          <p:nvPr/>
        </p:nvSpPr>
        <p:spPr>
          <a:xfrm>
            <a:off x="2018470" y="1885246"/>
            <a:ext cx="1125159"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4213D"/>
                </a:solidFill>
                <a:latin typeface="IBM Plex Sans" pitchFamily="34" charset="0"/>
                <a:ea typeface="IBM Plex Sans" pitchFamily="34" charset="-122"/>
                <a:cs typeface="IBM Plex Sans" pitchFamily="34" charset="-120"/>
              </a:rPr>
              <a:t>Search metadata</a:t>
            </a:r>
            <a:endParaRPr lang="en-US" sz="1200" dirty="0"/>
          </a:p>
        </p:txBody>
      </p:sp>
      <p:sp>
        <p:nvSpPr>
          <p:cNvPr id="15" name="Text 12"/>
          <p:cNvSpPr/>
          <p:nvPr/>
        </p:nvSpPr>
        <p:spPr>
          <a:xfrm>
            <a:off x="2018470" y="2304310"/>
            <a:ext cx="1125159"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Data steward</a:t>
            </a:r>
            <a:endParaRPr lang="en-US" sz="1200" dirty="0"/>
          </a:p>
        </p:txBody>
      </p:sp>
      <p:pic>
        <p:nvPicPr>
          <p:cNvPr id="16" name="Image 1" descr="connector">    </p:cNvPr>
          <p:cNvPicPr>
            <a:picLocks noChangeAspect="1"/>
          </p:cNvPicPr>
          <p:nvPr/>
        </p:nvPicPr>
        <p:blipFill>
          <a:blip r:embed="rId2"/>
          <a:srcRect l="-30" r="-30" t="0" b="0"/>
          <a:stretch/>
        </p:blipFill>
        <p:spPr>
          <a:xfrm>
            <a:off x="3187447" y="2121477"/>
            <a:ext cx="203128" cy="76128"/>
          </a:xfrm>
          <a:prstGeom prst="rect">
            <a:avLst/>
          </a:prstGeom>
        </p:spPr>
      </p:pic>
      <p:sp>
        <p:nvSpPr>
          <p:cNvPr id="17" name="Shape 13"/>
          <p:cNvSpPr/>
          <p:nvPr/>
        </p:nvSpPr>
        <p:spPr>
          <a:xfrm>
            <a:off x="3393750" y="1529610"/>
            <a:ext cx="1257246" cy="1259862"/>
          </a:xfrm>
          <a:prstGeom prst="roundRect">
            <a:avLst>
              <a:gd name="adj" fmla="val 6818"/>
            </a:avLst>
          </a:prstGeom>
          <a:solidFill>
            <a:srgbClr val="ECEEF1"/>
          </a:solidFill>
          <a:ln w="6350">
            <a:solidFill>
              <a:srgbClr val="D9DEE5"/>
            </a:solidFill>
            <a:prstDash val="solid"/>
          </a:ln>
        </p:spPr>
      </p:sp>
      <p:sp>
        <p:nvSpPr>
          <p:cNvPr id="18" name="Text 14"/>
          <p:cNvSpPr/>
          <p:nvPr/>
        </p:nvSpPr>
        <p:spPr>
          <a:xfrm>
            <a:off x="3485194" y="1633772"/>
            <a:ext cx="1125159"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6475"/>
                </a:solidFill>
                <a:latin typeface="IBM Plex Sans" pitchFamily="34" charset="0"/>
                <a:ea typeface="IBM Plex Sans" pitchFamily="34" charset="-122"/>
                <a:cs typeface="IBM Plex Sans" pitchFamily="34" charset="-120"/>
              </a:rPr>
              <a:t>03</a:t>
            </a:r>
            <a:endParaRPr lang="en-US" sz="1200" dirty="0"/>
          </a:p>
        </p:txBody>
      </p:sp>
      <p:sp>
        <p:nvSpPr>
          <p:cNvPr id="19" name="Text 15"/>
          <p:cNvSpPr/>
          <p:nvPr/>
        </p:nvSpPr>
        <p:spPr>
          <a:xfrm>
            <a:off x="3485194" y="1885246"/>
            <a:ext cx="1125159"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4213D"/>
                </a:solidFill>
                <a:latin typeface="IBM Plex Sans" pitchFamily="34" charset="0"/>
                <a:ea typeface="IBM Plex Sans" pitchFamily="34" charset="-122"/>
                <a:cs typeface="IBM Plex Sans" pitchFamily="34" charset="-120"/>
              </a:rPr>
              <a:t>Map to ontology</a:t>
            </a:r>
            <a:endParaRPr lang="en-US" sz="1200" dirty="0"/>
          </a:p>
        </p:txBody>
      </p:sp>
      <p:sp>
        <p:nvSpPr>
          <p:cNvPr id="20" name="Text 16"/>
          <p:cNvSpPr/>
          <p:nvPr/>
        </p:nvSpPr>
        <p:spPr>
          <a:xfrm>
            <a:off x="3485194" y="2304310"/>
            <a:ext cx="1125159"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Data steward</a:t>
            </a:r>
            <a:endParaRPr lang="en-US" sz="1200" dirty="0"/>
          </a:p>
        </p:txBody>
      </p:sp>
      <p:pic>
        <p:nvPicPr>
          <p:cNvPr id="21" name="Image 2" descr="connector">    </p:cNvPr>
          <p:cNvPicPr>
            <a:picLocks noChangeAspect="1"/>
          </p:cNvPicPr>
          <p:nvPr/>
        </p:nvPicPr>
        <p:blipFill>
          <a:blip r:embed="rId3"/>
          <a:srcRect l="-30" r="-30" t="0" b="0"/>
          <a:stretch/>
        </p:blipFill>
        <p:spPr>
          <a:xfrm>
            <a:off x="4654171" y="2121477"/>
            <a:ext cx="203128" cy="76128"/>
          </a:xfrm>
          <a:prstGeom prst="rect">
            <a:avLst/>
          </a:prstGeom>
        </p:spPr>
      </p:pic>
      <p:sp>
        <p:nvSpPr>
          <p:cNvPr id="22" name="Shape 17"/>
          <p:cNvSpPr/>
          <p:nvPr/>
        </p:nvSpPr>
        <p:spPr>
          <a:xfrm>
            <a:off x="4860474" y="1529610"/>
            <a:ext cx="1257246" cy="1259862"/>
          </a:xfrm>
          <a:prstGeom prst="roundRect">
            <a:avLst>
              <a:gd name="adj" fmla="val 6818"/>
            </a:avLst>
          </a:prstGeom>
          <a:solidFill>
            <a:srgbClr val="ECEEF1"/>
          </a:solidFill>
          <a:ln w="6350">
            <a:solidFill>
              <a:srgbClr val="D9DEE5"/>
            </a:solidFill>
            <a:prstDash val="solid"/>
          </a:ln>
        </p:spPr>
      </p:sp>
      <p:sp>
        <p:nvSpPr>
          <p:cNvPr id="23" name="Text 18"/>
          <p:cNvSpPr/>
          <p:nvPr/>
        </p:nvSpPr>
        <p:spPr>
          <a:xfrm>
            <a:off x="4951918" y="1633772"/>
            <a:ext cx="1125159"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6475"/>
                </a:solidFill>
                <a:latin typeface="IBM Plex Sans" pitchFamily="34" charset="0"/>
                <a:ea typeface="IBM Plex Sans" pitchFamily="34" charset="-122"/>
                <a:cs typeface="IBM Plex Sans" pitchFamily="34" charset="-120"/>
              </a:rPr>
              <a:t>04</a:t>
            </a:r>
            <a:endParaRPr lang="en-US" sz="1200" dirty="0"/>
          </a:p>
        </p:txBody>
      </p:sp>
      <p:sp>
        <p:nvSpPr>
          <p:cNvPr id="24" name="Text 19"/>
          <p:cNvSpPr/>
          <p:nvPr/>
        </p:nvSpPr>
        <p:spPr>
          <a:xfrm>
            <a:off x="4951918" y="1885246"/>
            <a:ext cx="1125159"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4213D"/>
                </a:solidFill>
                <a:latin typeface="IBM Plex Sans" pitchFamily="34" charset="0"/>
                <a:ea typeface="IBM Plex Sans" pitchFamily="34" charset="-122"/>
                <a:cs typeface="IBM Plex Sans" pitchFamily="34" charset="-120"/>
              </a:rPr>
              <a:t>Profile data</a:t>
            </a:r>
            <a:endParaRPr lang="en-US" sz="1200" dirty="0"/>
          </a:p>
        </p:txBody>
      </p:sp>
      <p:sp>
        <p:nvSpPr>
          <p:cNvPr id="25" name="Text 20"/>
          <p:cNvSpPr/>
          <p:nvPr/>
        </p:nvSpPr>
        <p:spPr>
          <a:xfrm>
            <a:off x="4951918" y="2113810"/>
            <a:ext cx="1125159"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Data engineer</a:t>
            </a:r>
            <a:endParaRPr lang="en-US" sz="1200" dirty="0"/>
          </a:p>
        </p:txBody>
      </p:sp>
      <p:pic>
        <p:nvPicPr>
          <p:cNvPr id="26" name="Image 3" descr="connector">    </p:cNvPr>
          <p:cNvPicPr>
            <a:picLocks noChangeAspect="1"/>
          </p:cNvPicPr>
          <p:nvPr/>
        </p:nvPicPr>
        <p:blipFill>
          <a:blip r:embed="rId4"/>
          <a:srcRect l="-30" r="-30" t="0" b="0"/>
          <a:stretch/>
        </p:blipFill>
        <p:spPr>
          <a:xfrm>
            <a:off x="6120895" y="2121477"/>
            <a:ext cx="203128" cy="76128"/>
          </a:xfrm>
          <a:prstGeom prst="rect">
            <a:avLst/>
          </a:prstGeom>
        </p:spPr>
      </p:pic>
      <p:sp>
        <p:nvSpPr>
          <p:cNvPr id="27" name="Shape 21"/>
          <p:cNvSpPr/>
          <p:nvPr/>
        </p:nvSpPr>
        <p:spPr>
          <a:xfrm>
            <a:off x="6327198" y="1529610"/>
            <a:ext cx="1257246" cy="1259862"/>
          </a:xfrm>
          <a:prstGeom prst="roundRect">
            <a:avLst>
              <a:gd name="adj" fmla="val 6818"/>
            </a:avLst>
          </a:prstGeom>
          <a:solidFill>
            <a:srgbClr val="ECEEF1"/>
          </a:solidFill>
          <a:ln w="6350">
            <a:solidFill>
              <a:srgbClr val="D9DEE5"/>
            </a:solidFill>
            <a:prstDash val="solid"/>
          </a:ln>
        </p:spPr>
      </p:sp>
      <p:sp>
        <p:nvSpPr>
          <p:cNvPr id="28" name="Text 22"/>
          <p:cNvSpPr/>
          <p:nvPr/>
        </p:nvSpPr>
        <p:spPr>
          <a:xfrm>
            <a:off x="6418641" y="1633772"/>
            <a:ext cx="1125159"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6475"/>
                </a:solidFill>
                <a:latin typeface="IBM Plex Sans" pitchFamily="34" charset="0"/>
                <a:ea typeface="IBM Plex Sans" pitchFamily="34" charset="-122"/>
                <a:cs typeface="IBM Plex Sans" pitchFamily="34" charset="-120"/>
              </a:rPr>
              <a:t>05</a:t>
            </a:r>
            <a:endParaRPr lang="en-US" sz="1200" dirty="0"/>
          </a:p>
        </p:txBody>
      </p:sp>
      <p:sp>
        <p:nvSpPr>
          <p:cNvPr id="29" name="Text 23"/>
          <p:cNvSpPr/>
          <p:nvPr/>
        </p:nvSpPr>
        <p:spPr>
          <a:xfrm>
            <a:off x="6418641" y="1885246"/>
            <a:ext cx="1125159"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4213D"/>
                </a:solidFill>
                <a:latin typeface="IBM Plex Sans" pitchFamily="34" charset="0"/>
                <a:ea typeface="IBM Plex Sans" pitchFamily="34" charset="-122"/>
                <a:cs typeface="IBM Plex Sans" pitchFamily="34" charset="-120"/>
              </a:rPr>
              <a:t>Read source code</a:t>
            </a:r>
            <a:endParaRPr lang="en-US" sz="1200" dirty="0"/>
          </a:p>
        </p:txBody>
      </p:sp>
      <p:sp>
        <p:nvSpPr>
          <p:cNvPr id="30" name="Text 24"/>
          <p:cNvSpPr/>
          <p:nvPr/>
        </p:nvSpPr>
        <p:spPr>
          <a:xfrm>
            <a:off x="6418641" y="2304310"/>
            <a:ext cx="1125159"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Data engineer</a:t>
            </a:r>
            <a:endParaRPr lang="en-US" sz="1200" dirty="0"/>
          </a:p>
        </p:txBody>
      </p:sp>
      <p:pic>
        <p:nvPicPr>
          <p:cNvPr id="31" name="Image 4" descr="connector">    </p:cNvPr>
          <p:cNvPicPr>
            <a:picLocks noChangeAspect="1"/>
          </p:cNvPicPr>
          <p:nvPr/>
        </p:nvPicPr>
        <p:blipFill>
          <a:blip r:embed="rId5"/>
          <a:srcRect l="-30" r="-30" t="0" b="0"/>
          <a:stretch/>
        </p:blipFill>
        <p:spPr>
          <a:xfrm>
            <a:off x="7587618" y="2121477"/>
            <a:ext cx="203128" cy="76128"/>
          </a:xfrm>
          <a:prstGeom prst="rect">
            <a:avLst/>
          </a:prstGeom>
        </p:spPr>
      </p:pic>
      <p:sp>
        <p:nvSpPr>
          <p:cNvPr id="32" name="Shape 25"/>
          <p:cNvSpPr/>
          <p:nvPr/>
        </p:nvSpPr>
        <p:spPr>
          <a:xfrm>
            <a:off x="7793921" y="1529610"/>
            <a:ext cx="1257246" cy="1259862"/>
          </a:xfrm>
          <a:prstGeom prst="roundRect">
            <a:avLst>
              <a:gd name="adj" fmla="val 6818"/>
            </a:avLst>
          </a:prstGeom>
          <a:solidFill>
            <a:srgbClr val="ECEEF1"/>
          </a:solidFill>
          <a:ln w="6350">
            <a:solidFill>
              <a:srgbClr val="D9DEE5"/>
            </a:solidFill>
            <a:prstDash val="solid"/>
          </a:ln>
        </p:spPr>
      </p:sp>
      <p:sp>
        <p:nvSpPr>
          <p:cNvPr id="33" name="Text 26"/>
          <p:cNvSpPr/>
          <p:nvPr/>
        </p:nvSpPr>
        <p:spPr>
          <a:xfrm>
            <a:off x="7885364" y="1633772"/>
            <a:ext cx="1125159"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6475"/>
                </a:solidFill>
                <a:latin typeface="IBM Plex Sans" pitchFamily="34" charset="0"/>
                <a:ea typeface="IBM Plex Sans" pitchFamily="34" charset="-122"/>
                <a:cs typeface="IBM Plex Sans" pitchFamily="34" charset="-120"/>
              </a:rPr>
              <a:t>06</a:t>
            </a:r>
            <a:endParaRPr lang="en-US" sz="1200" dirty="0"/>
          </a:p>
        </p:txBody>
      </p:sp>
      <p:sp>
        <p:nvSpPr>
          <p:cNvPr id="34" name="Text 27"/>
          <p:cNvSpPr/>
          <p:nvPr/>
        </p:nvSpPr>
        <p:spPr>
          <a:xfrm>
            <a:off x="7885364" y="1885246"/>
            <a:ext cx="1125159"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4213D"/>
                </a:solidFill>
                <a:latin typeface="IBM Plex Sans" pitchFamily="34" charset="0"/>
                <a:ea typeface="IBM Plex Sans" pitchFamily="34" charset="-122"/>
                <a:cs typeface="IBM Plex Sans" pitchFamily="34" charset="-120"/>
              </a:rPr>
              <a:t>Spec, review &amp; publish</a:t>
            </a:r>
            <a:endParaRPr lang="en-US" sz="1200" dirty="0"/>
          </a:p>
        </p:txBody>
      </p:sp>
      <p:sp>
        <p:nvSpPr>
          <p:cNvPr id="35" name="Text 28"/>
          <p:cNvSpPr/>
          <p:nvPr/>
        </p:nvSpPr>
        <p:spPr>
          <a:xfrm>
            <a:off x="7885364" y="2304310"/>
            <a:ext cx="1125159"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Steward + owner</a:t>
            </a:r>
            <a:endParaRPr lang="en-US" sz="1200" dirty="0"/>
          </a:p>
        </p:txBody>
      </p:sp>
      <p:sp>
        <p:nvSpPr>
          <p:cNvPr id="36" name="Text 29"/>
          <p:cNvSpPr/>
          <p:nvPr/>
        </p:nvSpPr>
        <p:spPr>
          <a:xfrm>
            <a:off x="457128" y="2881492"/>
            <a:ext cx="886888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Knowledge sits with people · gaps surface late and force rework · </a:t>
            </a:r>
            <a:r>
              <a:rPr lang="en-US" sz="1200" b="1" dirty="0">
                <a:solidFill>
                  <a:srgbClr val="4A5568"/>
                </a:solidFill>
                <a:latin typeface="IBM Plex Sans" pitchFamily="34" charset="0"/>
                <a:ea typeface="IBM Plex Sans" pitchFamily="34" charset="-122"/>
                <a:cs typeface="IBM Plex Sans" pitchFamily="34" charset="-120"/>
              </a:rPr>
              <a:t>[__ weeks]</a:t>
            </a:r>
            <a:r>
              <a:rPr lang="en-US" sz="1200" dirty="0">
                <a:solidFill>
                  <a:srgbClr val="4A5568"/>
                </a:solidFill>
                <a:latin typeface="IBM Plex Sans" pitchFamily="34" charset="0"/>
                <a:ea typeface="IBM Plex Sans" pitchFamily="34" charset="-122"/>
                <a:cs typeface="IBM Plex Sans" pitchFamily="34" charset="-120"/>
              </a:rPr>
              <a:t> per data product</a:t>
            </a:r>
            <a:endParaRPr lang="en-US" sz="1200" dirty="0"/>
          </a:p>
        </p:txBody>
      </p:sp>
      <p:sp>
        <p:nvSpPr>
          <p:cNvPr id="37" name="Text 30"/>
          <p:cNvSpPr/>
          <p:nvPr/>
        </p:nvSpPr>
        <p:spPr>
          <a:xfrm>
            <a:off x="457128" y="3298031"/>
            <a:ext cx="2595021" cy="289538"/>
          </a:xfrm>
          <a:custGeom>
            <a:avLst/>
            <a:gdLst/>
            <a:ahLst/>
            <a:cxnLst/>
            <a:rect l="l" t="t" r="r" b="b"/>
            <a:pathLst>
              <a:path w="2595021" h="289538">
                <a:moveTo>
                  <a:pt x="144769" y="0"/>
                </a:moveTo>
                <a:lnTo>
                  <a:pt x="2450252" y="0"/>
                </a:lnTo>
                <a:arcTo hR="144769" wR="144769" stAng="16200000" swAng="5400000"/>
                <a:lnTo>
                  <a:pt x="2595021" y="144769"/>
                </a:lnTo>
                <a:arcTo hR="144769" wR="144769" stAng="0" swAng="5400000"/>
                <a:lnTo>
                  <a:pt x="144769" y="289538"/>
                </a:lnTo>
                <a:arcTo hR="144769" wR="144769" stAng="5400000" swAng="5400000"/>
                <a:lnTo>
                  <a:pt x="0" y="144769"/>
                </a:lnTo>
                <a:arcTo hR="144769" wR="144769" stAng="10800000" swAng="5400000"/>
                <a:close/>
              </a:path>
            </a:pathLst>
          </a:custGeom>
          <a:solidFill>
            <a:srgbClr val="2563C9"/>
          </a:solidFill>
          <a:ln/>
        </p:spPr>
        <p:txBody>
          <a:bodyPr wrap="none" lIns="0" tIns="0" rIns="0" bIns="0" rtlCol="0" anchor="ctr">
            <a:normAutofit/>
          </a:bodyPr>
          <a:lstStyle/>
          <a:p>
            <a:pPr algn="ctr" indent="0" marL="0">
              <a:lnSpc>
                <a:spcPts val="1680"/>
              </a:lnSpc>
              <a:buNone/>
            </a:pPr>
            <a:r>
              <a:rPr lang="en-US" sz="1200" b="1" dirty="0">
                <a:solidFill>
                  <a:srgbClr val="FDFDFB"/>
                </a:solidFill>
                <a:latin typeface="IBM Plex Sans" pitchFamily="34" charset="0"/>
                <a:ea typeface="IBM Plex Sans" pitchFamily="34" charset="-122"/>
                <a:cs typeface="IBM Plex Sans" pitchFamily="34" charset="-120"/>
              </a:rPr>
              <a:t>With the harness · agent-assisted</a:t>
            </a:r>
            <a:endParaRPr lang="en-US" sz="1200" dirty="0"/>
          </a:p>
        </p:txBody>
      </p:sp>
      <p:sp>
        <p:nvSpPr>
          <p:cNvPr id="38" name="Text 31"/>
          <p:cNvSpPr/>
          <p:nvPr/>
        </p:nvSpPr>
        <p:spPr>
          <a:xfrm>
            <a:off x="3153713" y="3336095"/>
            <a:ext cx="4781442"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Agent works the sources in parallel; you steer and approve</a:t>
            </a:r>
            <a:endParaRPr lang="en-US" sz="1200" dirty="0"/>
          </a:p>
        </p:txBody>
      </p:sp>
      <p:sp>
        <p:nvSpPr>
          <p:cNvPr id="39" name="Shape 32"/>
          <p:cNvSpPr/>
          <p:nvPr/>
        </p:nvSpPr>
        <p:spPr>
          <a:xfrm>
            <a:off x="463478" y="3682765"/>
            <a:ext cx="1250896" cy="1265057"/>
          </a:xfrm>
          <a:prstGeom prst="roundRect">
            <a:avLst>
              <a:gd name="adj" fmla="val 6599"/>
            </a:avLst>
          </a:prstGeom>
          <a:solidFill>
            <a:srgbClr val="FCEFE3"/>
          </a:solidFill>
          <a:ln w="12700">
            <a:solidFill>
              <a:srgbClr val="D9822B"/>
            </a:solidFill>
            <a:prstDash val="solid"/>
          </a:ln>
        </p:spPr>
      </p:sp>
      <p:sp>
        <p:nvSpPr>
          <p:cNvPr id="40" name="Text 33"/>
          <p:cNvSpPr/>
          <p:nvPr/>
        </p:nvSpPr>
        <p:spPr>
          <a:xfrm>
            <a:off x="557519" y="3789525"/>
            <a:ext cx="1113613"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3F0E"/>
                </a:solidFill>
                <a:latin typeface="IBM Plex Sans" pitchFamily="34" charset="0"/>
                <a:ea typeface="IBM Plex Sans" pitchFamily="34" charset="-122"/>
                <a:cs typeface="IBM Plex Sans" pitchFamily="34" charset="-120"/>
              </a:rPr>
              <a:t>01 · You</a:t>
            </a:r>
            <a:endParaRPr lang="en-US" sz="1200" dirty="0"/>
          </a:p>
        </p:txBody>
      </p:sp>
      <p:sp>
        <p:nvSpPr>
          <p:cNvPr id="41" name="Text 34"/>
          <p:cNvSpPr/>
          <p:nvPr/>
        </p:nvSpPr>
        <p:spPr>
          <a:xfrm>
            <a:off x="557519" y="4040999"/>
            <a:ext cx="1113613"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4213D"/>
                </a:solidFill>
                <a:latin typeface="IBM Plex Sans" pitchFamily="34" charset="0"/>
                <a:ea typeface="IBM Plex Sans" pitchFamily="34" charset="-122"/>
                <a:cs typeface="IBM Plex Sans" pitchFamily="34" charset="-120"/>
              </a:rPr>
              <a:t>Describe intent</a:t>
            </a:r>
            <a:endParaRPr lang="en-US" sz="1200" dirty="0"/>
          </a:p>
        </p:txBody>
      </p:sp>
      <p:sp>
        <p:nvSpPr>
          <p:cNvPr id="42" name="Text 35"/>
          <p:cNvSpPr/>
          <p:nvPr/>
        </p:nvSpPr>
        <p:spPr>
          <a:xfrm>
            <a:off x="557519" y="4460063"/>
            <a:ext cx="1113613"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Chat + docs, PDFs</a:t>
            </a:r>
            <a:endParaRPr lang="en-US" sz="1200" dirty="0"/>
          </a:p>
        </p:txBody>
      </p:sp>
      <p:pic>
        <p:nvPicPr>
          <p:cNvPr id="43" name="Image 5" descr="connector">    </p:cNvPr>
          <p:cNvPicPr>
            <a:picLocks noChangeAspect="1"/>
          </p:cNvPicPr>
          <p:nvPr/>
        </p:nvPicPr>
        <p:blipFill>
          <a:blip r:embed="rId6"/>
          <a:srcRect l="-30" r="-30" t="0" b="0"/>
          <a:stretch/>
        </p:blipFill>
        <p:spPr>
          <a:xfrm>
            <a:off x="1720724" y="4277230"/>
            <a:ext cx="203128" cy="76128"/>
          </a:xfrm>
          <a:prstGeom prst="rect">
            <a:avLst/>
          </a:prstGeom>
        </p:spPr>
      </p:pic>
      <p:sp>
        <p:nvSpPr>
          <p:cNvPr id="44" name="Shape 36"/>
          <p:cNvSpPr/>
          <p:nvPr/>
        </p:nvSpPr>
        <p:spPr>
          <a:xfrm>
            <a:off x="1930202" y="3682765"/>
            <a:ext cx="1250896" cy="1265057"/>
          </a:xfrm>
          <a:prstGeom prst="roundRect">
            <a:avLst>
              <a:gd name="adj" fmla="val 6599"/>
            </a:avLst>
          </a:prstGeom>
          <a:solidFill>
            <a:srgbClr val="FFFFFF"/>
          </a:solidFill>
          <a:ln w="12700">
            <a:solidFill>
              <a:srgbClr val="BFD0EE"/>
            </a:solidFill>
            <a:prstDash val="solid"/>
          </a:ln>
        </p:spPr>
      </p:sp>
      <p:sp>
        <p:nvSpPr>
          <p:cNvPr id="45" name="Text 37"/>
          <p:cNvSpPr/>
          <p:nvPr/>
        </p:nvSpPr>
        <p:spPr>
          <a:xfrm>
            <a:off x="2024243" y="3789525"/>
            <a:ext cx="1113613"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IBM Plex Sans" pitchFamily="34" charset="0"/>
                <a:ea typeface="IBM Plex Sans" pitchFamily="34" charset="-122"/>
                <a:cs typeface="IBM Plex Sans" pitchFamily="34" charset="-120"/>
              </a:rPr>
              <a:t>02 · Agent</a:t>
            </a:r>
            <a:endParaRPr lang="en-US" sz="1200" dirty="0"/>
          </a:p>
        </p:txBody>
      </p:sp>
      <p:sp>
        <p:nvSpPr>
          <p:cNvPr id="46" name="Text 38"/>
          <p:cNvSpPr/>
          <p:nvPr/>
        </p:nvSpPr>
        <p:spPr>
          <a:xfrm>
            <a:off x="2024243" y="4040999"/>
            <a:ext cx="1150504"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4213D"/>
                </a:solidFill>
                <a:latin typeface="IBM Plex Sans" pitchFamily="34" charset="0"/>
                <a:ea typeface="IBM Plex Sans" pitchFamily="34" charset="-122"/>
                <a:cs typeface="IBM Plex Sans" pitchFamily="34" charset="-120"/>
              </a:rPr>
              <a:t>Gather context</a:t>
            </a:r>
            <a:endParaRPr lang="en-US" sz="1200" dirty="0"/>
          </a:p>
        </p:txBody>
      </p:sp>
      <p:sp>
        <p:nvSpPr>
          <p:cNvPr id="47" name="Text 39"/>
          <p:cNvSpPr/>
          <p:nvPr/>
        </p:nvSpPr>
        <p:spPr>
          <a:xfrm>
            <a:off x="2024243" y="4269563"/>
            <a:ext cx="1113613" cy="596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Main agent queries 5 sources</a:t>
            </a:r>
            <a:endParaRPr lang="en-US" sz="1200" dirty="0"/>
          </a:p>
        </p:txBody>
      </p:sp>
      <p:pic>
        <p:nvPicPr>
          <p:cNvPr id="48" name="Image 6" descr="connector">    </p:cNvPr>
          <p:cNvPicPr>
            <a:picLocks noChangeAspect="1"/>
          </p:cNvPicPr>
          <p:nvPr/>
        </p:nvPicPr>
        <p:blipFill>
          <a:blip r:embed="rId7"/>
          <a:srcRect l="-30" r="-30" t="0" b="0"/>
          <a:stretch/>
        </p:blipFill>
        <p:spPr>
          <a:xfrm>
            <a:off x="3187447" y="4277230"/>
            <a:ext cx="203128" cy="76128"/>
          </a:xfrm>
          <a:prstGeom prst="rect">
            <a:avLst/>
          </a:prstGeom>
        </p:spPr>
      </p:pic>
      <p:sp>
        <p:nvSpPr>
          <p:cNvPr id="49" name="Shape 40"/>
          <p:cNvSpPr/>
          <p:nvPr/>
        </p:nvSpPr>
        <p:spPr>
          <a:xfrm>
            <a:off x="3396925" y="3682765"/>
            <a:ext cx="1250896" cy="1265057"/>
          </a:xfrm>
          <a:prstGeom prst="roundRect">
            <a:avLst>
              <a:gd name="adj" fmla="val 6599"/>
            </a:avLst>
          </a:prstGeom>
          <a:solidFill>
            <a:srgbClr val="FFFFFF"/>
          </a:solidFill>
          <a:ln w="12700">
            <a:solidFill>
              <a:srgbClr val="BFD0EE"/>
            </a:solidFill>
            <a:prstDash val="solid"/>
          </a:ln>
        </p:spPr>
      </p:sp>
      <p:sp>
        <p:nvSpPr>
          <p:cNvPr id="50" name="Text 41"/>
          <p:cNvSpPr/>
          <p:nvPr/>
        </p:nvSpPr>
        <p:spPr>
          <a:xfrm>
            <a:off x="3490966" y="3789525"/>
            <a:ext cx="1113613"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IBM Plex Sans" pitchFamily="34" charset="0"/>
                <a:ea typeface="IBM Plex Sans" pitchFamily="34" charset="-122"/>
                <a:cs typeface="IBM Plex Sans" pitchFamily="34" charset="-120"/>
              </a:rPr>
              <a:t>03 · Agent</a:t>
            </a:r>
            <a:endParaRPr lang="en-US" sz="1200" dirty="0"/>
          </a:p>
        </p:txBody>
      </p:sp>
      <p:sp>
        <p:nvSpPr>
          <p:cNvPr id="51" name="Text 42"/>
          <p:cNvSpPr/>
          <p:nvPr/>
        </p:nvSpPr>
        <p:spPr>
          <a:xfrm>
            <a:off x="3490966" y="4040999"/>
            <a:ext cx="1113613"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4213D"/>
                </a:solidFill>
                <a:latin typeface="IBM Plex Sans" pitchFamily="34" charset="0"/>
                <a:ea typeface="IBM Plex Sans" pitchFamily="34" charset="-122"/>
                <a:cs typeface="IBM Plex Sans" pitchFamily="34" charset="-120"/>
              </a:rPr>
              <a:t>Draft mapping</a:t>
            </a:r>
            <a:endParaRPr lang="en-US" sz="1200" dirty="0"/>
          </a:p>
        </p:txBody>
      </p:sp>
      <p:sp>
        <p:nvSpPr>
          <p:cNvPr id="52" name="Text 43"/>
          <p:cNvSpPr/>
          <p:nvPr/>
        </p:nvSpPr>
        <p:spPr>
          <a:xfrm>
            <a:off x="3490966" y="4269563"/>
            <a:ext cx="1113613"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Live on AG Grid canvas</a:t>
            </a:r>
            <a:endParaRPr lang="en-US" sz="1200" dirty="0"/>
          </a:p>
        </p:txBody>
      </p:sp>
      <p:pic>
        <p:nvPicPr>
          <p:cNvPr id="53" name="Image 7" descr="connector">    </p:cNvPr>
          <p:cNvPicPr>
            <a:picLocks noChangeAspect="1"/>
          </p:cNvPicPr>
          <p:nvPr/>
        </p:nvPicPr>
        <p:blipFill>
          <a:blip r:embed="rId8"/>
          <a:srcRect l="-30" r="-30" t="0" b="0"/>
          <a:stretch/>
        </p:blipFill>
        <p:spPr>
          <a:xfrm>
            <a:off x="4654171" y="4277230"/>
            <a:ext cx="203128" cy="76128"/>
          </a:xfrm>
          <a:prstGeom prst="rect">
            <a:avLst/>
          </a:prstGeom>
        </p:spPr>
      </p:pic>
      <p:sp>
        <p:nvSpPr>
          <p:cNvPr id="54" name="Shape 44"/>
          <p:cNvSpPr/>
          <p:nvPr/>
        </p:nvSpPr>
        <p:spPr>
          <a:xfrm>
            <a:off x="4863649" y="3682765"/>
            <a:ext cx="1250896" cy="1265057"/>
          </a:xfrm>
          <a:prstGeom prst="roundRect">
            <a:avLst>
              <a:gd name="adj" fmla="val 6599"/>
            </a:avLst>
          </a:prstGeom>
          <a:solidFill>
            <a:srgbClr val="FFFFFF"/>
          </a:solidFill>
          <a:ln w="12700">
            <a:solidFill>
              <a:srgbClr val="BFD0EE"/>
            </a:solidFill>
            <a:prstDash val="solid"/>
          </a:ln>
        </p:spPr>
      </p:sp>
      <p:sp>
        <p:nvSpPr>
          <p:cNvPr id="55" name="Text 45"/>
          <p:cNvSpPr/>
          <p:nvPr/>
        </p:nvSpPr>
        <p:spPr>
          <a:xfrm>
            <a:off x="4957690" y="3789525"/>
            <a:ext cx="1113613"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IBM Plex Sans" pitchFamily="34" charset="0"/>
                <a:ea typeface="IBM Plex Sans" pitchFamily="34" charset="-122"/>
                <a:cs typeface="IBM Plex Sans" pitchFamily="34" charset="-120"/>
              </a:rPr>
              <a:t>04 · Agent</a:t>
            </a:r>
            <a:endParaRPr lang="en-US" sz="1200" dirty="0"/>
          </a:p>
        </p:txBody>
      </p:sp>
      <p:sp>
        <p:nvSpPr>
          <p:cNvPr id="56" name="Text 46"/>
          <p:cNvSpPr/>
          <p:nvPr/>
        </p:nvSpPr>
        <p:spPr>
          <a:xfrm>
            <a:off x="4957690" y="4040999"/>
            <a:ext cx="1113613"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4213D"/>
                </a:solidFill>
                <a:latin typeface="IBM Plex Sans" pitchFamily="34" charset="0"/>
                <a:ea typeface="IBM Plex Sans" pitchFamily="34" charset="-122"/>
                <a:cs typeface="IBM Plex Sans" pitchFamily="34" charset="-120"/>
              </a:rPr>
              <a:t>Validate</a:t>
            </a:r>
            <a:endParaRPr lang="en-US" sz="1200" dirty="0"/>
          </a:p>
        </p:txBody>
      </p:sp>
      <p:sp>
        <p:nvSpPr>
          <p:cNvPr id="57" name="Text 47"/>
          <p:cNvSpPr/>
          <p:nvPr/>
        </p:nvSpPr>
        <p:spPr>
          <a:xfrm>
            <a:off x="4957690" y="4269563"/>
            <a:ext cx="1113613"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Reviewer agent checks</a:t>
            </a:r>
            <a:endParaRPr lang="en-US" sz="1200" dirty="0"/>
          </a:p>
        </p:txBody>
      </p:sp>
      <p:pic>
        <p:nvPicPr>
          <p:cNvPr id="58" name="Image 8" descr="connector">    </p:cNvPr>
          <p:cNvPicPr>
            <a:picLocks noChangeAspect="1"/>
          </p:cNvPicPr>
          <p:nvPr/>
        </p:nvPicPr>
        <p:blipFill>
          <a:blip r:embed="rId9"/>
          <a:srcRect l="-30" r="-30" t="0" b="0"/>
          <a:stretch/>
        </p:blipFill>
        <p:spPr>
          <a:xfrm>
            <a:off x="6120895" y="4277230"/>
            <a:ext cx="203128" cy="76128"/>
          </a:xfrm>
          <a:prstGeom prst="rect">
            <a:avLst/>
          </a:prstGeom>
        </p:spPr>
      </p:pic>
      <p:sp>
        <p:nvSpPr>
          <p:cNvPr id="59" name="Shape 48"/>
          <p:cNvSpPr/>
          <p:nvPr/>
        </p:nvSpPr>
        <p:spPr>
          <a:xfrm>
            <a:off x="6330373" y="3682765"/>
            <a:ext cx="1250896" cy="1265057"/>
          </a:xfrm>
          <a:prstGeom prst="roundRect">
            <a:avLst>
              <a:gd name="adj" fmla="val 6599"/>
            </a:avLst>
          </a:prstGeom>
          <a:solidFill>
            <a:srgbClr val="FCEFE3"/>
          </a:solidFill>
          <a:ln w="12700">
            <a:solidFill>
              <a:srgbClr val="D9822B"/>
            </a:solidFill>
            <a:prstDash val="solid"/>
          </a:ln>
        </p:spPr>
      </p:sp>
      <p:sp>
        <p:nvSpPr>
          <p:cNvPr id="60" name="Text 49"/>
          <p:cNvSpPr/>
          <p:nvPr/>
        </p:nvSpPr>
        <p:spPr>
          <a:xfrm>
            <a:off x="6424414" y="3789525"/>
            <a:ext cx="1113613"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3F0E"/>
                </a:solidFill>
                <a:latin typeface="IBM Plex Sans" pitchFamily="34" charset="0"/>
                <a:ea typeface="IBM Plex Sans" pitchFamily="34" charset="-122"/>
                <a:cs typeface="IBM Plex Sans" pitchFamily="34" charset="-120"/>
              </a:rPr>
              <a:t>05 · You</a:t>
            </a:r>
            <a:endParaRPr lang="en-US" sz="1200" dirty="0"/>
          </a:p>
        </p:txBody>
      </p:sp>
      <p:sp>
        <p:nvSpPr>
          <p:cNvPr id="61" name="Text 50"/>
          <p:cNvSpPr/>
          <p:nvPr/>
        </p:nvSpPr>
        <p:spPr>
          <a:xfrm>
            <a:off x="6424414" y="4040999"/>
            <a:ext cx="1113613"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4213D"/>
                </a:solidFill>
                <a:latin typeface="IBM Plex Sans" pitchFamily="34" charset="0"/>
                <a:ea typeface="IBM Plex Sans" pitchFamily="34" charset="-122"/>
                <a:cs typeface="IBM Plex Sans" pitchFamily="34" charset="-120"/>
              </a:rPr>
              <a:t>Review &amp; approve</a:t>
            </a:r>
            <a:endParaRPr lang="en-US" sz="1200" dirty="0"/>
          </a:p>
        </p:txBody>
      </p:sp>
      <p:sp>
        <p:nvSpPr>
          <p:cNvPr id="62" name="Text 51"/>
          <p:cNvSpPr/>
          <p:nvPr/>
        </p:nvSpPr>
        <p:spPr>
          <a:xfrm>
            <a:off x="6424414" y="4460063"/>
            <a:ext cx="1113613"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Edit cells, accept, reject</a:t>
            </a:r>
            <a:endParaRPr lang="en-US" sz="1200" dirty="0"/>
          </a:p>
        </p:txBody>
      </p:sp>
      <p:pic>
        <p:nvPicPr>
          <p:cNvPr id="63" name="Image 9" descr="connector">    </p:cNvPr>
          <p:cNvPicPr>
            <a:picLocks noChangeAspect="1"/>
          </p:cNvPicPr>
          <p:nvPr/>
        </p:nvPicPr>
        <p:blipFill>
          <a:blip r:embed="rId10"/>
          <a:srcRect l="-30" r="-30" t="0" b="0"/>
          <a:stretch/>
        </p:blipFill>
        <p:spPr>
          <a:xfrm>
            <a:off x="7587618" y="4277230"/>
            <a:ext cx="203128" cy="76128"/>
          </a:xfrm>
          <a:prstGeom prst="rect">
            <a:avLst/>
          </a:prstGeom>
        </p:spPr>
      </p:pic>
      <p:sp>
        <p:nvSpPr>
          <p:cNvPr id="64" name="Shape 52"/>
          <p:cNvSpPr/>
          <p:nvPr/>
        </p:nvSpPr>
        <p:spPr>
          <a:xfrm>
            <a:off x="7797096" y="3682765"/>
            <a:ext cx="1250896" cy="1265057"/>
          </a:xfrm>
          <a:prstGeom prst="roundRect">
            <a:avLst>
              <a:gd name="adj" fmla="val 6599"/>
            </a:avLst>
          </a:prstGeom>
          <a:solidFill>
            <a:srgbClr val="E8F0FE"/>
          </a:solidFill>
          <a:ln w="12700">
            <a:solidFill>
              <a:srgbClr val="2563C9"/>
            </a:solidFill>
            <a:prstDash val="solid"/>
          </a:ln>
        </p:spPr>
      </p:sp>
      <p:sp>
        <p:nvSpPr>
          <p:cNvPr id="65" name="Text 53"/>
          <p:cNvSpPr/>
          <p:nvPr/>
        </p:nvSpPr>
        <p:spPr>
          <a:xfrm>
            <a:off x="7891138" y="3789525"/>
            <a:ext cx="1113613"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IBM Plex Sans" pitchFamily="34" charset="0"/>
                <a:ea typeface="IBM Plex Sans" pitchFamily="34" charset="-122"/>
                <a:cs typeface="IBM Plex Sans" pitchFamily="34" charset="-120"/>
              </a:rPr>
              <a:t>06 · Agent</a:t>
            </a:r>
            <a:endParaRPr lang="en-US" sz="1200" dirty="0"/>
          </a:p>
        </p:txBody>
      </p:sp>
      <p:sp>
        <p:nvSpPr>
          <p:cNvPr id="66" name="Text 54"/>
          <p:cNvSpPr/>
          <p:nvPr/>
        </p:nvSpPr>
        <p:spPr>
          <a:xfrm>
            <a:off x="7891138" y="4040999"/>
            <a:ext cx="1113613"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4213D"/>
                </a:solidFill>
                <a:latin typeface="IBM Plex Sans" pitchFamily="34" charset="0"/>
                <a:ea typeface="IBM Plex Sans" pitchFamily="34" charset="-122"/>
                <a:cs typeface="IBM Plex Sans" pitchFamily="34" charset="-120"/>
              </a:rPr>
              <a:t>Publish</a:t>
            </a:r>
            <a:endParaRPr lang="en-US" sz="1200" dirty="0"/>
          </a:p>
        </p:txBody>
      </p:sp>
      <p:sp>
        <p:nvSpPr>
          <p:cNvPr id="67" name="Text 55"/>
          <p:cNvSpPr/>
          <p:nvPr/>
        </p:nvSpPr>
        <p:spPr>
          <a:xfrm>
            <a:off x="7891138" y="4269563"/>
            <a:ext cx="1113613"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To [Data Catalogue]</a:t>
            </a:r>
            <a:endParaRPr lang="en-US" sz="1200" dirty="0"/>
          </a:p>
        </p:txBody>
      </p:sp>
      <p:pic>
        <p:nvPicPr>
          <p:cNvPr id="68" name="Image 10" descr="Feedback loop from validation and human review back to the mapping draft">    </p:cNvPr>
          <p:cNvPicPr>
            <a:picLocks noChangeAspect="1"/>
          </p:cNvPicPr>
          <p:nvPr/>
        </p:nvPicPr>
        <p:blipFill>
          <a:blip r:embed="rId11"/>
          <a:srcRect l="-254" r="-254" t="0" b="0"/>
          <a:stretch/>
        </p:blipFill>
        <p:spPr>
          <a:xfrm>
            <a:off x="457128" y="4954172"/>
            <a:ext cx="8610564" cy="355564"/>
          </a:xfrm>
          <a:prstGeom prst="rect">
            <a:avLst/>
          </a:prstGeom>
        </p:spPr>
      </p:pic>
      <p:sp>
        <p:nvSpPr>
          <p:cNvPr id="69" name="Text 56"/>
          <p:cNvSpPr/>
          <p:nvPr/>
        </p:nvSpPr>
        <p:spPr>
          <a:xfrm>
            <a:off x="457128" y="5309736"/>
            <a:ext cx="886888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3F0E"/>
                </a:solidFill>
                <a:latin typeface="IBM Plex Sans" pitchFamily="34" charset="0"/>
                <a:ea typeface="IBM Plex Sans" pitchFamily="34" charset="-122"/>
                <a:cs typeface="IBM Plex Sans" pitchFamily="34" charset="-120"/>
              </a:rPr>
              <a:t>↺ Reviewer findings and your edits loop back until you approve</a:t>
            </a:r>
            <a:endParaRPr lang="en-US" sz="1200" dirty="0"/>
          </a:p>
        </p:txBody>
      </p:sp>
      <p:sp>
        <p:nvSpPr>
          <p:cNvPr id="70" name="Shape 57"/>
          <p:cNvSpPr/>
          <p:nvPr/>
        </p:nvSpPr>
        <p:spPr>
          <a:xfrm>
            <a:off x="463478" y="5648830"/>
            <a:ext cx="139646" cy="139646"/>
          </a:xfrm>
          <a:prstGeom prst="roundRect">
            <a:avLst>
              <a:gd name="adj" fmla="val 22736"/>
            </a:avLst>
          </a:prstGeom>
          <a:solidFill>
            <a:srgbClr val="FCEFE3"/>
          </a:solidFill>
          <a:ln w="12700">
            <a:solidFill>
              <a:srgbClr val="D9822B"/>
            </a:solidFill>
            <a:prstDash val="solid"/>
          </a:ln>
        </p:spPr>
      </p:sp>
      <p:sp>
        <p:nvSpPr>
          <p:cNvPr id="71" name="Text 58"/>
          <p:cNvSpPr/>
          <p:nvPr/>
        </p:nvSpPr>
        <p:spPr>
          <a:xfrm>
            <a:off x="698320" y="5611992"/>
            <a:ext cx="220879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Human-in-the-loop checkpoint</a:t>
            </a:r>
            <a:endParaRPr lang="en-US" sz="1200" dirty="0"/>
          </a:p>
        </p:txBody>
      </p:sp>
      <p:sp>
        <p:nvSpPr>
          <p:cNvPr id="72" name="Shape 59"/>
          <p:cNvSpPr/>
          <p:nvPr/>
        </p:nvSpPr>
        <p:spPr>
          <a:xfrm>
            <a:off x="2913459" y="5648830"/>
            <a:ext cx="139646" cy="139646"/>
          </a:xfrm>
          <a:prstGeom prst="roundRect">
            <a:avLst>
              <a:gd name="adj" fmla="val 22736"/>
            </a:avLst>
          </a:prstGeom>
          <a:solidFill>
            <a:srgbClr val="FFFFFF"/>
          </a:solidFill>
          <a:ln w="12700">
            <a:solidFill>
              <a:srgbClr val="BFD0EE"/>
            </a:solidFill>
            <a:prstDash val="solid"/>
          </a:ln>
        </p:spPr>
      </p:sp>
      <p:sp>
        <p:nvSpPr>
          <p:cNvPr id="73" name="Text 60"/>
          <p:cNvSpPr/>
          <p:nvPr/>
        </p:nvSpPr>
        <p:spPr>
          <a:xfrm>
            <a:off x="3148301" y="5611992"/>
            <a:ext cx="882037"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Agent step</a:t>
            </a:r>
            <a:endParaRPr lang="en-US" sz="1200" dirty="0"/>
          </a:p>
        </p:txBody>
      </p:sp>
      <p:sp>
        <p:nvSpPr>
          <p:cNvPr id="74" name="Shape 61"/>
          <p:cNvSpPr/>
          <p:nvPr/>
        </p:nvSpPr>
        <p:spPr>
          <a:xfrm>
            <a:off x="9324866" y="1151226"/>
            <a:ext cx="2406830" cy="5348035"/>
          </a:xfrm>
          <a:prstGeom prst="roundRect">
            <a:avLst>
              <a:gd name="adj" fmla="val 5145"/>
            </a:avLst>
          </a:prstGeom>
          <a:solidFill>
            <a:srgbClr val="EEF3FD"/>
          </a:solidFill>
          <a:ln w="6350">
            <a:solidFill>
              <a:srgbClr val="C9D7F2"/>
            </a:solidFill>
            <a:prstDash val="solid"/>
          </a:ln>
        </p:spPr>
      </p:sp>
      <p:sp>
        <p:nvSpPr>
          <p:cNvPr id="75" name="Text 62"/>
          <p:cNvSpPr/>
          <p:nvPr/>
        </p:nvSpPr>
        <p:spPr>
          <a:xfrm>
            <a:off x="9530592" y="1356951"/>
            <a:ext cx="2055241" cy="29960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Impact</a:t>
            </a:r>
            <a:endParaRPr lang="en-US" sz="1800" dirty="0"/>
          </a:p>
        </p:txBody>
      </p:sp>
      <p:sp>
        <p:nvSpPr>
          <p:cNvPr id="76" name="Text 63"/>
          <p:cNvSpPr/>
          <p:nvPr/>
        </p:nvSpPr>
        <p:spPr>
          <a:xfrm>
            <a:off x="9530592" y="1656502"/>
            <a:ext cx="2055241"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Manual → agent-assisted</a:t>
            </a:r>
            <a:endParaRPr lang="en-US" sz="1200" dirty="0"/>
          </a:p>
        </p:txBody>
      </p:sp>
      <p:sp>
        <p:nvSpPr>
          <p:cNvPr id="77" name="Shape 64"/>
          <p:cNvSpPr/>
          <p:nvPr/>
        </p:nvSpPr>
        <p:spPr>
          <a:xfrm>
            <a:off x="9530592" y="2012715"/>
            <a:ext cx="1995379" cy="0"/>
          </a:xfrm>
          <a:prstGeom prst="line">
            <a:avLst/>
          </a:prstGeom>
          <a:noFill/>
          <a:ln w="6350">
            <a:solidFill>
              <a:srgbClr val="C9D7F2"/>
            </a:solidFill>
            <a:prstDash val="solid"/>
          </a:ln>
        </p:spPr>
      </p:sp>
      <p:sp>
        <p:nvSpPr>
          <p:cNvPr id="78" name="Text 65"/>
          <p:cNvSpPr/>
          <p:nvPr/>
        </p:nvSpPr>
        <p:spPr>
          <a:xfrm>
            <a:off x="9530592" y="2129595"/>
            <a:ext cx="2055241"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Cycle time (days)</a:t>
            </a:r>
            <a:endParaRPr lang="en-US" sz="1200" dirty="0"/>
          </a:p>
        </p:txBody>
      </p:sp>
      <p:sp>
        <p:nvSpPr>
          <p:cNvPr id="79" name="Text 66"/>
          <p:cNvSpPr/>
          <p:nvPr/>
        </p:nvSpPr>
        <p:spPr>
          <a:xfrm>
            <a:off x="9530592" y="2368352"/>
            <a:ext cx="2055241" cy="41659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IBM Plex Sans" pitchFamily="34" charset="0"/>
                <a:ea typeface="IBM Plex Sans" pitchFamily="34" charset="-122"/>
                <a:cs typeface="IBM Plex Sans" pitchFamily="34" charset="-120"/>
              </a:rPr>
              <a:t>[__] → [__]</a:t>
            </a:r>
            <a:endParaRPr lang="en-US" sz="2200" dirty="0"/>
          </a:p>
        </p:txBody>
      </p:sp>
      <p:sp>
        <p:nvSpPr>
          <p:cNvPr id="80" name="Shape 67"/>
          <p:cNvSpPr/>
          <p:nvPr/>
        </p:nvSpPr>
        <p:spPr>
          <a:xfrm>
            <a:off x="9530592" y="2902347"/>
            <a:ext cx="1995379" cy="0"/>
          </a:xfrm>
          <a:prstGeom prst="line">
            <a:avLst/>
          </a:prstGeom>
          <a:noFill/>
          <a:ln w="6350">
            <a:solidFill>
              <a:srgbClr val="C9D7F2"/>
            </a:solidFill>
            <a:prstDash val="solid"/>
          </a:ln>
        </p:spPr>
      </p:sp>
      <p:sp>
        <p:nvSpPr>
          <p:cNvPr id="81" name="Text 68"/>
          <p:cNvSpPr/>
          <p:nvPr/>
        </p:nvSpPr>
        <p:spPr>
          <a:xfrm>
            <a:off x="9530592" y="3019227"/>
            <a:ext cx="2055241"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Effort (hours)</a:t>
            </a:r>
            <a:endParaRPr lang="en-US" sz="1200" dirty="0"/>
          </a:p>
        </p:txBody>
      </p:sp>
      <p:sp>
        <p:nvSpPr>
          <p:cNvPr id="82" name="Text 69"/>
          <p:cNvSpPr/>
          <p:nvPr/>
        </p:nvSpPr>
        <p:spPr>
          <a:xfrm>
            <a:off x="9530592" y="3257983"/>
            <a:ext cx="2055241" cy="41659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IBM Plex Sans" pitchFamily="34" charset="0"/>
                <a:ea typeface="IBM Plex Sans" pitchFamily="34" charset="-122"/>
                <a:cs typeface="IBM Plex Sans" pitchFamily="34" charset="-120"/>
              </a:rPr>
              <a:t>[__] → [__]</a:t>
            </a:r>
            <a:endParaRPr lang="en-US" sz="2200" dirty="0"/>
          </a:p>
        </p:txBody>
      </p:sp>
      <p:sp>
        <p:nvSpPr>
          <p:cNvPr id="83" name="Shape 70"/>
          <p:cNvSpPr/>
          <p:nvPr/>
        </p:nvSpPr>
        <p:spPr>
          <a:xfrm>
            <a:off x="9530592" y="3791978"/>
            <a:ext cx="1995379" cy="0"/>
          </a:xfrm>
          <a:prstGeom prst="line">
            <a:avLst/>
          </a:prstGeom>
          <a:noFill/>
          <a:ln w="6350">
            <a:solidFill>
              <a:srgbClr val="C9D7F2"/>
            </a:solidFill>
            <a:prstDash val="solid"/>
          </a:ln>
        </p:spPr>
      </p:sp>
      <p:sp>
        <p:nvSpPr>
          <p:cNvPr id="84" name="Text 71"/>
          <p:cNvSpPr/>
          <p:nvPr/>
        </p:nvSpPr>
        <p:spPr>
          <a:xfrm>
            <a:off x="9530592" y="3908858"/>
            <a:ext cx="2055241"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First-pass accuracy</a:t>
            </a:r>
            <a:endParaRPr lang="en-US" sz="1200" dirty="0"/>
          </a:p>
        </p:txBody>
      </p:sp>
      <p:sp>
        <p:nvSpPr>
          <p:cNvPr id="85" name="Text 72"/>
          <p:cNvSpPr/>
          <p:nvPr/>
        </p:nvSpPr>
        <p:spPr>
          <a:xfrm>
            <a:off x="9530592" y="4147614"/>
            <a:ext cx="2055241" cy="41659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IBM Plex Sans" pitchFamily="34" charset="0"/>
                <a:ea typeface="IBM Plex Sans" pitchFamily="34" charset="-122"/>
                <a:cs typeface="IBM Plex Sans" pitchFamily="34" charset="-120"/>
              </a:rPr>
              <a:t>[__%]</a:t>
            </a:r>
            <a:endParaRPr lang="en-US" sz="2200" dirty="0"/>
          </a:p>
        </p:txBody>
      </p:sp>
      <p:sp>
        <p:nvSpPr>
          <p:cNvPr id="86" name="Shape 73"/>
          <p:cNvSpPr/>
          <p:nvPr/>
        </p:nvSpPr>
        <p:spPr>
          <a:xfrm>
            <a:off x="9530592" y="4681610"/>
            <a:ext cx="1995379" cy="0"/>
          </a:xfrm>
          <a:prstGeom prst="line">
            <a:avLst/>
          </a:prstGeom>
          <a:noFill/>
          <a:ln w="6350">
            <a:solidFill>
              <a:srgbClr val="C9D7F2"/>
            </a:solidFill>
            <a:prstDash val="solid"/>
          </a:ln>
        </p:spPr>
      </p:sp>
      <p:sp>
        <p:nvSpPr>
          <p:cNvPr id="87" name="Text 74"/>
          <p:cNvSpPr/>
          <p:nvPr/>
        </p:nvSpPr>
        <p:spPr>
          <a:xfrm>
            <a:off x="9530592" y="4798489"/>
            <a:ext cx="2055241"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Products / quarter</a:t>
            </a:r>
            <a:endParaRPr lang="en-US" sz="1200" dirty="0"/>
          </a:p>
        </p:txBody>
      </p:sp>
      <p:sp>
        <p:nvSpPr>
          <p:cNvPr id="88" name="Text 75"/>
          <p:cNvSpPr/>
          <p:nvPr/>
        </p:nvSpPr>
        <p:spPr>
          <a:xfrm>
            <a:off x="9530592" y="5037245"/>
            <a:ext cx="2055241" cy="41659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IBM Plex Sans" pitchFamily="34" charset="0"/>
                <a:ea typeface="IBM Plex Sans" pitchFamily="34" charset="-122"/>
                <a:cs typeface="IBM Plex Sans" pitchFamily="34" charset="-120"/>
              </a:rPr>
              <a:t>[__] → [__]</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128" y="426641"/>
            <a:ext cx="4932651" cy="2388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563C9"/>
                </a:solidFill>
                <a:latin typeface="IBM Plex Sans" pitchFamily="34" charset="0"/>
                <a:ea typeface="IBM Plex Sans" pitchFamily="34" charset="-122"/>
                <a:cs typeface="IBM Plex Sans" pitchFamily="34" charset="-120"/>
              </a:rPr>
              <a:t>REFERENCE ARCHITECTURE · ALTERNATIVE VIEW</a:t>
            </a:r>
            <a:endParaRPr lang="en-US" sz="1200" dirty="0"/>
          </a:p>
        </p:txBody>
      </p:sp>
      <p:sp>
        <p:nvSpPr>
          <p:cNvPr id="3" name="Text 1"/>
          <p:cNvSpPr/>
          <p:nvPr>
            <p:ph type="title"/>
          </p:nvPr>
        </p:nvSpPr>
        <p:spPr>
          <a:xfrm>
            <a:off x="457128" y="678115"/>
            <a:ext cx="4233859" cy="388631"/>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14213D"/>
                </a:solidFill>
                <a:latin typeface="IBM Plex Sans" pitchFamily="34" charset="0"/>
                <a:ea typeface="IBM Plex Sans" pitchFamily="34" charset="-122"/>
                <a:cs typeface="IBM Plex Sans" pitchFamily="34" charset="-120"/>
              </a:rPr>
              <a:t>Layered runtime view</a:t>
            </a:r>
            <a:endParaRPr lang="en-US" sz="2600" dirty="0"/>
          </a:p>
        </p:txBody>
      </p:sp>
      <p:pic>
        <p:nvPicPr>
          <p:cNvPr id="4" name="Image 0" descr="Solid line">    </p:cNvPr>
          <p:cNvPicPr>
            <a:picLocks noChangeAspect="1"/>
          </p:cNvPicPr>
          <p:nvPr/>
        </p:nvPicPr>
        <p:blipFill>
          <a:blip r:embed="rId1"/>
          <a:srcRect l="-15" r="-15" t="0" b="0"/>
          <a:stretch/>
        </p:blipFill>
        <p:spPr>
          <a:xfrm>
            <a:off x="7646789" y="629858"/>
            <a:ext cx="304782" cy="50782"/>
          </a:xfrm>
          <a:prstGeom prst="rect">
            <a:avLst/>
          </a:prstGeom>
        </p:spPr>
      </p:pic>
      <p:sp>
        <p:nvSpPr>
          <p:cNvPr id="5" name="Text 2"/>
          <p:cNvSpPr/>
          <p:nvPr/>
        </p:nvSpPr>
        <p:spPr>
          <a:xfrm>
            <a:off x="8015070" y="548588"/>
            <a:ext cx="1298521" cy="23881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Control / tool calls</a:t>
            </a:r>
            <a:endParaRPr lang="en-US" sz="1200" dirty="0"/>
          </a:p>
        </p:txBody>
      </p:sp>
      <p:pic>
        <p:nvPicPr>
          <p:cNvPr id="6" name="Image 1" descr="Dashed blue line">    </p:cNvPr>
          <p:cNvPicPr>
            <a:picLocks noChangeAspect="1"/>
          </p:cNvPicPr>
          <p:nvPr/>
        </p:nvPicPr>
        <p:blipFill>
          <a:blip r:embed="rId2"/>
          <a:srcRect l="-15" r="-15" t="0" b="0"/>
          <a:stretch/>
        </p:blipFill>
        <p:spPr>
          <a:xfrm>
            <a:off x="9478638" y="629858"/>
            <a:ext cx="304782" cy="50782"/>
          </a:xfrm>
          <a:prstGeom prst="rect">
            <a:avLst/>
          </a:prstGeom>
        </p:spPr>
      </p:pic>
      <p:sp>
        <p:nvSpPr>
          <p:cNvPr id="7" name="Text 3"/>
          <p:cNvSpPr/>
          <p:nvPr/>
        </p:nvSpPr>
        <p:spPr>
          <a:xfrm>
            <a:off x="9846919" y="548588"/>
            <a:ext cx="1228617" cy="23881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Context &amp; results</a:t>
            </a:r>
            <a:endParaRPr lang="en-US" sz="1200" dirty="0"/>
          </a:p>
        </p:txBody>
      </p:sp>
      <p:pic>
        <p:nvPicPr>
          <p:cNvPr id="8" name="Image 2" descr="Dashed orange line">    </p:cNvPr>
          <p:cNvPicPr>
            <a:picLocks noChangeAspect="1"/>
          </p:cNvPicPr>
          <p:nvPr/>
        </p:nvPicPr>
        <p:blipFill>
          <a:blip r:embed="rId3"/>
          <a:srcRect l="-15" r="-15" t="0" b="0"/>
          <a:stretch/>
        </p:blipFill>
        <p:spPr>
          <a:xfrm>
            <a:off x="7646789" y="901627"/>
            <a:ext cx="304782" cy="50782"/>
          </a:xfrm>
          <a:prstGeom prst="rect">
            <a:avLst/>
          </a:prstGeom>
        </p:spPr>
      </p:pic>
      <p:sp>
        <p:nvSpPr>
          <p:cNvPr id="9" name="Text 4"/>
          <p:cNvSpPr/>
          <p:nvPr/>
        </p:nvSpPr>
        <p:spPr>
          <a:xfrm>
            <a:off x="8015070" y="820358"/>
            <a:ext cx="1549815" cy="23881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Human feedback loop</a:t>
            </a:r>
            <a:endParaRPr lang="en-US" sz="1200" dirty="0"/>
          </a:p>
        </p:txBody>
      </p:sp>
      <p:sp>
        <p:nvSpPr>
          <p:cNvPr id="10" name="Text 5"/>
          <p:cNvSpPr/>
          <p:nvPr/>
        </p:nvSpPr>
        <p:spPr>
          <a:xfrm>
            <a:off x="9729932" y="812781"/>
            <a:ext cx="424837" cy="228564"/>
          </a:xfrm>
          <a:custGeom>
            <a:avLst/>
            <a:gdLst/>
            <a:ahLst/>
            <a:cxnLst/>
            <a:rect l="l" t="t" r="r" b="b"/>
            <a:pathLst>
              <a:path w="424837" h="228564">
                <a:moveTo>
                  <a:pt x="114282" y="0"/>
                </a:moveTo>
                <a:lnTo>
                  <a:pt x="310555" y="0"/>
                </a:lnTo>
                <a:arcTo hR="114282" wR="114282" stAng="16200000" swAng="5400000"/>
                <a:lnTo>
                  <a:pt x="424837" y="114282"/>
                </a:lnTo>
                <a:arcTo hR="114282" wR="114282" stAng="0" swAng="5400000"/>
                <a:lnTo>
                  <a:pt x="114282" y="228564"/>
                </a:lnTo>
                <a:arcTo hR="114282" wR="114282" stAng="5400000" swAng="5400000"/>
                <a:lnTo>
                  <a:pt x="0" y="114282"/>
                </a:lnTo>
                <a:arcTo hR="114282" wR="114282" stAng="10800000" swAng="5400000"/>
                <a:close/>
              </a:path>
            </a:pathLst>
          </a:custGeom>
          <a:solidFill>
            <a:srgbClr val="2563C9"/>
          </a:solidFill>
          <a:ln/>
        </p:spPr>
        <p:txBody>
          <a:bodyPr wrap="none" lIns="0" tIns="0" rIns="0" bIns="0" rtlCol="0" anchor="ctr">
            <a:normAutofit/>
          </a:bodyPr>
          <a:lstStyle/>
          <a:p>
            <a:pPr algn="ctr" indent="0" marL="0">
              <a:lnSpc>
                <a:spcPts val="1800"/>
              </a:lnSpc>
              <a:buNone/>
            </a:pPr>
            <a:r>
              <a:rPr lang="en-US" sz="1200" b="1" dirty="0">
                <a:solidFill>
                  <a:srgbClr val="FFFFFF"/>
                </a:solidFill>
                <a:latin typeface="IBM Plex Sans" pitchFamily="34" charset="0"/>
                <a:ea typeface="IBM Plex Sans" pitchFamily="34" charset="-122"/>
                <a:cs typeface="IBM Plex Sans" pitchFamily="34" charset="-120"/>
              </a:rPr>
              <a:t>1–6</a:t>
            </a:r>
            <a:endParaRPr lang="en-US" sz="1200" dirty="0"/>
          </a:p>
        </p:txBody>
      </p:sp>
      <p:sp>
        <p:nvSpPr>
          <p:cNvPr id="11" name="Text 6"/>
          <p:cNvSpPr/>
          <p:nvPr/>
        </p:nvSpPr>
        <p:spPr>
          <a:xfrm>
            <a:off x="10218268" y="820358"/>
            <a:ext cx="1567223" cy="23881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Request path, in order</a:t>
            </a:r>
            <a:endParaRPr lang="en-US" sz="1200" dirty="0"/>
          </a:p>
        </p:txBody>
      </p:sp>
      <p:sp>
        <p:nvSpPr>
          <p:cNvPr id="12" name="Shape 7"/>
          <p:cNvSpPr/>
          <p:nvPr/>
        </p:nvSpPr>
        <p:spPr>
          <a:xfrm>
            <a:off x="460303" y="1196956"/>
            <a:ext cx="11271214" cy="806432"/>
          </a:xfrm>
          <a:prstGeom prst="roundRect">
            <a:avLst>
              <a:gd name="adj" fmla="val 12205"/>
            </a:avLst>
          </a:prstGeom>
          <a:solidFill>
            <a:srgbClr val="F3F7FD"/>
          </a:solidFill>
          <a:ln w="6350">
            <a:solidFill>
              <a:srgbClr val="D2DEF2"/>
            </a:solidFill>
            <a:prstDash val="solid"/>
          </a:ln>
        </p:spPr>
      </p:sp>
      <p:sp>
        <p:nvSpPr>
          <p:cNvPr id="13" name="Text 8"/>
          <p:cNvSpPr/>
          <p:nvPr/>
        </p:nvSpPr>
        <p:spPr>
          <a:xfrm>
            <a:off x="615246" y="1380403"/>
            <a:ext cx="1574800" cy="23881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563C9"/>
                </a:solidFill>
                <a:latin typeface="IBM Plex Sans" pitchFamily="34" charset="0"/>
                <a:ea typeface="IBM Plex Sans" pitchFamily="34" charset="-122"/>
                <a:cs typeface="IBM Plex Sans" pitchFamily="34" charset="-120"/>
              </a:rPr>
              <a:t>EXPERIENCE</a:t>
            </a:r>
            <a:endParaRPr lang="en-US" sz="1200" dirty="0"/>
          </a:p>
        </p:txBody>
      </p:sp>
      <p:sp>
        <p:nvSpPr>
          <p:cNvPr id="14" name="Text 9"/>
          <p:cNvSpPr/>
          <p:nvPr/>
        </p:nvSpPr>
        <p:spPr>
          <a:xfrm>
            <a:off x="615246" y="1606441"/>
            <a:ext cx="157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Where users work</a:t>
            </a:r>
            <a:endParaRPr lang="en-US" sz="1200" dirty="0"/>
          </a:p>
        </p:txBody>
      </p:sp>
      <p:sp>
        <p:nvSpPr>
          <p:cNvPr id="15" name="Shape 10"/>
          <p:cNvSpPr/>
          <p:nvPr/>
        </p:nvSpPr>
        <p:spPr>
          <a:xfrm>
            <a:off x="2294767" y="1329730"/>
            <a:ext cx="4559967" cy="540887"/>
          </a:xfrm>
          <a:prstGeom prst="roundRect">
            <a:avLst>
              <a:gd name="adj" fmla="val 13501"/>
            </a:avLst>
          </a:prstGeom>
          <a:solidFill>
            <a:srgbClr val="FFFFFF"/>
          </a:solidFill>
          <a:ln w="6350">
            <a:solidFill>
              <a:srgbClr val="DADCE0"/>
            </a:solidFill>
            <a:prstDash val="solid"/>
          </a:ln>
        </p:spPr>
      </p:sp>
      <p:sp>
        <p:nvSpPr>
          <p:cNvPr id="16" name="Text 11"/>
          <p:cNvSpPr/>
          <p:nvPr/>
        </p:nvSpPr>
        <p:spPr>
          <a:xfrm>
            <a:off x="2411647" y="1379862"/>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2563C9"/>
          </a:solidFill>
          <a:ln/>
        </p:spPr>
        <p:txBody>
          <a:bodyPr wrap="square" lIns="0" tIns="0" rIns="0" bIns="0" rtlCol="0" anchor="t">
            <a:normAutofit/>
          </a:bodyPr>
          <a:lstStyle/>
          <a:p>
            <a:pPr algn="ctr" indent="0" marL="0">
              <a:lnSpc>
                <a:spcPts val="2004"/>
              </a:lnSpc>
              <a:buNone/>
            </a:pPr>
            <a:r>
              <a:rPr lang="en-US" sz="1200" b="1" dirty="0">
                <a:solidFill>
                  <a:srgbClr val="FFFFFF"/>
                </a:solidFill>
                <a:latin typeface="IBM Plex Sans" pitchFamily="34" charset="0"/>
                <a:ea typeface="IBM Plex Sans" pitchFamily="34" charset="-122"/>
                <a:cs typeface="IBM Plex Sans" pitchFamily="34" charset="-120"/>
              </a:rPr>
              <a:t>1</a:t>
            </a:r>
            <a:endParaRPr lang="en-US" sz="1200" dirty="0"/>
          </a:p>
        </p:txBody>
      </p:sp>
      <p:sp>
        <p:nvSpPr>
          <p:cNvPr id="17" name="Text 12"/>
          <p:cNvSpPr/>
          <p:nvPr/>
        </p:nvSpPr>
        <p:spPr>
          <a:xfrm>
            <a:off x="2729147" y="1400156"/>
            <a:ext cx="46066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Chat</a:t>
            </a:r>
            <a:endParaRPr lang="en-US" sz="1400" dirty="0"/>
          </a:p>
        </p:txBody>
      </p:sp>
      <p:sp>
        <p:nvSpPr>
          <p:cNvPr id="18" name="Text 13"/>
          <p:cNvSpPr/>
          <p:nvPr/>
        </p:nvSpPr>
        <p:spPr>
          <a:xfrm>
            <a:off x="2411647" y="1617897"/>
            <a:ext cx="4455994" cy="212021"/>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4A5568"/>
                </a:solidFill>
                <a:latin typeface="IBM Plex Sans" pitchFamily="34" charset="0"/>
                <a:ea typeface="IBM Plex Sans" pitchFamily="34" charset="-122"/>
                <a:cs typeface="IBM Plex Sans" pitchFamily="34" charset="-120"/>
              </a:rPr>
              <a:t>Curator states intent, attaches docs, steers</a:t>
            </a:r>
            <a:endParaRPr lang="en-US" sz="1050" dirty="0"/>
          </a:p>
        </p:txBody>
      </p:sp>
      <p:sp>
        <p:nvSpPr>
          <p:cNvPr id="19" name="Shape 14"/>
          <p:cNvSpPr/>
          <p:nvPr/>
        </p:nvSpPr>
        <p:spPr>
          <a:xfrm>
            <a:off x="7013430" y="1329730"/>
            <a:ext cx="4559967" cy="540887"/>
          </a:xfrm>
          <a:prstGeom prst="roundRect">
            <a:avLst>
              <a:gd name="adj" fmla="val 13501"/>
            </a:avLst>
          </a:prstGeom>
          <a:solidFill>
            <a:srgbClr val="FFFFFF"/>
          </a:solidFill>
          <a:ln w="6350">
            <a:solidFill>
              <a:srgbClr val="DADCE0"/>
            </a:solidFill>
            <a:prstDash val="solid"/>
          </a:ln>
        </p:spPr>
      </p:sp>
      <p:sp>
        <p:nvSpPr>
          <p:cNvPr id="20" name="Text 15"/>
          <p:cNvSpPr/>
          <p:nvPr/>
        </p:nvSpPr>
        <p:spPr>
          <a:xfrm>
            <a:off x="7130310" y="1379862"/>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2563C9"/>
          </a:solidFill>
          <a:ln/>
        </p:spPr>
        <p:txBody>
          <a:bodyPr wrap="square" lIns="0" tIns="0" rIns="0" bIns="0" rtlCol="0" anchor="t">
            <a:normAutofit/>
          </a:bodyPr>
          <a:lstStyle/>
          <a:p>
            <a:pPr algn="ctr" indent="0" marL="0">
              <a:lnSpc>
                <a:spcPts val="2004"/>
              </a:lnSpc>
              <a:buNone/>
            </a:pPr>
            <a:r>
              <a:rPr lang="en-US" sz="1200" b="1" dirty="0">
                <a:solidFill>
                  <a:srgbClr val="FFFFFF"/>
                </a:solidFill>
                <a:latin typeface="IBM Plex Sans" pitchFamily="34" charset="0"/>
                <a:ea typeface="IBM Plex Sans" pitchFamily="34" charset="-122"/>
                <a:cs typeface="IBM Plex Sans" pitchFamily="34" charset="-120"/>
              </a:rPr>
              <a:t>3</a:t>
            </a:r>
            <a:endParaRPr lang="en-US" sz="1200" dirty="0"/>
          </a:p>
        </p:txBody>
      </p:sp>
      <p:sp>
        <p:nvSpPr>
          <p:cNvPr id="21" name="Text 16"/>
          <p:cNvSpPr/>
          <p:nvPr/>
        </p:nvSpPr>
        <p:spPr>
          <a:xfrm>
            <a:off x="7447810" y="1400156"/>
            <a:ext cx="165345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Canvas · AG Grid</a:t>
            </a:r>
            <a:endParaRPr lang="en-US" sz="1400" dirty="0"/>
          </a:p>
        </p:txBody>
      </p:sp>
      <p:sp>
        <p:nvSpPr>
          <p:cNvPr id="22" name="Text 17"/>
          <p:cNvSpPr/>
          <p:nvPr/>
        </p:nvSpPr>
        <p:spPr>
          <a:xfrm>
            <a:off x="7130310" y="1617897"/>
            <a:ext cx="4455994" cy="212021"/>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4A5568"/>
                </a:solidFill>
                <a:latin typeface="IBM Plex Sans" pitchFamily="34" charset="0"/>
                <a:ea typeface="IBM Plex Sans" pitchFamily="34" charset="-122"/>
                <a:cs typeface="IBM Plex Sans" pitchFamily="34" charset="-120"/>
              </a:rPr>
              <a:t>Draft mapping shown live</a:t>
            </a:r>
            <a:endParaRPr lang="en-US" sz="1050" dirty="0"/>
          </a:p>
        </p:txBody>
      </p:sp>
      <p:sp>
        <p:nvSpPr>
          <p:cNvPr id="23" name="Shape 18"/>
          <p:cNvSpPr/>
          <p:nvPr/>
        </p:nvSpPr>
        <p:spPr>
          <a:xfrm>
            <a:off x="460303" y="2238302"/>
            <a:ext cx="11271214" cy="2228778"/>
          </a:xfrm>
          <a:prstGeom prst="roundRect">
            <a:avLst>
              <a:gd name="adj" fmla="val 4416"/>
            </a:avLst>
          </a:prstGeom>
          <a:solidFill>
            <a:srgbClr val="EEF3FD"/>
          </a:solidFill>
          <a:ln w="6350">
            <a:solidFill>
              <a:srgbClr val="C9D7F2"/>
            </a:solidFill>
            <a:prstDash val="solid"/>
          </a:ln>
        </p:spPr>
      </p:sp>
      <p:sp>
        <p:nvSpPr>
          <p:cNvPr id="24" name="Text 19"/>
          <p:cNvSpPr/>
          <p:nvPr/>
        </p:nvSpPr>
        <p:spPr>
          <a:xfrm>
            <a:off x="615246" y="2906928"/>
            <a:ext cx="1574800" cy="23881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563C9"/>
                </a:solidFill>
                <a:latin typeface="IBM Plex Sans" pitchFamily="34" charset="0"/>
                <a:ea typeface="IBM Plex Sans" pitchFamily="34" charset="-122"/>
                <a:cs typeface="IBM Plex Sans" pitchFamily="34" charset="-120"/>
              </a:rPr>
              <a:t>CONTROL PLANE</a:t>
            </a:r>
            <a:endParaRPr lang="en-US" sz="1200" dirty="0"/>
          </a:p>
        </p:txBody>
      </p:sp>
      <p:sp>
        <p:nvSpPr>
          <p:cNvPr id="25" name="Text 20"/>
          <p:cNvSpPr/>
          <p:nvPr/>
        </p:nvSpPr>
        <p:spPr>
          <a:xfrm>
            <a:off x="615246" y="3132967"/>
            <a:ext cx="157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Harness</a:t>
            </a:r>
            <a:endParaRPr lang="en-US" sz="1200" dirty="0"/>
          </a:p>
        </p:txBody>
      </p:sp>
      <p:sp>
        <p:nvSpPr>
          <p:cNvPr id="26" name="Text 21"/>
          <p:cNvSpPr/>
          <p:nvPr/>
        </p:nvSpPr>
        <p:spPr>
          <a:xfrm>
            <a:off x="615246" y="3359006"/>
            <a:ext cx="157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OpenAI Agents SDK</a:t>
            </a:r>
            <a:endParaRPr lang="en-US" sz="1200" dirty="0"/>
          </a:p>
        </p:txBody>
      </p:sp>
      <p:sp>
        <p:nvSpPr>
          <p:cNvPr id="27" name="Text 22"/>
          <p:cNvSpPr/>
          <p:nvPr/>
        </p:nvSpPr>
        <p:spPr>
          <a:xfrm>
            <a:off x="615246" y="3585043"/>
            <a:ext cx="157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[Model]</a:t>
            </a:r>
            <a:endParaRPr lang="en-US" sz="1200" dirty="0"/>
          </a:p>
        </p:txBody>
      </p:sp>
      <p:pic>
        <p:nvPicPr>
          <p:cNvPr id="28" name="Image 3" descr="Agent loop: plan, act, observe, review, repeating clockwise">    </p:cNvPr>
          <p:cNvPicPr>
            <a:picLocks noChangeAspect="1"/>
          </p:cNvPicPr>
          <p:nvPr/>
        </p:nvPicPr>
        <p:blipFill>
          <a:blip r:embed="rId4"/>
          <a:srcRect l="-1" r="-1" t="0" b="0"/>
          <a:stretch/>
        </p:blipFill>
        <p:spPr>
          <a:xfrm>
            <a:off x="2291592" y="2393246"/>
            <a:ext cx="2540000" cy="1930346"/>
          </a:xfrm>
          <a:prstGeom prst="rect">
            <a:avLst/>
          </a:prstGeom>
        </p:spPr>
      </p:pic>
      <p:sp>
        <p:nvSpPr>
          <p:cNvPr id="29" name="Text 23"/>
          <p:cNvSpPr/>
          <p:nvPr/>
        </p:nvSpPr>
        <p:spPr>
          <a:xfrm>
            <a:off x="3091692" y="2463096"/>
            <a:ext cx="939800" cy="264932"/>
          </a:xfrm>
          <a:custGeom>
            <a:avLst/>
            <a:gdLst/>
            <a:ahLst/>
            <a:cxnLst/>
            <a:rect l="l" t="t" r="r" b="b"/>
            <a:pathLst>
              <a:path w="939800" h="264932">
                <a:moveTo>
                  <a:pt x="132466" y="0"/>
                </a:moveTo>
                <a:lnTo>
                  <a:pt x="807334" y="0"/>
                </a:lnTo>
                <a:arcTo hR="132466" wR="132466" stAng="16200000" swAng="5400000"/>
                <a:lnTo>
                  <a:pt x="939800" y="132466"/>
                </a:lnTo>
                <a:arcTo hR="132466" wR="132466" stAng="0" swAng="5400000"/>
                <a:lnTo>
                  <a:pt x="132466" y="264932"/>
                </a:lnTo>
                <a:arcTo hR="132466" wR="132466" stAng="5400000" swAng="5400000"/>
                <a:lnTo>
                  <a:pt x="0" y="132466"/>
                </a:lnTo>
                <a:arcTo hR="132466" wR="132466" stAng="10800000" swAng="5400000"/>
                <a:close/>
              </a:path>
            </a:pathLst>
          </a:custGeom>
          <a:solidFill>
            <a:srgbClr val="FFFFFF"/>
          </a:solidFill>
          <a:ln w="12700">
            <a:solidFill>
              <a:srgbClr val="2563C9"/>
            </a:solidFill>
            <a:prstDash val="solid"/>
          </a:ln>
        </p:spPr>
        <p:txBody>
          <a:bodyPr wrap="square" lIns="0" tIns="5195" rIns="0" bIns="0" rtlCol="0" anchor="t">
            <a:normAutofit/>
          </a:bodyPr>
          <a:lstStyle/>
          <a:p>
            <a:pPr algn="ctr" indent="0" marL="0">
              <a:lnSpc>
                <a:spcPts val="2004"/>
              </a:lnSpc>
              <a:buNone/>
            </a:pPr>
            <a:r>
              <a:rPr lang="en-US" sz="1200" b="1" dirty="0">
                <a:solidFill>
                  <a:srgbClr val="14213D"/>
                </a:solidFill>
                <a:latin typeface="IBM Plex Sans" pitchFamily="34" charset="0"/>
                <a:ea typeface="IBM Plex Sans" pitchFamily="34" charset="-122"/>
                <a:cs typeface="IBM Plex Sans" pitchFamily="34" charset="-120"/>
              </a:rPr>
              <a:t>Plan</a:t>
            </a:r>
            <a:endParaRPr lang="en-US" sz="1200" dirty="0"/>
          </a:p>
        </p:txBody>
      </p:sp>
      <p:sp>
        <p:nvSpPr>
          <p:cNvPr id="30" name="Text 24"/>
          <p:cNvSpPr/>
          <p:nvPr/>
        </p:nvSpPr>
        <p:spPr>
          <a:xfrm>
            <a:off x="3853692" y="3225096"/>
            <a:ext cx="939800" cy="264932"/>
          </a:xfrm>
          <a:custGeom>
            <a:avLst/>
            <a:gdLst/>
            <a:ahLst/>
            <a:cxnLst/>
            <a:rect l="l" t="t" r="r" b="b"/>
            <a:pathLst>
              <a:path w="939800" h="264932">
                <a:moveTo>
                  <a:pt x="132466" y="0"/>
                </a:moveTo>
                <a:lnTo>
                  <a:pt x="807334" y="0"/>
                </a:lnTo>
                <a:arcTo hR="132466" wR="132466" stAng="16200000" swAng="5400000"/>
                <a:lnTo>
                  <a:pt x="939800" y="132466"/>
                </a:lnTo>
                <a:arcTo hR="132466" wR="132466" stAng="0" swAng="5400000"/>
                <a:lnTo>
                  <a:pt x="132466" y="264932"/>
                </a:lnTo>
                <a:arcTo hR="132466" wR="132466" stAng="5400000" swAng="5400000"/>
                <a:lnTo>
                  <a:pt x="0" y="132466"/>
                </a:lnTo>
                <a:arcTo hR="132466" wR="132466" stAng="10800000" swAng="5400000"/>
                <a:close/>
              </a:path>
            </a:pathLst>
          </a:custGeom>
          <a:solidFill>
            <a:srgbClr val="FFFFFF"/>
          </a:solidFill>
          <a:ln w="12700">
            <a:solidFill>
              <a:srgbClr val="2563C9"/>
            </a:solidFill>
            <a:prstDash val="solid"/>
          </a:ln>
        </p:spPr>
        <p:txBody>
          <a:bodyPr wrap="square" lIns="0" tIns="5195" rIns="0" bIns="0" rtlCol="0" anchor="t">
            <a:normAutofit/>
          </a:bodyPr>
          <a:lstStyle/>
          <a:p>
            <a:pPr algn="ctr" indent="0" marL="0">
              <a:lnSpc>
                <a:spcPts val="2004"/>
              </a:lnSpc>
              <a:buNone/>
            </a:pPr>
            <a:r>
              <a:rPr lang="en-US" sz="1200" b="1" dirty="0">
                <a:solidFill>
                  <a:srgbClr val="14213D"/>
                </a:solidFill>
                <a:latin typeface="IBM Plex Sans" pitchFamily="34" charset="0"/>
                <a:ea typeface="IBM Plex Sans" pitchFamily="34" charset="-122"/>
                <a:cs typeface="IBM Plex Sans" pitchFamily="34" charset="-120"/>
              </a:rPr>
              <a:t>Act</a:t>
            </a:r>
            <a:endParaRPr lang="en-US" sz="1200" dirty="0"/>
          </a:p>
        </p:txBody>
      </p:sp>
      <p:sp>
        <p:nvSpPr>
          <p:cNvPr id="31" name="Text 25"/>
          <p:cNvSpPr/>
          <p:nvPr/>
        </p:nvSpPr>
        <p:spPr>
          <a:xfrm>
            <a:off x="3091692" y="3987096"/>
            <a:ext cx="939800" cy="264932"/>
          </a:xfrm>
          <a:custGeom>
            <a:avLst/>
            <a:gdLst/>
            <a:ahLst/>
            <a:cxnLst/>
            <a:rect l="l" t="t" r="r" b="b"/>
            <a:pathLst>
              <a:path w="939800" h="264932">
                <a:moveTo>
                  <a:pt x="132466" y="0"/>
                </a:moveTo>
                <a:lnTo>
                  <a:pt x="807334" y="0"/>
                </a:lnTo>
                <a:arcTo hR="132466" wR="132466" stAng="16200000" swAng="5400000"/>
                <a:lnTo>
                  <a:pt x="939800" y="132466"/>
                </a:lnTo>
                <a:arcTo hR="132466" wR="132466" stAng="0" swAng="5400000"/>
                <a:lnTo>
                  <a:pt x="132466" y="264932"/>
                </a:lnTo>
                <a:arcTo hR="132466" wR="132466" stAng="5400000" swAng="5400000"/>
                <a:lnTo>
                  <a:pt x="0" y="132466"/>
                </a:lnTo>
                <a:arcTo hR="132466" wR="132466" stAng="10800000" swAng="5400000"/>
                <a:close/>
              </a:path>
            </a:pathLst>
          </a:custGeom>
          <a:solidFill>
            <a:srgbClr val="FFFFFF"/>
          </a:solidFill>
          <a:ln w="12700">
            <a:solidFill>
              <a:srgbClr val="2563C9"/>
            </a:solidFill>
            <a:prstDash val="solid"/>
          </a:ln>
        </p:spPr>
        <p:txBody>
          <a:bodyPr wrap="square" lIns="0" tIns="5195" rIns="0" bIns="0" rtlCol="0" anchor="t">
            <a:normAutofit/>
          </a:bodyPr>
          <a:lstStyle/>
          <a:p>
            <a:pPr algn="ctr" indent="0" marL="0">
              <a:lnSpc>
                <a:spcPts val="2004"/>
              </a:lnSpc>
              <a:buNone/>
            </a:pPr>
            <a:r>
              <a:rPr lang="en-US" sz="1200" b="1" dirty="0">
                <a:solidFill>
                  <a:srgbClr val="14213D"/>
                </a:solidFill>
                <a:latin typeface="IBM Plex Sans" pitchFamily="34" charset="0"/>
                <a:ea typeface="IBM Plex Sans" pitchFamily="34" charset="-122"/>
                <a:cs typeface="IBM Plex Sans" pitchFamily="34" charset="-120"/>
              </a:rPr>
              <a:t>Observe</a:t>
            </a:r>
            <a:endParaRPr lang="en-US" sz="1200" dirty="0"/>
          </a:p>
        </p:txBody>
      </p:sp>
      <p:sp>
        <p:nvSpPr>
          <p:cNvPr id="32" name="Text 26"/>
          <p:cNvSpPr/>
          <p:nvPr/>
        </p:nvSpPr>
        <p:spPr>
          <a:xfrm>
            <a:off x="2329692" y="3225096"/>
            <a:ext cx="939800" cy="264932"/>
          </a:xfrm>
          <a:custGeom>
            <a:avLst/>
            <a:gdLst/>
            <a:ahLst/>
            <a:cxnLst/>
            <a:rect l="l" t="t" r="r" b="b"/>
            <a:pathLst>
              <a:path w="939800" h="264932">
                <a:moveTo>
                  <a:pt x="132466" y="0"/>
                </a:moveTo>
                <a:lnTo>
                  <a:pt x="807334" y="0"/>
                </a:lnTo>
                <a:arcTo hR="132466" wR="132466" stAng="16200000" swAng="5400000"/>
                <a:lnTo>
                  <a:pt x="939800" y="132466"/>
                </a:lnTo>
                <a:arcTo hR="132466" wR="132466" stAng="0" swAng="5400000"/>
                <a:lnTo>
                  <a:pt x="132466" y="264932"/>
                </a:lnTo>
                <a:arcTo hR="132466" wR="132466" stAng="5400000" swAng="5400000"/>
                <a:lnTo>
                  <a:pt x="0" y="132466"/>
                </a:lnTo>
                <a:arcTo hR="132466" wR="132466" stAng="10800000" swAng="5400000"/>
                <a:close/>
              </a:path>
            </a:pathLst>
          </a:custGeom>
          <a:solidFill>
            <a:srgbClr val="FFFFFF"/>
          </a:solidFill>
          <a:ln w="12700">
            <a:solidFill>
              <a:srgbClr val="2563C9"/>
            </a:solidFill>
            <a:prstDash val="solid"/>
          </a:ln>
        </p:spPr>
        <p:txBody>
          <a:bodyPr wrap="square" lIns="0" tIns="5195" rIns="0" bIns="0" rtlCol="0" anchor="t">
            <a:normAutofit/>
          </a:bodyPr>
          <a:lstStyle/>
          <a:p>
            <a:pPr algn="ctr" indent="0" marL="0">
              <a:lnSpc>
                <a:spcPts val="2004"/>
              </a:lnSpc>
              <a:buNone/>
            </a:pPr>
            <a:r>
              <a:rPr lang="en-US" sz="1200" b="1" dirty="0">
                <a:solidFill>
                  <a:srgbClr val="14213D"/>
                </a:solidFill>
                <a:latin typeface="IBM Plex Sans" pitchFamily="34" charset="0"/>
                <a:ea typeface="IBM Plex Sans" pitchFamily="34" charset="-122"/>
                <a:cs typeface="IBM Plex Sans" pitchFamily="34" charset="-120"/>
              </a:rPr>
              <a:t>Review</a:t>
            </a:r>
            <a:endParaRPr lang="en-US" sz="1200" dirty="0"/>
          </a:p>
        </p:txBody>
      </p:sp>
      <p:sp>
        <p:nvSpPr>
          <p:cNvPr id="33" name="Text 27"/>
          <p:cNvSpPr/>
          <p:nvPr/>
        </p:nvSpPr>
        <p:spPr>
          <a:xfrm>
            <a:off x="3250442" y="3174278"/>
            <a:ext cx="622300" cy="391247"/>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C2611A"/>
                </a:solidFill>
                <a:latin typeface="IBM Plex Sans" pitchFamily="34" charset="0"/>
                <a:ea typeface="IBM Plex Sans" pitchFamily="34" charset="-122"/>
                <a:cs typeface="IBM Plex Sans" pitchFamily="34" charset="-120"/>
              </a:rPr>
              <a:t>Agent loop</a:t>
            </a:r>
            <a:endParaRPr lang="en-US" sz="1200" dirty="0"/>
          </a:p>
        </p:txBody>
      </p:sp>
      <p:sp>
        <p:nvSpPr>
          <p:cNvPr id="34" name="Shape 28"/>
          <p:cNvSpPr/>
          <p:nvPr/>
        </p:nvSpPr>
        <p:spPr>
          <a:xfrm>
            <a:off x="4987113" y="2508177"/>
            <a:ext cx="2025650" cy="667977"/>
          </a:xfrm>
          <a:prstGeom prst="roundRect">
            <a:avLst>
              <a:gd name="adj" fmla="val 10932"/>
            </a:avLst>
          </a:prstGeom>
          <a:solidFill>
            <a:srgbClr val="FFFFFF"/>
          </a:solidFill>
          <a:ln w="6350">
            <a:solidFill>
              <a:srgbClr val="DADCE0"/>
            </a:solidFill>
            <a:prstDash val="solid"/>
          </a:ln>
        </p:spPr>
      </p:sp>
      <p:sp>
        <p:nvSpPr>
          <p:cNvPr id="35" name="Text 29"/>
          <p:cNvSpPr/>
          <p:nvPr/>
        </p:nvSpPr>
        <p:spPr>
          <a:xfrm>
            <a:off x="5091275" y="2599621"/>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2563C9"/>
          </a:solidFill>
          <a:ln/>
        </p:spPr>
        <p:txBody>
          <a:bodyPr wrap="square" lIns="0" tIns="0" rIns="0" bIns="0" rtlCol="0" anchor="t">
            <a:normAutofit/>
          </a:bodyPr>
          <a:lstStyle/>
          <a:p>
            <a:pPr algn="ctr" indent="0" marL="0">
              <a:lnSpc>
                <a:spcPts val="2004"/>
              </a:lnSpc>
              <a:buNone/>
            </a:pPr>
            <a:r>
              <a:rPr lang="en-US" sz="1200" b="1" dirty="0">
                <a:solidFill>
                  <a:srgbClr val="FFFFFF"/>
                </a:solidFill>
                <a:latin typeface="IBM Plex Sans" pitchFamily="34" charset="0"/>
                <a:ea typeface="IBM Plex Sans" pitchFamily="34" charset="-122"/>
                <a:cs typeface="IBM Plex Sans" pitchFamily="34" charset="-120"/>
              </a:rPr>
              <a:t>2</a:t>
            </a:r>
            <a:endParaRPr lang="en-US" sz="1200" dirty="0"/>
          </a:p>
        </p:txBody>
      </p:sp>
      <p:sp>
        <p:nvSpPr>
          <p:cNvPr id="36" name="Text 30"/>
          <p:cNvSpPr/>
          <p:nvPr/>
        </p:nvSpPr>
        <p:spPr>
          <a:xfrm>
            <a:off x="5408775" y="2619916"/>
            <a:ext cx="108671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Main agent</a:t>
            </a:r>
            <a:endParaRPr lang="en-US" sz="1400" dirty="0"/>
          </a:p>
        </p:txBody>
      </p:sp>
      <p:sp>
        <p:nvSpPr>
          <p:cNvPr id="37" name="Text 31"/>
          <p:cNvSpPr/>
          <p:nvPr/>
        </p:nvSpPr>
        <p:spPr>
          <a:xfrm>
            <a:off x="5091275" y="2878967"/>
            <a:ext cx="1871846" cy="23114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Gathers context, drafts</a:t>
            </a:r>
            <a:endParaRPr lang="en-US" sz="1200" dirty="0"/>
          </a:p>
        </p:txBody>
      </p:sp>
      <p:sp>
        <p:nvSpPr>
          <p:cNvPr id="38" name="Shape 32"/>
          <p:cNvSpPr/>
          <p:nvPr/>
        </p:nvSpPr>
        <p:spPr>
          <a:xfrm>
            <a:off x="7120677" y="2508177"/>
            <a:ext cx="2025650" cy="667977"/>
          </a:xfrm>
          <a:prstGeom prst="roundRect">
            <a:avLst>
              <a:gd name="adj" fmla="val 10932"/>
            </a:avLst>
          </a:prstGeom>
          <a:solidFill>
            <a:srgbClr val="FFFFFF"/>
          </a:solidFill>
          <a:ln w="6350">
            <a:solidFill>
              <a:srgbClr val="DADCE0"/>
            </a:solidFill>
            <a:prstDash val="solid"/>
          </a:ln>
        </p:spPr>
      </p:sp>
      <p:sp>
        <p:nvSpPr>
          <p:cNvPr id="39" name="Text 33"/>
          <p:cNvSpPr/>
          <p:nvPr/>
        </p:nvSpPr>
        <p:spPr>
          <a:xfrm>
            <a:off x="7224839" y="2599621"/>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2563C9"/>
          </a:solidFill>
          <a:ln/>
        </p:spPr>
        <p:txBody>
          <a:bodyPr wrap="square" lIns="0" tIns="0" rIns="0" bIns="0" rtlCol="0" anchor="t">
            <a:normAutofit/>
          </a:bodyPr>
          <a:lstStyle/>
          <a:p>
            <a:pPr algn="ctr" indent="0" marL="0">
              <a:lnSpc>
                <a:spcPts val="2004"/>
              </a:lnSpc>
              <a:buNone/>
            </a:pPr>
            <a:r>
              <a:rPr lang="en-US" sz="1200" b="1" dirty="0">
                <a:solidFill>
                  <a:srgbClr val="FFFFFF"/>
                </a:solidFill>
                <a:latin typeface="IBM Plex Sans" pitchFamily="34" charset="0"/>
                <a:ea typeface="IBM Plex Sans" pitchFamily="34" charset="-122"/>
                <a:cs typeface="IBM Plex Sans" pitchFamily="34" charset="-120"/>
              </a:rPr>
              <a:t>4</a:t>
            </a:r>
            <a:endParaRPr lang="en-US" sz="1200" dirty="0"/>
          </a:p>
        </p:txBody>
      </p:sp>
      <p:sp>
        <p:nvSpPr>
          <p:cNvPr id="40" name="Text 34"/>
          <p:cNvSpPr/>
          <p:nvPr/>
        </p:nvSpPr>
        <p:spPr>
          <a:xfrm>
            <a:off x="7542339" y="2619916"/>
            <a:ext cx="152876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Reviewer agent</a:t>
            </a:r>
            <a:endParaRPr lang="en-US" sz="1400" dirty="0"/>
          </a:p>
        </p:txBody>
      </p:sp>
      <p:sp>
        <p:nvSpPr>
          <p:cNvPr id="41" name="Text 35"/>
          <p:cNvSpPr/>
          <p:nvPr/>
        </p:nvSpPr>
        <p:spPr>
          <a:xfrm>
            <a:off x="7224839" y="2878967"/>
            <a:ext cx="1871846" cy="23114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Validates, scores, flags</a:t>
            </a:r>
            <a:endParaRPr lang="en-US" sz="1200" dirty="0"/>
          </a:p>
        </p:txBody>
      </p:sp>
      <p:sp>
        <p:nvSpPr>
          <p:cNvPr id="42" name="Text 36"/>
          <p:cNvSpPr/>
          <p:nvPr/>
        </p:nvSpPr>
        <p:spPr>
          <a:xfrm>
            <a:off x="4983938" y="3268174"/>
            <a:ext cx="4290531" cy="2388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563C9"/>
                </a:solidFill>
                <a:latin typeface="IBM Plex Sans" pitchFamily="34" charset="0"/>
                <a:ea typeface="IBM Plex Sans" pitchFamily="34" charset="-122"/>
                <a:cs typeface="IBM Plex Sans" pitchFamily="34" charset="-120"/>
              </a:rPr>
              <a:t>HARNESS CAPABILITIES</a:t>
            </a:r>
            <a:endParaRPr lang="en-US" sz="1200" dirty="0"/>
          </a:p>
        </p:txBody>
      </p:sp>
      <p:sp>
        <p:nvSpPr>
          <p:cNvPr id="43" name="Text 37"/>
          <p:cNvSpPr/>
          <p:nvPr/>
        </p:nvSpPr>
        <p:spPr>
          <a:xfrm>
            <a:off x="4983938" y="3570432"/>
            <a:ext cx="900094" cy="289538"/>
          </a:xfrm>
          <a:prstGeom prst="roundRect">
            <a:avLst>
              <a:gd name="adj" fmla="val 21931"/>
            </a:avLst>
          </a:prstGeom>
          <a:solidFill>
            <a:srgbClr val="DDE7F8"/>
          </a:solidFill>
          <a:ln/>
        </p:spPr>
        <p:txBody>
          <a:bodyPr wrap="none" lIns="0" tIns="0" rIns="0" bIns="0" rtlCol="0" anchor="ctr">
            <a:normAutofit/>
          </a:bodyPr>
          <a:lstStyle/>
          <a:p>
            <a:pPr algn="ctr" indent="0" marL="0">
              <a:lnSpc>
                <a:spcPts val="1680"/>
              </a:lnSpc>
              <a:buNone/>
            </a:pPr>
            <a:r>
              <a:rPr lang="en-US" sz="1200" dirty="0">
                <a:solidFill>
                  <a:srgbClr val="1A3D7A"/>
                </a:solidFill>
                <a:latin typeface="IBM Plex Sans" pitchFamily="34" charset="0"/>
                <a:ea typeface="IBM Plex Sans" pitchFamily="34" charset="-122"/>
                <a:cs typeface="IBM Plex Sans" pitchFamily="34" charset="-120"/>
              </a:rPr>
              <a:t>Subagents</a:t>
            </a:r>
            <a:endParaRPr lang="en-US" sz="1200" dirty="0"/>
          </a:p>
        </p:txBody>
      </p:sp>
      <p:sp>
        <p:nvSpPr>
          <p:cNvPr id="44" name="Text 38"/>
          <p:cNvSpPr/>
          <p:nvPr/>
        </p:nvSpPr>
        <p:spPr>
          <a:xfrm>
            <a:off x="5934814" y="3570432"/>
            <a:ext cx="541103" cy="289538"/>
          </a:xfrm>
          <a:prstGeom prst="roundRect">
            <a:avLst>
              <a:gd name="adj" fmla="val 21931"/>
            </a:avLst>
          </a:prstGeom>
          <a:solidFill>
            <a:srgbClr val="DDE7F8"/>
          </a:solidFill>
          <a:ln/>
        </p:spPr>
        <p:txBody>
          <a:bodyPr wrap="none" lIns="0" tIns="0" rIns="0" bIns="0" rtlCol="0" anchor="ctr">
            <a:normAutofit/>
          </a:bodyPr>
          <a:lstStyle/>
          <a:p>
            <a:pPr algn="ctr" indent="0" marL="0">
              <a:lnSpc>
                <a:spcPts val="1680"/>
              </a:lnSpc>
              <a:buNone/>
            </a:pPr>
            <a:r>
              <a:rPr lang="en-US" sz="1200" dirty="0">
                <a:solidFill>
                  <a:srgbClr val="1A3D7A"/>
                </a:solidFill>
                <a:latin typeface="IBM Plex Sans" pitchFamily="34" charset="0"/>
                <a:ea typeface="IBM Plex Sans" pitchFamily="34" charset="-122"/>
                <a:cs typeface="IBM Plex Sans" pitchFamily="34" charset="-120"/>
              </a:rPr>
              <a:t>Skills</a:t>
            </a:r>
            <a:endParaRPr lang="en-US" sz="1200" dirty="0"/>
          </a:p>
        </p:txBody>
      </p:sp>
      <p:sp>
        <p:nvSpPr>
          <p:cNvPr id="45" name="Text 39"/>
          <p:cNvSpPr/>
          <p:nvPr/>
        </p:nvSpPr>
        <p:spPr>
          <a:xfrm>
            <a:off x="6526699" y="3570432"/>
            <a:ext cx="904424" cy="289538"/>
          </a:xfrm>
          <a:prstGeom prst="roundRect">
            <a:avLst>
              <a:gd name="adj" fmla="val 21931"/>
            </a:avLst>
          </a:prstGeom>
          <a:solidFill>
            <a:srgbClr val="DDE7F8"/>
          </a:solidFill>
          <a:ln/>
        </p:spPr>
        <p:txBody>
          <a:bodyPr wrap="none" lIns="0" tIns="0" rIns="0" bIns="0" rtlCol="0" anchor="ctr">
            <a:normAutofit/>
          </a:bodyPr>
          <a:lstStyle/>
          <a:p>
            <a:pPr algn="ctr" indent="0" marL="0">
              <a:lnSpc>
                <a:spcPts val="1680"/>
              </a:lnSpc>
              <a:buNone/>
            </a:pPr>
            <a:r>
              <a:rPr lang="en-US" sz="1200" dirty="0">
                <a:solidFill>
                  <a:srgbClr val="1A3D7A"/>
                </a:solidFill>
                <a:latin typeface="IBM Plex Sans" pitchFamily="34" charset="0"/>
                <a:ea typeface="IBM Plex Sans" pitchFamily="34" charset="-122"/>
                <a:cs typeface="IBM Plex Sans" pitchFamily="34" charset="-120"/>
              </a:rPr>
              <a:t>MCP client</a:t>
            </a:r>
            <a:endParaRPr lang="en-US" sz="1200" dirty="0"/>
          </a:p>
        </p:txBody>
      </p:sp>
      <p:sp>
        <p:nvSpPr>
          <p:cNvPr id="46" name="Text 40"/>
          <p:cNvSpPr/>
          <p:nvPr/>
        </p:nvSpPr>
        <p:spPr>
          <a:xfrm>
            <a:off x="7481905" y="3570432"/>
            <a:ext cx="1549797" cy="289538"/>
          </a:xfrm>
          <a:prstGeom prst="roundRect">
            <a:avLst>
              <a:gd name="adj" fmla="val 21931"/>
            </a:avLst>
          </a:prstGeom>
          <a:solidFill>
            <a:srgbClr val="DDE7F8"/>
          </a:solidFill>
          <a:ln/>
        </p:spPr>
        <p:txBody>
          <a:bodyPr wrap="none" lIns="0" tIns="0" rIns="0" bIns="0" rtlCol="0" anchor="ctr">
            <a:normAutofit/>
          </a:bodyPr>
          <a:lstStyle/>
          <a:p>
            <a:pPr algn="ctr" indent="0" marL="0">
              <a:lnSpc>
                <a:spcPts val="1680"/>
              </a:lnSpc>
              <a:buNone/>
            </a:pPr>
            <a:r>
              <a:rPr lang="en-US" sz="1200" dirty="0">
                <a:solidFill>
                  <a:srgbClr val="1A3D7A"/>
                </a:solidFill>
                <a:latin typeface="IBM Plex Sans" pitchFamily="34" charset="0"/>
                <a:ea typeface="IBM Plex Sans" pitchFamily="34" charset="-122"/>
                <a:cs typeface="IBM Plex Sans" pitchFamily="34" charset="-120"/>
              </a:rPr>
              <a:t>Context compaction</a:t>
            </a:r>
            <a:endParaRPr lang="en-US" sz="1200" dirty="0"/>
          </a:p>
        </p:txBody>
      </p:sp>
      <p:sp>
        <p:nvSpPr>
          <p:cNvPr id="47" name="Text 41"/>
          <p:cNvSpPr/>
          <p:nvPr/>
        </p:nvSpPr>
        <p:spPr>
          <a:xfrm>
            <a:off x="4983938" y="3910752"/>
            <a:ext cx="1493874" cy="289538"/>
          </a:xfrm>
          <a:prstGeom prst="roundRect">
            <a:avLst>
              <a:gd name="adj" fmla="val 21931"/>
            </a:avLst>
          </a:prstGeom>
          <a:solidFill>
            <a:srgbClr val="DDE7F8"/>
          </a:solidFill>
          <a:ln/>
        </p:spPr>
        <p:txBody>
          <a:bodyPr wrap="none" lIns="0" tIns="0" rIns="0" bIns="0" rtlCol="0" anchor="ctr">
            <a:normAutofit/>
          </a:bodyPr>
          <a:lstStyle/>
          <a:p>
            <a:pPr algn="ctr" indent="0" marL="0">
              <a:lnSpc>
                <a:spcPts val="1680"/>
              </a:lnSpc>
              <a:buNone/>
            </a:pPr>
            <a:r>
              <a:rPr lang="en-US" sz="1200" dirty="0">
                <a:solidFill>
                  <a:srgbClr val="1A3D7A"/>
                </a:solidFill>
                <a:latin typeface="IBM Plex Sans" pitchFamily="34" charset="0"/>
                <a:ea typeface="IBM Plex Sans" pitchFamily="34" charset="-122"/>
                <a:cs typeface="IBM Plex Sans" pitchFamily="34" charset="-120"/>
              </a:rPr>
              <a:t>File-system offload</a:t>
            </a:r>
            <a:endParaRPr lang="en-US" sz="1200" dirty="0"/>
          </a:p>
        </p:txBody>
      </p:sp>
      <p:sp>
        <p:nvSpPr>
          <p:cNvPr id="48" name="Shape 42"/>
          <p:cNvSpPr/>
          <p:nvPr/>
        </p:nvSpPr>
        <p:spPr>
          <a:xfrm>
            <a:off x="9305023" y="2396421"/>
            <a:ext cx="2268375" cy="1912541"/>
          </a:xfrm>
          <a:prstGeom prst="roundRect">
            <a:avLst>
              <a:gd name="adj" fmla="val 3818"/>
            </a:avLst>
          </a:prstGeom>
          <a:solidFill>
            <a:srgbClr val="FFFFFF"/>
          </a:solidFill>
          <a:ln w="6350">
            <a:solidFill>
              <a:srgbClr val="DADCE0"/>
            </a:solidFill>
            <a:prstDash val="solid"/>
          </a:ln>
        </p:spPr>
      </p:sp>
      <p:pic>
        <p:nvPicPr>
          <p:cNvPr id="49" name="Image 4" descr="Database">    </p:cNvPr>
          <p:cNvPicPr>
            <a:picLocks noChangeAspect="1"/>
          </p:cNvPicPr>
          <p:nvPr/>
        </p:nvPicPr>
        <p:blipFill>
          <a:blip r:embed="rId5"/>
          <a:srcRect l="0" r="0" t="0" b="0"/>
          <a:stretch/>
        </p:blipFill>
        <p:spPr>
          <a:xfrm>
            <a:off x="9447248" y="2786152"/>
            <a:ext cx="203128" cy="203128"/>
          </a:xfrm>
          <a:prstGeom prst="rect">
            <a:avLst/>
          </a:prstGeom>
        </p:spPr>
      </p:pic>
      <p:sp>
        <p:nvSpPr>
          <p:cNvPr id="50" name="Text 43"/>
          <p:cNvSpPr/>
          <p:nvPr/>
        </p:nvSpPr>
        <p:spPr>
          <a:xfrm>
            <a:off x="9726504" y="2781102"/>
            <a:ext cx="113412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Agent state</a:t>
            </a:r>
            <a:endParaRPr lang="en-US" sz="1400" dirty="0"/>
          </a:p>
        </p:txBody>
      </p:sp>
      <p:sp>
        <p:nvSpPr>
          <p:cNvPr id="51" name="Text 44"/>
          <p:cNvSpPr/>
          <p:nvPr/>
        </p:nvSpPr>
        <p:spPr>
          <a:xfrm>
            <a:off x="9546054" y="3070549"/>
            <a:ext cx="1937016" cy="879042"/>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Working context</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Offloaded files</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Session history</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Canvas state</a:t>
            </a:r>
            <a:endParaRPr lang="en-US" sz="1200" dirty="0"/>
          </a:p>
        </p:txBody>
      </p:sp>
      <p:sp>
        <p:nvSpPr>
          <p:cNvPr id="52" name="Shape 45"/>
          <p:cNvSpPr/>
          <p:nvPr/>
        </p:nvSpPr>
        <p:spPr>
          <a:xfrm>
            <a:off x="460303" y="4702175"/>
            <a:ext cx="11271214" cy="806432"/>
          </a:xfrm>
          <a:prstGeom prst="roundRect">
            <a:avLst>
              <a:gd name="adj" fmla="val 12205"/>
            </a:avLst>
          </a:prstGeom>
          <a:solidFill>
            <a:srgbClr val="FFFFFF"/>
          </a:solidFill>
          <a:ln w="6350">
            <a:solidFill>
              <a:srgbClr val="DADCE0"/>
            </a:solidFill>
            <a:prstDash val="solid"/>
          </a:ln>
        </p:spPr>
      </p:sp>
      <p:sp>
        <p:nvSpPr>
          <p:cNvPr id="53" name="Text 46"/>
          <p:cNvSpPr/>
          <p:nvPr/>
        </p:nvSpPr>
        <p:spPr>
          <a:xfrm>
            <a:off x="615246" y="4885621"/>
            <a:ext cx="1625582" cy="23881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563C9"/>
                </a:solidFill>
                <a:latin typeface="IBM Plex Sans" pitchFamily="34" charset="0"/>
                <a:ea typeface="IBM Plex Sans" pitchFamily="34" charset="-122"/>
                <a:cs typeface="IBM Plex Sans" pitchFamily="34" charset="-120"/>
              </a:rPr>
              <a:t>CONTEXT PLANE</a:t>
            </a:r>
            <a:endParaRPr lang="en-US" sz="1200" dirty="0"/>
          </a:p>
        </p:txBody>
      </p:sp>
      <p:sp>
        <p:nvSpPr>
          <p:cNvPr id="54" name="Text 47"/>
          <p:cNvSpPr/>
          <p:nvPr/>
        </p:nvSpPr>
        <p:spPr>
          <a:xfrm>
            <a:off x="615246" y="5111659"/>
            <a:ext cx="1625582"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MCP &amp; tools</a:t>
            </a:r>
            <a:endParaRPr lang="en-US" sz="1200" dirty="0"/>
          </a:p>
        </p:txBody>
      </p:sp>
      <p:sp>
        <p:nvSpPr>
          <p:cNvPr id="55" name="Shape 48"/>
          <p:cNvSpPr/>
          <p:nvPr/>
        </p:nvSpPr>
        <p:spPr>
          <a:xfrm>
            <a:off x="2291592" y="4806336"/>
            <a:ext cx="1775745" cy="598109"/>
          </a:xfrm>
          <a:prstGeom prst="roundRect">
            <a:avLst>
              <a:gd name="adj" fmla="val 12740"/>
            </a:avLst>
          </a:prstGeom>
          <a:solidFill>
            <a:srgbClr val="F5F7FA"/>
          </a:solidFill>
          <a:ln/>
        </p:spPr>
      </p:sp>
      <p:sp>
        <p:nvSpPr>
          <p:cNvPr id="56" name="Text 49"/>
          <p:cNvSpPr/>
          <p:nvPr/>
        </p:nvSpPr>
        <p:spPr>
          <a:xfrm>
            <a:off x="2393156" y="4892025"/>
            <a:ext cx="162341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Ontology</a:t>
            </a:r>
            <a:endParaRPr lang="en-US" sz="1400" dirty="0"/>
          </a:p>
        </p:txBody>
      </p:sp>
      <p:sp>
        <p:nvSpPr>
          <p:cNvPr id="57" name="Text 50"/>
          <p:cNvSpPr/>
          <p:nvPr/>
        </p:nvSpPr>
        <p:spPr>
          <a:xfrm>
            <a:off x="2393156" y="5105346"/>
            <a:ext cx="1623417"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Business concepts</a:t>
            </a:r>
            <a:endParaRPr lang="en-US" sz="1200" dirty="0"/>
          </a:p>
        </p:txBody>
      </p:sp>
      <p:sp>
        <p:nvSpPr>
          <p:cNvPr id="58" name="Shape 51"/>
          <p:cNvSpPr/>
          <p:nvPr/>
        </p:nvSpPr>
        <p:spPr>
          <a:xfrm>
            <a:off x="4168901" y="4806336"/>
            <a:ext cx="1775745" cy="598109"/>
          </a:xfrm>
          <a:prstGeom prst="roundRect">
            <a:avLst>
              <a:gd name="adj" fmla="val 12740"/>
            </a:avLst>
          </a:prstGeom>
          <a:solidFill>
            <a:srgbClr val="F5F7FA"/>
          </a:solidFill>
          <a:ln/>
        </p:spPr>
      </p:sp>
      <p:sp>
        <p:nvSpPr>
          <p:cNvPr id="59" name="Text 52"/>
          <p:cNvSpPr/>
          <p:nvPr/>
        </p:nvSpPr>
        <p:spPr>
          <a:xfrm>
            <a:off x="4270465" y="4892025"/>
            <a:ext cx="162341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MetaQ</a:t>
            </a:r>
            <a:endParaRPr lang="en-US" sz="1400" dirty="0"/>
          </a:p>
        </p:txBody>
      </p:sp>
      <p:sp>
        <p:nvSpPr>
          <p:cNvPr id="60" name="Text 53"/>
          <p:cNvSpPr/>
          <p:nvPr/>
        </p:nvSpPr>
        <p:spPr>
          <a:xfrm>
            <a:off x="4270465" y="5105346"/>
            <a:ext cx="1623417"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Metadata layer</a:t>
            </a:r>
            <a:endParaRPr lang="en-US" sz="1200" dirty="0"/>
          </a:p>
        </p:txBody>
      </p:sp>
      <p:sp>
        <p:nvSpPr>
          <p:cNvPr id="61" name="Shape 54"/>
          <p:cNvSpPr/>
          <p:nvPr/>
        </p:nvSpPr>
        <p:spPr>
          <a:xfrm>
            <a:off x="6046210" y="4806336"/>
            <a:ext cx="1775745" cy="598109"/>
          </a:xfrm>
          <a:prstGeom prst="roundRect">
            <a:avLst>
              <a:gd name="adj" fmla="val 12740"/>
            </a:avLst>
          </a:prstGeom>
          <a:solidFill>
            <a:srgbClr val="F5F7FA"/>
          </a:solidFill>
          <a:ln/>
        </p:spPr>
      </p:sp>
      <p:sp>
        <p:nvSpPr>
          <p:cNvPr id="62" name="Text 55"/>
          <p:cNvSpPr/>
          <p:nvPr/>
        </p:nvSpPr>
        <p:spPr>
          <a:xfrm>
            <a:off x="6147774" y="4892025"/>
            <a:ext cx="162341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Denodo MCP</a:t>
            </a:r>
            <a:endParaRPr lang="en-US" sz="1400" dirty="0"/>
          </a:p>
        </p:txBody>
      </p:sp>
      <p:sp>
        <p:nvSpPr>
          <p:cNvPr id="63" name="Text 56"/>
          <p:cNvSpPr/>
          <p:nvPr/>
        </p:nvSpPr>
        <p:spPr>
          <a:xfrm>
            <a:off x="6147774" y="5105346"/>
            <a:ext cx="1623417"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Data profiling</a:t>
            </a:r>
            <a:endParaRPr lang="en-US" sz="1200" dirty="0"/>
          </a:p>
        </p:txBody>
      </p:sp>
      <p:sp>
        <p:nvSpPr>
          <p:cNvPr id="64" name="Shape 57"/>
          <p:cNvSpPr/>
          <p:nvPr/>
        </p:nvSpPr>
        <p:spPr>
          <a:xfrm>
            <a:off x="7923519" y="4806336"/>
            <a:ext cx="1775745" cy="598109"/>
          </a:xfrm>
          <a:prstGeom prst="roundRect">
            <a:avLst>
              <a:gd name="adj" fmla="val 12740"/>
            </a:avLst>
          </a:prstGeom>
          <a:solidFill>
            <a:srgbClr val="F5F7FA"/>
          </a:solidFill>
          <a:ln/>
        </p:spPr>
      </p:sp>
      <p:sp>
        <p:nvSpPr>
          <p:cNvPr id="65" name="Text 58"/>
          <p:cNvSpPr/>
          <p:nvPr/>
        </p:nvSpPr>
        <p:spPr>
          <a:xfrm>
            <a:off x="8025083" y="4892025"/>
            <a:ext cx="162341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Code search</a:t>
            </a:r>
            <a:endParaRPr lang="en-US" sz="1400" dirty="0"/>
          </a:p>
        </p:txBody>
      </p:sp>
      <p:sp>
        <p:nvSpPr>
          <p:cNvPr id="66" name="Text 59"/>
          <p:cNvSpPr/>
          <p:nvPr/>
        </p:nvSpPr>
        <p:spPr>
          <a:xfrm>
            <a:off x="8025083" y="5105346"/>
            <a:ext cx="1623417"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Logic &amp; lineage</a:t>
            </a:r>
            <a:endParaRPr lang="en-US" sz="1200" dirty="0"/>
          </a:p>
        </p:txBody>
      </p:sp>
      <p:sp>
        <p:nvSpPr>
          <p:cNvPr id="67" name="Shape 60"/>
          <p:cNvSpPr/>
          <p:nvPr/>
        </p:nvSpPr>
        <p:spPr>
          <a:xfrm>
            <a:off x="9800828" y="4806336"/>
            <a:ext cx="1775745" cy="598109"/>
          </a:xfrm>
          <a:prstGeom prst="roundRect">
            <a:avLst>
              <a:gd name="adj" fmla="val 12740"/>
            </a:avLst>
          </a:prstGeom>
          <a:solidFill>
            <a:srgbClr val="F5F7FA"/>
          </a:solidFill>
          <a:ln/>
        </p:spPr>
      </p:sp>
      <p:sp>
        <p:nvSpPr>
          <p:cNvPr id="68" name="Text 61"/>
          <p:cNvSpPr/>
          <p:nvPr/>
        </p:nvSpPr>
        <p:spPr>
          <a:xfrm>
            <a:off x="9902392" y="4892025"/>
            <a:ext cx="162341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Prior mappings</a:t>
            </a:r>
            <a:endParaRPr lang="en-US" sz="1400" dirty="0"/>
          </a:p>
        </p:txBody>
      </p:sp>
      <p:sp>
        <p:nvSpPr>
          <p:cNvPr id="69" name="Text 62"/>
          <p:cNvSpPr/>
          <p:nvPr/>
        </p:nvSpPr>
        <p:spPr>
          <a:xfrm>
            <a:off x="9902392" y="5105346"/>
            <a:ext cx="1623417"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Reusable patterns</a:t>
            </a:r>
            <a:endParaRPr lang="en-US" sz="1200" dirty="0"/>
          </a:p>
        </p:txBody>
      </p:sp>
      <p:sp>
        <p:nvSpPr>
          <p:cNvPr id="70" name="Shape 63"/>
          <p:cNvSpPr/>
          <p:nvPr/>
        </p:nvSpPr>
        <p:spPr>
          <a:xfrm>
            <a:off x="460303" y="5743521"/>
            <a:ext cx="11271214" cy="704778"/>
          </a:xfrm>
          <a:prstGeom prst="roundRect">
            <a:avLst>
              <a:gd name="adj" fmla="val 13965"/>
            </a:avLst>
          </a:prstGeom>
          <a:solidFill>
            <a:srgbClr val="FEF6EE"/>
          </a:solidFill>
          <a:ln w="6350">
            <a:solidFill>
              <a:srgbClr val="F0C9A0"/>
            </a:solidFill>
            <a:prstDash val="solid"/>
          </a:ln>
        </p:spPr>
      </p:sp>
      <p:sp>
        <p:nvSpPr>
          <p:cNvPr id="71" name="Text 64"/>
          <p:cNvSpPr/>
          <p:nvPr/>
        </p:nvSpPr>
        <p:spPr>
          <a:xfrm>
            <a:off x="615246" y="5876184"/>
            <a:ext cx="1574800" cy="23881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8A3F0E"/>
                </a:solidFill>
                <a:latin typeface="IBM Plex Sans" pitchFamily="34" charset="0"/>
                <a:ea typeface="IBM Plex Sans" pitchFamily="34" charset="-122"/>
                <a:cs typeface="IBM Plex Sans" pitchFamily="34" charset="-120"/>
              </a:rPr>
              <a:t>GOVERNANCE</a:t>
            </a:r>
            <a:endParaRPr lang="en-US" sz="1200" dirty="0"/>
          </a:p>
        </p:txBody>
      </p:sp>
      <p:sp>
        <p:nvSpPr>
          <p:cNvPr id="72" name="Text 65"/>
          <p:cNvSpPr/>
          <p:nvPr/>
        </p:nvSpPr>
        <p:spPr>
          <a:xfrm>
            <a:off x="615246" y="6102223"/>
            <a:ext cx="157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Human approval</a:t>
            </a:r>
            <a:endParaRPr lang="en-US" sz="1200" dirty="0"/>
          </a:p>
        </p:txBody>
      </p:sp>
      <p:sp>
        <p:nvSpPr>
          <p:cNvPr id="73" name="Text 66"/>
          <p:cNvSpPr/>
          <p:nvPr/>
        </p:nvSpPr>
        <p:spPr>
          <a:xfrm>
            <a:off x="2243985" y="5935824"/>
            <a:ext cx="1585570" cy="320170"/>
          </a:xfrm>
          <a:prstGeom prst="roundRect">
            <a:avLst>
              <a:gd name="adj" fmla="val 50000"/>
            </a:avLst>
          </a:prstGeom>
          <a:solidFill>
            <a:srgbClr val="FFFFFF"/>
          </a:solidFill>
          <a:ln w="6350">
            <a:solidFill>
              <a:srgbClr val="DADCE0"/>
            </a:solidFill>
            <a:prstDash val="solid"/>
          </a:ln>
        </p:spPr>
        <p:txBody>
          <a:bodyPr wrap="none" lIns="0" tIns="0" rIns="0" bIns="0" rtlCol="0" anchor="ctr">
            <a:normAutofit/>
          </a:bodyPr>
          <a:lstStyle/>
          <a:p>
            <a:pPr algn="ct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Validated mapping</a:t>
            </a:r>
            <a:endParaRPr lang="en-US" sz="1200" dirty="0"/>
          </a:p>
        </p:txBody>
      </p:sp>
      <p:pic>
        <p:nvPicPr>
          <p:cNvPr id="74" name="Image 5" descr="connector">    </p:cNvPr>
          <p:cNvPicPr>
            <a:picLocks noChangeAspect="1"/>
          </p:cNvPicPr>
          <p:nvPr/>
        </p:nvPicPr>
        <p:blipFill>
          <a:blip r:embed="rId6"/>
          <a:srcRect l="-15" r="-15" t="0" b="0"/>
          <a:stretch/>
        </p:blipFill>
        <p:spPr>
          <a:xfrm>
            <a:off x="3934294" y="6045127"/>
            <a:ext cx="304782" cy="101564"/>
          </a:xfrm>
          <a:prstGeom prst="rect">
            <a:avLst/>
          </a:prstGeom>
        </p:spPr>
      </p:pic>
      <p:sp>
        <p:nvSpPr>
          <p:cNvPr id="75" name="Text 67"/>
          <p:cNvSpPr/>
          <p:nvPr/>
        </p:nvSpPr>
        <p:spPr>
          <a:xfrm>
            <a:off x="4340640" y="5968909"/>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2563C9"/>
          </a:solidFill>
          <a:ln/>
        </p:spPr>
        <p:txBody>
          <a:bodyPr wrap="square" lIns="0" tIns="0" rIns="0" bIns="0" rtlCol="0" anchor="t">
            <a:normAutofit/>
          </a:bodyPr>
          <a:lstStyle/>
          <a:p>
            <a:pPr algn="ctr" indent="0" marL="0">
              <a:lnSpc>
                <a:spcPts val="2004"/>
              </a:lnSpc>
              <a:buNone/>
            </a:pPr>
            <a:r>
              <a:rPr lang="en-US" sz="1200" b="1" dirty="0">
                <a:solidFill>
                  <a:srgbClr val="FFFFFF"/>
                </a:solidFill>
                <a:latin typeface="IBM Plex Sans" pitchFamily="34" charset="0"/>
                <a:ea typeface="IBM Plex Sans" pitchFamily="34" charset="-122"/>
                <a:cs typeface="IBM Plex Sans" pitchFamily="34" charset="-120"/>
              </a:rPr>
              <a:t>5</a:t>
            </a:r>
            <a:endParaRPr lang="en-US" sz="1200" dirty="0"/>
          </a:p>
        </p:txBody>
      </p:sp>
      <p:sp>
        <p:nvSpPr>
          <p:cNvPr id="76" name="Text 68"/>
          <p:cNvSpPr/>
          <p:nvPr/>
        </p:nvSpPr>
        <p:spPr>
          <a:xfrm>
            <a:off x="4651772" y="5933227"/>
            <a:ext cx="1739323" cy="325365"/>
          </a:xfrm>
          <a:prstGeom prst="roundRect">
            <a:avLst>
              <a:gd name="adj" fmla="val 50000"/>
            </a:avLst>
          </a:prstGeom>
          <a:solidFill>
            <a:srgbClr val="FFFFFF"/>
          </a:solidFill>
          <a:ln w="12700">
            <a:solidFill>
              <a:srgbClr val="D9822B"/>
            </a:solidFill>
            <a:prstDash val="solid"/>
          </a:ln>
        </p:spPr>
        <p:txBody>
          <a:bodyPr wrap="none" lIns="0" tIns="0" rIns="0" bIns="0" rtlCol="0" anchor="ctr">
            <a:normAutofit/>
          </a:bodyPr>
          <a:lstStyle/>
          <a:p>
            <a:pPr algn="ctr" indent="0" marL="0">
              <a:lnSpc>
                <a:spcPts val="1680"/>
              </a:lnSpc>
              <a:buNone/>
            </a:pPr>
            <a:r>
              <a:rPr lang="en-US" sz="1200" b="1" dirty="0">
                <a:solidFill>
                  <a:srgbClr val="8A3F0E"/>
                </a:solidFill>
                <a:latin typeface="IBM Plex Sans" pitchFamily="34" charset="0"/>
                <a:ea typeface="IBM Plex Sans" pitchFamily="34" charset="-122"/>
                <a:cs typeface="IBM Plex Sans" pitchFamily="34" charset="-120"/>
              </a:rPr>
              <a:t>Human review &amp; edit</a:t>
            </a:r>
            <a:endParaRPr lang="en-US" sz="1200" dirty="0"/>
          </a:p>
        </p:txBody>
      </p:sp>
      <p:pic>
        <p:nvPicPr>
          <p:cNvPr id="77" name="Image 6" descr="connector">    </p:cNvPr>
          <p:cNvPicPr>
            <a:picLocks noChangeAspect="1"/>
          </p:cNvPicPr>
          <p:nvPr/>
        </p:nvPicPr>
        <p:blipFill>
          <a:blip r:embed="rId7"/>
          <a:srcRect l="-15" r="-15" t="0" b="0"/>
          <a:stretch/>
        </p:blipFill>
        <p:spPr>
          <a:xfrm>
            <a:off x="6499008" y="6045127"/>
            <a:ext cx="304782" cy="101564"/>
          </a:xfrm>
          <a:prstGeom prst="rect">
            <a:avLst/>
          </a:prstGeom>
        </p:spPr>
      </p:pic>
      <p:sp>
        <p:nvSpPr>
          <p:cNvPr id="78" name="Text 69"/>
          <p:cNvSpPr/>
          <p:nvPr/>
        </p:nvSpPr>
        <p:spPr>
          <a:xfrm>
            <a:off x="6911704" y="5933227"/>
            <a:ext cx="857088" cy="325365"/>
          </a:xfrm>
          <a:prstGeom prst="roundRect">
            <a:avLst>
              <a:gd name="adj" fmla="val 50000"/>
            </a:avLst>
          </a:prstGeom>
          <a:solidFill>
            <a:srgbClr val="FFFFFF"/>
          </a:solidFill>
          <a:ln w="12700">
            <a:solidFill>
              <a:srgbClr val="D9822B"/>
            </a:solidFill>
            <a:prstDash val="solid"/>
          </a:ln>
        </p:spPr>
        <p:txBody>
          <a:bodyPr wrap="none" lIns="0" tIns="0" rIns="0" bIns="0" rtlCol="0" anchor="ctr">
            <a:normAutofit/>
          </a:bodyPr>
          <a:lstStyle/>
          <a:p>
            <a:pPr algn="ctr" indent="0" marL="0">
              <a:lnSpc>
                <a:spcPts val="1680"/>
              </a:lnSpc>
              <a:buNone/>
            </a:pPr>
            <a:r>
              <a:rPr lang="en-US" sz="1200" b="1" dirty="0">
                <a:solidFill>
                  <a:srgbClr val="8A3F0E"/>
                </a:solidFill>
                <a:latin typeface="IBM Plex Sans" pitchFamily="34" charset="0"/>
                <a:ea typeface="IBM Plex Sans" pitchFamily="34" charset="-122"/>
                <a:cs typeface="IBM Plex Sans" pitchFamily="34" charset="-120"/>
              </a:rPr>
              <a:t>Approve</a:t>
            </a:r>
            <a:endParaRPr lang="en-US" sz="1200" dirty="0"/>
          </a:p>
        </p:txBody>
      </p:sp>
      <p:pic>
        <p:nvPicPr>
          <p:cNvPr id="79" name="Image 7" descr="connector">    </p:cNvPr>
          <p:cNvPicPr>
            <a:picLocks noChangeAspect="1"/>
          </p:cNvPicPr>
          <p:nvPr/>
        </p:nvPicPr>
        <p:blipFill>
          <a:blip r:embed="rId8"/>
          <a:srcRect l="-15" r="-15" t="0" b="0"/>
          <a:stretch/>
        </p:blipFill>
        <p:spPr>
          <a:xfrm>
            <a:off x="7876706" y="6045127"/>
            <a:ext cx="304782" cy="101564"/>
          </a:xfrm>
          <a:prstGeom prst="rect">
            <a:avLst/>
          </a:prstGeom>
        </p:spPr>
      </p:pic>
      <p:sp>
        <p:nvSpPr>
          <p:cNvPr id="80" name="Text 70"/>
          <p:cNvSpPr/>
          <p:nvPr/>
        </p:nvSpPr>
        <p:spPr>
          <a:xfrm>
            <a:off x="8283052" y="5968909"/>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2563C9"/>
          </a:solidFill>
          <a:ln/>
        </p:spPr>
        <p:txBody>
          <a:bodyPr wrap="square" lIns="0" tIns="0" rIns="0" bIns="0" rtlCol="0" anchor="t">
            <a:normAutofit/>
          </a:bodyPr>
          <a:lstStyle/>
          <a:p>
            <a:pPr algn="ctr" indent="0" marL="0">
              <a:lnSpc>
                <a:spcPts val="2004"/>
              </a:lnSpc>
              <a:buNone/>
            </a:pPr>
            <a:r>
              <a:rPr lang="en-US" sz="1200" b="1" dirty="0">
                <a:solidFill>
                  <a:srgbClr val="FFFFFF"/>
                </a:solidFill>
                <a:latin typeface="IBM Plex Sans" pitchFamily="34" charset="0"/>
                <a:ea typeface="IBM Plex Sans" pitchFamily="34" charset="-122"/>
                <a:cs typeface="IBM Plex Sans" pitchFamily="34" charset="-120"/>
              </a:rPr>
              <a:t>6</a:t>
            </a:r>
            <a:endParaRPr lang="en-US" sz="1200" dirty="0"/>
          </a:p>
        </p:txBody>
      </p:sp>
      <p:sp>
        <p:nvSpPr>
          <p:cNvPr id="81" name="Text 71"/>
          <p:cNvSpPr/>
          <p:nvPr/>
        </p:nvSpPr>
        <p:spPr>
          <a:xfrm>
            <a:off x="8594183" y="5933227"/>
            <a:ext cx="1822215" cy="325365"/>
          </a:xfrm>
          <a:prstGeom prst="roundRect">
            <a:avLst>
              <a:gd name="adj" fmla="val 50000"/>
            </a:avLst>
          </a:prstGeom>
          <a:solidFill>
            <a:srgbClr val="E8F0FE"/>
          </a:solidFill>
          <a:ln w="12700">
            <a:solidFill>
              <a:srgbClr val="2563C9"/>
            </a:solidFill>
            <a:prstDash val="solid"/>
          </a:ln>
        </p:spPr>
        <p:txBody>
          <a:bodyPr wrap="none" lIns="0" tIns="0" rIns="0" bIns="0" rtlCol="0" anchor="ctr">
            <a:normAutofit/>
          </a:bodyPr>
          <a:lstStyle/>
          <a:p>
            <a:pPr algn="ctr" indent="0" marL="0">
              <a:lnSpc>
                <a:spcPts val="1680"/>
              </a:lnSpc>
              <a:buNone/>
            </a:pPr>
            <a:r>
              <a:rPr lang="en-US" sz="1200" b="1" dirty="0">
                <a:solidFill>
                  <a:srgbClr val="174EA6"/>
                </a:solidFill>
                <a:latin typeface="IBM Plex Sans" pitchFamily="34" charset="0"/>
                <a:ea typeface="IBM Plex Sans" pitchFamily="34" charset="-122"/>
                <a:cs typeface="IBM Plex Sans" pitchFamily="34" charset="-120"/>
              </a:rPr>
              <a:t>Publish to [Catalogue]</a:t>
            </a:r>
            <a:endParaRPr lang="en-US" sz="1200" dirty="0"/>
          </a:p>
        </p:txBody>
      </p:sp>
      <p:pic>
        <p:nvPicPr>
          <p:cNvPr id="82" name="Image 8" descr="connector">    </p:cNvPr>
          <p:cNvPicPr>
            <a:picLocks noChangeAspect="1"/>
          </p:cNvPicPr>
          <p:nvPr/>
        </p:nvPicPr>
        <p:blipFill>
          <a:blip r:embed="rId9"/>
          <a:srcRect l="0" r="0" t="-15" b="-15"/>
          <a:stretch/>
        </p:blipFill>
        <p:spPr>
          <a:xfrm>
            <a:off x="6299128" y="1968500"/>
            <a:ext cx="101564" cy="304782"/>
          </a:xfrm>
          <a:prstGeom prst="rect">
            <a:avLst/>
          </a:prstGeom>
        </p:spPr>
      </p:pic>
      <p:pic>
        <p:nvPicPr>
          <p:cNvPr id="83" name="Image 9" descr="connector">    </p:cNvPr>
          <p:cNvPicPr>
            <a:picLocks noChangeAspect="1"/>
          </p:cNvPicPr>
          <p:nvPr/>
        </p:nvPicPr>
        <p:blipFill>
          <a:blip r:embed="rId10"/>
          <a:srcRect l="0" r="0" t="-15" b="-15"/>
          <a:stretch/>
        </p:blipFill>
        <p:spPr>
          <a:xfrm>
            <a:off x="10045627" y="1968500"/>
            <a:ext cx="101564" cy="304782"/>
          </a:xfrm>
          <a:prstGeom prst="rect">
            <a:avLst/>
          </a:prstGeom>
        </p:spPr>
      </p:pic>
      <p:pic>
        <p:nvPicPr>
          <p:cNvPr id="84" name="Image 10" descr="connector">    </p:cNvPr>
          <p:cNvPicPr>
            <a:picLocks noChangeAspect="1"/>
          </p:cNvPicPr>
          <p:nvPr/>
        </p:nvPicPr>
        <p:blipFill>
          <a:blip r:embed="rId11"/>
          <a:srcRect l="0" r="0" t="-15" b="-15"/>
          <a:stretch/>
        </p:blipFill>
        <p:spPr>
          <a:xfrm>
            <a:off x="6680128" y="4432281"/>
            <a:ext cx="101564" cy="304782"/>
          </a:xfrm>
          <a:prstGeom prst="rect">
            <a:avLst/>
          </a:prstGeom>
        </p:spPr>
      </p:pic>
      <p:pic>
        <p:nvPicPr>
          <p:cNvPr id="85" name="Image 11" descr="connector">    </p:cNvPr>
          <p:cNvPicPr>
            <a:picLocks noChangeAspect="1"/>
          </p:cNvPicPr>
          <p:nvPr/>
        </p:nvPicPr>
        <p:blipFill>
          <a:blip r:embed="rId12"/>
          <a:srcRect l="0" r="0" t="-15" b="-15"/>
          <a:stretch/>
        </p:blipFill>
        <p:spPr>
          <a:xfrm>
            <a:off x="7823128" y="4432281"/>
            <a:ext cx="101564" cy="304782"/>
          </a:xfrm>
          <a:prstGeom prst="rect">
            <a:avLst/>
          </a:prstGeom>
        </p:spPr>
      </p:pic>
      <p:pic>
        <p:nvPicPr>
          <p:cNvPr id="86" name="Image 12" descr="Validated draft flows from the control plane to governance">    </p:cNvPr>
          <p:cNvPicPr>
            <a:picLocks noChangeAspect="1"/>
          </p:cNvPicPr>
          <p:nvPr/>
        </p:nvPicPr>
        <p:blipFill>
          <a:blip r:embed="rId13"/>
          <a:srcRect l="0" r="0" t="-2" b="-2"/>
          <a:stretch/>
        </p:blipFill>
        <p:spPr>
          <a:xfrm>
            <a:off x="11734781" y="3289281"/>
            <a:ext cx="304782" cy="2870128"/>
          </a:xfrm>
          <a:prstGeom prst="rect">
            <a:avLst/>
          </a:prstGeom>
        </p:spPr>
      </p:pic>
      <p:pic>
        <p:nvPicPr>
          <p:cNvPr id="87" name="Image 13" descr="Human edits and rejections loop back to the agent">    </p:cNvPr>
          <p:cNvPicPr>
            <a:picLocks noChangeAspect="1"/>
          </p:cNvPicPr>
          <p:nvPr/>
        </p:nvPicPr>
        <p:blipFill>
          <a:blip r:embed="rId14"/>
          <a:srcRect l="0" r="0" t="-2" b="-2"/>
          <a:stretch/>
        </p:blipFill>
        <p:spPr>
          <a:xfrm>
            <a:off x="152346" y="3289281"/>
            <a:ext cx="304782" cy="287012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128" y="528293"/>
            <a:ext cx="5129183" cy="2388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563C9"/>
                </a:solidFill>
                <a:latin typeface="IBM Plex Sans" pitchFamily="34" charset="0"/>
                <a:ea typeface="IBM Plex Sans" pitchFamily="34" charset="-122"/>
                <a:cs typeface="IBM Plex Sans" pitchFamily="34" charset="-120"/>
              </a:rPr>
              <a:t>REFERENCE ARCHITECTURE · RUNTIME FLOW</a:t>
            </a:r>
            <a:endParaRPr lang="en-US" sz="1200" dirty="0"/>
          </a:p>
        </p:txBody>
      </p:sp>
      <p:sp>
        <p:nvSpPr>
          <p:cNvPr id="3" name="Text 1"/>
          <p:cNvSpPr/>
          <p:nvPr>
            <p:ph type="title"/>
          </p:nvPr>
        </p:nvSpPr>
        <p:spPr>
          <a:xfrm>
            <a:off x="457128" y="779768"/>
            <a:ext cx="5975747" cy="388631"/>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14213D"/>
                </a:solidFill>
                <a:latin typeface="IBM Plex Sans" pitchFamily="34" charset="0"/>
                <a:ea typeface="IBM Plex Sans" pitchFamily="34" charset="-122"/>
                <a:cs typeface="IBM Plex Sans" pitchFamily="34" charset="-120"/>
              </a:rPr>
              <a:t>How a data product gets curated</a:t>
            </a:r>
            <a:endParaRPr lang="en-US" sz="2600" dirty="0"/>
          </a:p>
        </p:txBody>
      </p:sp>
      <p:pic>
        <p:nvPicPr>
          <p:cNvPr id="4" name="Image 0" descr="Solid line">    </p:cNvPr>
          <p:cNvPicPr>
            <a:picLocks noChangeAspect="1"/>
          </p:cNvPicPr>
          <p:nvPr/>
        </p:nvPicPr>
        <p:blipFill>
          <a:blip r:embed="rId1"/>
          <a:srcRect l="-15" r="-15" t="0" b="0"/>
          <a:stretch/>
        </p:blipFill>
        <p:spPr>
          <a:xfrm>
            <a:off x="7983320" y="1010858"/>
            <a:ext cx="304782" cy="50782"/>
          </a:xfrm>
          <a:prstGeom prst="rect">
            <a:avLst/>
          </a:prstGeom>
        </p:spPr>
      </p:pic>
      <p:sp>
        <p:nvSpPr>
          <p:cNvPr id="5" name="Text 2"/>
          <p:cNvSpPr/>
          <p:nvPr/>
        </p:nvSpPr>
        <p:spPr>
          <a:xfrm>
            <a:off x="8351603" y="929588"/>
            <a:ext cx="379124" cy="23881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Flow</a:t>
            </a:r>
            <a:endParaRPr lang="en-US" sz="1200" dirty="0"/>
          </a:p>
        </p:txBody>
      </p:sp>
      <p:pic>
        <p:nvPicPr>
          <p:cNvPr id="6" name="Image 1" descr="Dashed orange line">    </p:cNvPr>
          <p:cNvPicPr>
            <a:picLocks noChangeAspect="1"/>
          </p:cNvPicPr>
          <p:nvPr/>
        </p:nvPicPr>
        <p:blipFill>
          <a:blip r:embed="rId2"/>
          <a:srcRect l="-15" r="-15" t="0" b="0"/>
          <a:stretch/>
        </p:blipFill>
        <p:spPr>
          <a:xfrm>
            <a:off x="8895773" y="1010858"/>
            <a:ext cx="304782" cy="50782"/>
          </a:xfrm>
          <a:prstGeom prst="rect">
            <a:avLst/>
          </a:prstGeom>
        </p:spPr>
      </p:pic>
      <p:sp>
        <p:nvSpPr>
          <p:cNvPr id="7" name="Text 3"/>
          <p:cNvSpPr/>
          <p:nvPr/>
        </p:nvSpPr>
        <p:spPr>
          <a:xfrm>
            <a:off x="9264055" y="929588"/>
            <a:ext cx="903360" cy="23881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Rework loop</a:t>
            </a:r>
            <a:endParaRPr lang="en-US" sz="1200" dirty="0"/>
          </a:p>
        </p:txBody>
      </p:sp>
      <p:pic>
        <p:nvPicPr>
          <p:cNvPr id="8" name="Image 2" descr="Dashed blue line">    </p:cNvPr>
          <p:cNvPicPr>
            <a:picLocks noChangeAspect="1"/>
          </p:cNvPicPr>
          <p:nvPr/>
        </p:nvPicPr>
        <p:blipFill>
          <a:blip r:embed="rId3"/>
          <a:srcRect l="-15" r="-15" t="0" b="0"/>
          <a:stretch/>
        </p:blipFill>
        <p:spPr>
          <a:xfrm>
            <a:off x="10332460" y="1010858"/>
            <a:ext cx="304782" cy="50782"/>
          </a:xfrm>
          <a:prstGeom prst="rect">
            <a:avLst/>
          </a:prstGeom>
        </p:spPr>
      </p:pic>
      <p:sp>
        <p:nvSpPr>
          <p:cNvPr id="9" name="Text 4"/>
          <p:cNvSpPr/>
          <p:nvPr/>
        </p:nvSpPr>
        <p:spPr>
          <a:xfrm>
            <a:off x="10700742" y="929588"/>
            <a:ext cx="1084750" cy="23881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Context lookup</a:t>
            </a:r>
            <a:endParaRPr lang="en-US" sz="1200" dirty="0"/>
          </a:p>
        </p:txBody>
      </p:sp>
      <p:sp>
        <p:nvSpPr>
          <p:cNvPr id="10" name="Shape 5"/>
          <p:cNvSpPr/>
          <p:nvPr/>
        </p:nvSpPr>
        <p:spPr>
          <a:xfrm>
            <a:off x="460303" y="1298521"/>
            <a:ext cx="11271214" cy="1415996"/>
          </a:xfrm>
          <a:prstGeom prst="roundRect">
            <a:avLst>
              <a:gd name="adj" fmla="val 6951"/>
            </a:avLst>
          </a:prstGeom>
          <a:solidFill>
            <a:srgbClr val="FFF8F1"/>
          </a:solidFill>
          <a:ln w="6350">
            <a:solidFill>
              <a:srgbClr val="F0D5B8"/>
            </a:solidFill>
            <a:prstDash val="solid"/>
          </a:ln>
        </p:spPr>
      </p:sp>
      <p:sp>
        <p:nvSpPr>
          <p:cNvPr id="11" name="Text 6"/>
          <p:cNvSpPr/>
          <p:nvPr/>
        </p:nvSpPr>
        <p:spPr>
          <a:xfrm>
            <a:off x="615246" y="1793063"/>
            <a:ext cx="11290166" cy="23881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8A3F0E"/>
                </a:solidFill>
                <a:latin typeface="IBM Plex Sans" pitchFamily="34" charset="0"/>
                <a:ea typeface="IBM Plex Sans" pitchFamily="34" charset="-122"/>
                <a:cs typeface="IBM Plex Sans" pitchFamily="34" charset="-120"/>
              </a:rPr>
              <a:t>YOU</a:t>
            </a:r>
            <a:endParaRPr lang="en-US" sz="1200" dirty="0"/>
          </a:p>
        </p:txBody>
      </p:sp>
      <p:sp>
        <p:nvSpPr>
          <p:cNvPr id="12" name="Text 7"/>
          <p:cNvSpPr/>
          <p:nvPr/>
        </p:nvSpPr>
        <p:spPr>
          <a:xfrm>
            <a:off x="615246" y="2006473"/>
            <a:ext cx="11290166"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Chat &amp; canvas</a:t>
            </a:r>
            <a:endParaRPr lang="en-US" sz="1200" dirty="0"/>
          </a:p>
        </p:txBody>
      </p:sp>
      <p:sp>
        <p:nvSpPr>
          <p:cNvPr id="13" name="Shape 8"/>
          <p:cNvSpPr/>
          <p:nvPr/>
        </p:nvSpPr>
        <p:spPr>
          <a:xfrm>
            <a:off x="460303" y="2822521"/>
            <a:ext cx="11271214" cy="1898650"/>
          </a:xfrm>
          <a:prstGeom prst="roundRect">
            <a:avLst>
              <a:gd name="adj" fmla="val 5184"/>
            </a:avLst>
          </a:prstGeom>
          <a:solidFill>
            <a:srgbClr val="EEF3FD"/>
          </a:solidFill>
          <a:ln w="6350">
            <a:solidFill>
              <a:srgbClr val="C9D7F2"/>
            </a:solidFill>
            <a:prstDash val="solid"/>
          </a:ln>
        </p:spPr>
      </p:sp>
      <p:sp>
        <p:nvSpPr>
          <p:cNvPr id="14" name="Text 9"/>
          <p:cNvSpPr/>
          <p:nvPr/>
        </p:nvSpPr>
        <p:spPr>
          <a:xfrm>
            <a:off x="615246" y="3558434"/>
            <a:ext cx="11290166" cy="23881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563C9"/>
                </a:solidFill>
                <a:latin typeface="IBM Plex Sans" pitchFamily="34" charset="0"/>
                <a:ea typeface="IBM Plex Sans" pitchFamily="34" charset="-122"/>
                <a:cs typeface="IBM Plex Sans" pitchFamily="34" charset="-120"/>
              </a:rPr>
              <a:t>HARNESS</a:t>
            </a:r>
            <a:endParaRPr lang="en-US" sz="1200" dirty="0"/>
          </a:p>
        </p:txBody>
      </p:sp>
      <p:sp>
        <p:nvSpPr>
          <p:cNvPr id="15" name="Text 10"/>
          <p:cNvSpPr/>
          <p:nvPr/>
        </p:nvSpPr>
        <p:spPr>
          <a:xfrm>
            <a:off x="615246" y="3771846"/>
            <a:ext cx="11290166"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Agents</a:t>
            </a:r>
            <a:endParaRPr lang="en-US" sz="1200" dirty="0"/>
          </a:p>
        </p:txBody>
      </p:sp>
      <p:sp>
        <p:nvSpPr>
          <p:cNvPr id="16" name="Shape 11"/>
          <p:cNvSpPr/>
          <p:nvPr/>
        </p:nvSpPr>
        <p:spPr>
          <a:xfrm>
            <a:off x="460303" y="4829173"/>
            <a:ext cx="11271214" cy="755650"/>
          </a:xfrm>
          <a:prstGeom prst="roundRect">
            <a:avLst>
              <a:gd name="adj" fmla="val 13025"/>
            </a:avLst>
          </a:prstGeom>
          <a:solidFill>
            <a:srgbClr val="FFFFFF"/>
          </a:solidFill>
          <a:ln w="6350">
            <a:solidFill>
              <a:srgbClr val="DADCE0"/>
            </a:solidFill>
            <a:prstDash val="solid"/>
          </a:ln>
        </p:spPr>
      </p:sp>
      <p:sp>
        <p:nvSpPr>
          <p:cNvPr id="17" name="Text 12"/>
          <p:cNvSpPr/>
          <p:nvPr/>
        </p:nvSpPr>
        <p:spPr>
          <a:xfrm>
            <a:off x="615246" y="4993588"/>
            <a:ext cx="11290166" cy="23881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563C9"/>
                </a:solidFill>
                <a:latin typeface="IBM Plex Sans" pitchFamily="34" charset="0"/>
                <a:ea typeface="IBM Plex Sans" pitchFamily="34" charset="-122"/>
                <a:cs typeface="IBM Plex Sans" pitchFamily="34" charset="-120"/>
              </a:rPr>
              <a:t>CONTEXT</a:t>
            </a:r>
            <a:endParaRPr lang="en-US" sz="1200" dirty="0"/>
          </a:p>
        </p:txBody>
      </p:sp>
      <p:sp>
        <p:nvSpPr>
          <p:cNvPr id="18" name="Text 13"/>
          <p:cNvSpPr/>
          <p:nvPr/>
        </p:nvSpPr>
        <p:spPr>
          <a:xfrm>
            <a:off x="615246" y="5206998"/>
            <a:ext cx="11290166"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MCP &amp; tools</a:t>
            </a:r>
            <a:endParaRPr lang="en-US" sz="1200" dirty="0"/>
          </a:p>
        </p:txBody>
      </p:sp>
      <p:sp>
        <p:nvSpPr>
          <p:cNvPr id="19" name="Shape 14"/>
          <p:cNvSpPr/>
          <p:nvPr/>
        </p:nvSpPr>
        <p:spPr>
          <a:xfrm>
            <a:off x="457128" y="5715000"/>
            <a:ext cx="11277564" cy="533346"/>
          </a:xfrm>
          <a:prstGeom prst="roundRect">
            <a:avLst>
              <a:gd name="adj" fmla="val 19050"/>
            </a:avLst>
          </a:prstGeom>
          <a:solidFill>
            <a:srgbClr val="F5F7FA"/>
          </a:solidFill>
          <a:ln/>
        </p:spPr>
      </p:sp>
      <p:sp>
        <p:nvSpPr>
          <p:cNvPr id="20" name="Text 15"/>
          <p:cNvSpPr/>
          <p:nvPr/>
        </p:nvSpPr>
        <p:spPr>
          <a:xfrm>
            <a:off x="609474" y="5874922"/>
            <a:ext cx="1953324" cy="238810"/>
          </a:xfrm>
          <a:prstGeom prst="rect">
            <a:avLst/>
          </a:prstGeom>
          <a:noFill/>
          <a:ln/>
        </p:spPr>
        <p:txBody>
          <a:bodyPr wrap="none" lIns="0" tIns="0" rIns="0" bIns="0" rtlCol="0" anchor="t">
            <a:normAutofit/>
          </a:bodyPr>
          <a:lstStyle/>
          <a:p>
            <a:pPr algn="l" indent="0" marL="0">
              <a:lnSpc>
                <a:spcPts val="1680"/>
              </a:lnSpc>
              <a:buNone/>
            </a:pPr>
            <a:r>
              <a:rPr lang="en-US" sz="1200" b="1" spc="50" kern="0" dirty="0">
                <a:solidFill>
                  <a:srgbClr val="2563C9"/>
                </a:solidFill>
                <a:latin typeface="IBM Plex Sans" pitchFamily="34" charset="0"/>
                <a:ea typeface="IBM Plex Sans" pitchFamily="34" charset="-122"/>
                <a:cs typeface="IBM Plex Sans" pitchFamily="34" charset="-120"/>
              </a:rPr>
              <a:t>HARNESS CAPABILITIES</a:t>
            </a:r>
            <a:endParaRPr lang="en-US" sz="1200" dirty="0"/>
          </a:p>
        </p:txBody>
      </p:sp>
      <p:sp>
        <p:nvSpPr>
          <p:cNvPr id="21" name="Text 16"/>
          <p:cNvSpPr/>
          <p:nvPr/>
        </p:nvSpPr>
        <p:spPr>
          <a:xfrm>
            <a:off x="2734288" y="5836859"/>
            <a:ext cx="900094" cy="289538"/>
          </a:xfrm>
          <a:prstGeom prst="roundRect">
            <a:avLst>
              <a:gd name="adj" fmla="val 21931"/>
            </a:avLst>
          </a:prstGeom>
          <a:solidFill>
            <a:srgbClr val="DDE7F8"/>
          </a:solidFill>
          <a:ln/>
        </p:spPr>
        <p:txBody>
          <a:bodyPr wrap="none" lIns="0" tIns="0" rIns="0" bIns="0" rtlCol="0" anchor="ctr">
            <a:normAutofit/>
          </a:bodyPr>
          <a:lstStyle/>
          <a:p>
            <a:pPr algn="ctr" indent="0" marL="0">
              <a:lnSpc>
                <a:spcPts val="1680"/>
              </a:lnSpc>
              <a:buNone/>
            </a:pPr>
            <a:r>
              <a:rPr lang="en-US" sz="1200" dirty="0">
                <a:solidFill>
                  <a:srgbClr val="1A3D7A"/>
                </a:solidFill>
                <a:latin typeface="IBM Plex Sans" pitchFamily="34" charset="0"/>
                <a:ea typeface="IBM Plex Sans" pitchFamily="34" charset="-122"/>
                <a:cs typeface="IBM Plex Sans" pitchFamily="34" charset="-120"/>
              </a:rPr>
              <a:t>Subagents</a:t>
            </a:r>
            <a:endParaRPr lang="en-US" sz="1200" dirty="0"/>
          </a:p>
        </p:txBody>
      </p:sp>
      <p:sp>
        <p:nvSpPr>
          <p:cNvPr id="22" name="Text 17"/>
          <p:cNvSpPr/>
          <p:nvPr/>
        </p:nvSpPr>
        <p:spPr>
          <a:xfrm>
            <a:off x="3710510" y="5836859"/>
            <a:ext cx="541103" cy="289538"/>
          </a:xfrm>
          <a:prstGeom prst="roundRect">
            <a:avLst>
              <a:gd name="adj" fmla="val 21931"/>
            </a:avLst>
          </a:prstGeom>
          <a:solidFill>
            <a:srgbClr val="DDE7F8"/>
          </a:solidFill>
          <a:ln/>
        </p:spPr>
        <p:txBody>
          <a:bodyPr wrap="none" lIns="0" tIns="0" rIns="0" bIns="0" rtlCol="0" anchor="ctr">
            <a:normAutofit/>
          </a:bodyPr>
          <a:lstStyle/>
          <a:p>
            <a:pPr algn="ctr" indent="0" marL="0">
              <a:lnSpc>
                <a:spcPts val="1680"/>
              </a:lnSpc>
              <a:buNone/>
            </a:pPr>
            <a:r>
              <a:rPr lang="en-US" sz="1200" dirty="0">
                <a:solidFill>
                  <a:srgbClr val="1A3D7A"/>
                </a:solidFill>
                <a:latin typeface="IBM Plex Sans" pitchFamily="34" charset="0"/>
                <a:ea typeface="IBM Plex Sans" pitchFamily="34" charset="-122"/>
                <a:cs typeface="IBM Plex Sans" pitchFamily="34" charset="-120"/>
              </a:rPr>
              <a:t>Skills</a:t>
            </a:r>
            <a:endParaRPr lang="en-US" sz="1200" dirty="0"/>
          </a:p>
        </p:txBody>
      </p:sp>
      <p:sp>
        <p:nvSpPr>
          <p:cNvPr id="23" name="Text 18"/>
          <p:cNvSpPr/>
          <p:nvPr/>
        </p:nvSpPr>
        <p:spPr>
          <a:xfrm>
            <a:off x="4327741" y="5836859"/>
            <a:ext cx="904424" cy="289538"/>
          </a:xfrm>
          <a:prstGeom prst="roundRect">
            <a:avLst>
              <a:gd name="adj" fmla="val 21931"/>
            </a:avLst>
          </a:prstGeom>
          <a:solidFill>
            <a:srgbClr val="DDE7F8"/>
          </a:solidFill>
          <a:ln/>
        </p:spPr>
        <p:txBody>
          <a:bodyPr wrap="none" lIns="0" tIns="0" rIns="0" bIns="0" rtlCol="0" anchor="ctr">
            <a:normAutofit/>
          </a:bodyPr>
          <a:lstStyle/>
          <a:p>
            <a:pPr algn="ctr" indent="0" marL="0">
              <a:lnSpc>
                <a:spcPts val="1680"/>
              </a:lnSpc>
              <a:buNone/>
            </a:pPr>
            <a:r>
              <a:rPr lang="en-US" sz="1200" dirty="0">
                <a:solidFill>
                  <a:srgbClr val="1A3D7A"/>
                </a:solidFill>
                <a:latin typeface="IBM Plex Sans" pitchFamily="34" charset="0"/>
                <a:ea typeface="IBM Plex Sans" pitchFamily="34" charset="-122"/>
                <a:cs typeface="IBM Plex Sans" pitchFamily="34" charset="-120"/>
              </a:rPr>
              <a:t>MCP client</a:t>
            </a:r>
            <a:endParaRPr lang="en-US" sz="1200" dirty="0"/>
          </a:p>
        </p:txBody>
      </p:sp>
      <p:sp>
        <p:nvSpPr>
          <p:cNvPr id="24" name="Text 19"/>
          <p:cNvSpPr/>
          <p:nvPr/>
        </p:nvSpPr>
        <p:spPr>
          <a:xfrm>
            <a:off x="5308293" y="5836859"/>
            <a:ext cx="1549797" cy="289538"/>
          </a:xfrm>
          <a:prstGeom prst="roundRect">
            <a:avLst>
              <a:gd name="adj" fmla="val 21931"/>
            </a:avLst>
          </a:prstGeom>
          <a:solidFill>
            <a:srgbClr val="DDE7F8"/>
          </a:solidFill>
          <a:ln/>
        </p:spPr>
        <p:txBody>
          <a:bodyPr wrap="none" lIns="0" tIns="0" rIns="0" bIns="0" rtlCol="0" anchor="ctr">
            <a:normAutofit/>
          </a:bodyPr>
          <a:lstStyle/>
          <a:p>
            <a:pPr algn="ctr" indent="0" marL="0">
              <a:lnSpc>
                <a:spcPts val="1680"/>
              </a:lnSpc>
              <a:buNone/>
            </a:pPr>
            <a:r>
              <a:rPr lang="en-US" sz="1200" dirty="0">
                <a:solidFill>
                  <a:srgbClr val="1A3D7A"/>
                </a:solidFill>
                <a:latin typeface="IBM Plex Sans" pitchFamily="34" charset="0"/>
                <a:ea typeface="IBM Plex Sans" pitchFamily="34" charset="-122"/>
                <a:cs typeface="IBM Plex Sans" pitchFamily="34" charset="-120"/>
              </a:rPr>
              <a:t>Context compaction</a:t>
            </a:r>
            <a:endParaRPr lang="en-US" sz="1200" dirty="0"/>
          </a:p>
        </p:txBody>
      </p:sp>
      <p:sp>
        <p:nvSpPr>
          <p:cNvPr id="25" name="Text 20"/>
          <p:cNvSpPr/>
          <p:nvPr/>
        </p:nvSpPr>
        <p:spPr>
          <a:xfrm>
            <a:off x="6934218" y="5836859"/>
            <a:ext cx="1493874" cy="289538"/>
          </a:xfrm>
          <a:prstGeom prst="roundRect">
            <a:avLst>
              <a:gd name="adj" fmla="val 21931"/>
            </a:avLst>
          </a:prstGeom>
          <a:solidFill>
            <a:srgbClr val="DDE7F8"/>
          </a:solidFill>
          <a:ln/>
        </p:spPr>
        <p:txBody>
          <a:bodyPr wrap="none" lIns="0" tIns="0" rIns="0" bIns="0" rtlCol="0" anchor="ctr">
            <a:normAutofit/>
          </a:bodyPr>
          <a:lstStyle/>
          <a:p>
            <a:pPr algn="ctr" indent="0" marL="0">
              <a:lnSpc>
                <a:spcPts val="1680"/>
              </a:lnSpc>
              <a:buNone/>
            </a:pPr>
            <a:r>
              <a:rPr lang="en-US" sz="1200" dirty="0">
                <a:solidFill>
                  <a:srgbClr val="1A3D7A"/>
                </a:solidFill>
                <a:latin typeface="IBM Plex Sans" pitchFamily="34" charset="0"/>
                <a:ea typeface="IBM Plex Sans" pitchFamily="34" charset="-122"/>
                <a:cs typeface="IBM Plex Sans" pitchFamily="34" charset="-120"/>
              </a:rPr>
              <a:t>File-system offload</a:t>
            </a:r>
            <a:endParaRPr lang="en-US" sz="1200" dirty="0"/>
          </a:p>
        </p:txBody>
      </p:sp>
      <p:sp>
        <p:nvSpPr>
          <p:cNvPr id="26" name="Text 21"/>
          <p:cNvSpPr/>
          <p:nvPr/>
        </p:nvSpPr>
        <p:spPr>
          <a:xfrm>
            <a:off x="9581735" y="5874922"/>
            <a:ext cx="2060629" cy="23881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OpenAI Agents SDK · [Model]</a:t>
            </a:r>
            <a:endParaRPr lang="en-US" sz="1200" dirty="0"/>
          </a:p>
        </p:txBody>
      </p:sp>
      <p:sp>
        <p:nvSpPr>
          <p:cNvPr id="27" name="Text 22"/>
          <p:cNvSpPr/>
          <p:nvPr/>
        </p:nvSpPr>
        <p:spPr>
          <a:xfrm>
            <a:off x="1879564" y="5062231"/>
            <a:ext cx="819908" cy="289538"/>
          </a:xfrm>
          <a:prstGeom prst="roundRect">
            <a:avLst>
              <a:gd name="adj" fmla="val 21931"/>
            </a:avLst>
          </a:prstGeom>
          <a:solidFill>
            <a:srgbClr val="F1F4F8"/>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Ontology</a:t>
            </a:r>
            <a:endParaRPr lang="en-US" sz="1200" dirty="0"/>
          </a:p>
        </p:txBody>
      </p:sp>
      <p:sp>
        <p:nvSpPr>
          <p:cNvPr id="28" name="Text 23"/>
          <p:cNvSpPr/>
          <p:nvPr/>
        </p:nvSpPr>
        <p:spPr>
          <a:xfrm>
            <a:off x="2775599" y="5062231"/>
            <a:ext cx="653401" cy="289538"/>
          </a:xfrm>
          <a:prstGeom prst="roundRect">
            <a:avLst>
              <a:gd name="adj" fmla="val 21931"/>
            </a:avLst>
          </a:prstGeom>
          <a:solidFill>
            <a:srgbClr val="F1F4F8"/>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MetaQ</a:t>
            </a:r>
            <a:endParaRPr lang="en-US" sz="1200" dirty="0"/>
          </a:p>
        </p:txBody>
      </p:sp>
      <p:sp>
        <p:nvSpPr>
          <p:cNvPr id="29" name="Text 24"/>
          <p:cNvSpPr/>
          <p:nvPr/>
        </p:nvSpPr>
        <p:spPr>
          <a:xfrm>
            <a:off x="3505128" y="5062231"/>
            <a:ext cx="1081484" cy="289538"/>
          </a:xfrm>
          <a:prstGeom prst="roundRect">
            <a:avLst>
              <a:gd name="adj" fmla="val 21931"/>
            </a:avLst>
          </a:prstGeom>
          <a:solidFill>
            <a:srgbClr val="F1F4F8"/>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Denodo MCP</a:t>
            </a:r>
            <a:endParaRPr lang="en-US" sz="1200" dirty="0"/>
          </a:p>
        </p:txBody>
      </p:sp>
      <p:sp>
        <p:nvSpPr>
          <p:cNvPr id="30" name="Text 25"/>
          <p:cNvSpPr/>
          <p:nvPr/>
        </p:nvSpPr>
        <p:spPr>
          <a:xfrm>
            <a:off x="4662740" y="5062231"/>
            <a:ext cx="1048832" cy="289538"/>
          </a:xfrm>
          <a:prstGeom prst="roundRect">
            <a:avLst>
              <a:gd name="adj" fmla="val 21931"/>
            </a:avLst>
          </a:prstGeom>
          <a:solidFill>
            <a:srgbClr val="F1F4F8"/>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Code search</a:t>
            </a:r>
            <a:endParaRPr lang="en-US" sz="1200" dirty="0"/>
          </a:p>
        </p:txBody>
      </p:sp>
      <p:sp>
        <p:nvSpPr>
          <p:cNvPr id="31" name="Text 26"/>
          <p:cNvSpPr/>
          <p:nvPr/>
        </p:nvSpPr>
        <p:spPr>
          <a:xfrm>
            <a:off x="5787700" y="5062231"/>
            <a:ext cx="1235815" cy="289538"/>
          </a:xfrm>
          <a:prstGeom prst="roundRect">
            <a:avLst>
              <a:gd name="adj" fmla="val 21931"/>
            </a:avLst>
          </a:prstGeom>
          <a:solidFill>
            <a:srgbClr val="F1F4F8"/>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Prior mappings</a:t>
            </a:r>
            <a:endParaRPr lang="en-US" sz="1200" dirty="0"/>
          </a:p>
        </p:txBody>
      </p:sp>
      <p:sp>
        <p:nvSpPr>
          <p:cNvPr id="32" name="Text 27"/>
          <p:cNvSpPr/>
          <p:nvPr/>
        </p:nvSpPr>
        <p:spPr>
          <a:xfrm>
            <a:off x="8883596" y="5100293"/>
            <a:ext cx="2779713" cy="23881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The main agent pulls only what it needs</a:t>
            </a:r>
            <a:endParaRPr lang="en-US" sz="1200" dirty="0"/>
          </a:p>
        </p:txBody>
      </p:sp>
      <p:sp>
        <p:nvSpPr>
          <p:cNvPr id="33" name="Shape 28"/>
          <p:cNvSpPr/>
          <p:nvPr/>
        </p:nvSpPr>
        <p:spPr>
          <a:xfrm>
            <a:off x="1885914" y="1466848"/>
            <a:ext cx="1358864" cy="1079428"/>
          </a:xfrm>
          <a:prstGeom prst="roundRect">
            <a:avLst>
              <a:gd name="adj" fmla="val 7648"/>
            </a:avLst>
          </a:prstGeom>
          <a:solidFill>
            <a:srgbClr val="FFFFFF"/>
          </a:solidFill>
          <a:ln w="12700">
            <a:solidFill>
              <a:srgbClr val="D9822B"/>
            </a:solidFill>
            <a:prstDash val="solid"/>
          </a:ln>
        </p:spPr>
      </p:sp>
      <p:sp>
        <p:nvSpPr>
          <p:cNvPr id="34" name="Text 29"/>
          <p:cNvSpPr/>
          <p:nvPr/>
        </p:nvSpPr>
        <p:spPr>
          <a:xfrm>
            <a:off x="1979955" y="1560891"/>
            <a:ext cx="1221581"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3F0E"/>
                </a:solidFill>
                <a:latin typeface="IBM Plex Sans" pitchFamily="34" charset="0"/>
                <a:ea typeface="IBM Plex Sans" pitchFamily="34" charset="-122"/>
                <a:cs typeface="IBM Plex Sans" pitchFamily="34" charset="-120"/>
              </a:rPr>
              <a:t>1 · You</a:t>
            </a:r>
            <a:endParaRPr lang="en-US" sz="1200" dirty="0"/>
          </a:p>
        </p:txBody>
      </p:sp>
      <p:sp>
        <p:nvSpPr>
          <p:cNvPr id="35" name="Text 30"/>
          <p:cNvSpPr/>
          <p:nvPr/>
        </p:nvSpPr>
        <p:spPr>
          <a:xfrm>
            <a:off x="1979955" y="1799647"/>
            <a:ext cx="122158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Start</a:t>
            </a:r>
            <a:endParaRPr lang="en-US" sz="1400" dirty="0"/>
          </a:p>
        </p:txBody>
      </p:sp>
      <p:sp>
        <p:nvSpPr>
          <p:cNvPr id="36" name="Text 31"/>
          <p:cNvSpPr/>
          <p:nvPr/>
        </p:nvSpPr>
        <p:spPr>
          <a:xfrm>
            <a:off x="1979955" y="2038313"/>
            <a:ext cx="1221581" cy="43688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Intent + docs</a:t>
            </a:r>
            <a:endParaRPr lang="en-US" sz="1200" dirty="0"/>
          </a:p>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in chat</a:t>
            </a:r>
            <a:endParaRPr lang="en-US" sz="1200" dirty="0"/>
          </a:p>
        </p:txBody>
      </p:sp>
      <p:sp>
        <p:nvSpPr>
          <p:cNvPr id="37" name="Shape 32"/>
          <p:cNvSpPr/>
          <p:nvPr/>
        </p:nvSpPr>
        <p:spPr>
          <a:xfrm>
            <a:off x="3549632" y="2990848"/>
            <a:ext cx="1358864" cy="1079428"/>
          </a:xfrm>
          <a:prstGeom prst="roundRect">
            <a:avLst>
              <a:gd name="adj" fmla="val 7648"/>
            </a:avLst>
          </a:prstGeom>
          <a:solidFill>
            <a:srgbClr val="FFFFFF"/>
          </a:solidFill>
          <a:ln w="12700">
            <a:solidFill>
              <a:srgbClr val="BFD0EE"/>
            </a:solidFill>
            <a:prstDash val="solid"/>
          </a:ln>
        </p:spPr>
      </p:sp>
      <p:sp>
        <p:nvSpPr>
          <p:cNvPr id="38" name="Text 33"/>
          <p:cNvSpPr/>
          <p:nvPr/>
        </p:nvSpPr>
        <p:spPr>
          <a:xfrm>
            <a:off x="3643673" y="3084891"/>
            <a:ext cx="1221581"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IBM Plex Sans" pitchFamily="34" charset="0"/>
                <a:ea typeface="IBM Plex Sans" pitchFamily="34" charset="-122"/>
                <a:cs typeface="IBM Plex Sans" pitchFamily="34" charset="-120"/>
              </a:rPr>
              <a:t>2 · Main agent</a:t>
            </a:r>
            <a:endParaRPr lang="en-US" sz="1200" dirty="0"/>
          </a:p>
        </p:txBody>
      </p:sp>
      <p:sp>
        <p:nvSpPr>
          <p:cNvPr id="39" name="Text 34"/>
          <p:cNvSpPr/>
          <p:nvPr/>
        </p:nvSpPr>
        <p:spPr>
          <a:xfrm>
            <a:off x="3643673" y="3323647"/>
            <a:ext cx="122158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Maps intent</a:t>
            </a:r>
            <a:endParaRPr lang="en-US" sz="1400" dirty="0"/>
          </a:p>
        </p:txBody>
      </p:sp>
      <p:sp>
        <p:nvSpPr>
          <p:cNvPr id="40" name="Text 35"/>
          <p:cNvSpPr/>
          <p:nvPr/>
        </p:nvSpPr>
        <p:spPr>
          <a:xfrm>
            <a:off x="3643673" y="3562313"/>
            <a:ext cx="1221581" cy="43688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Queries the</a:t>
            </a:r>
            <a:endParaRPr lang="en-US" sz="1200" dirty="0"/>
          </a:p>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sources</a:t>
            </a:r>
            <a:endParaRPr lang="en-US" sz="1200" dirty="0"/>
          </a:p>
        </p:txBody>
      </p:sp>
      <p:sp>
        <p:nvSpPr>
          <p:cNvPr id="41" name="Shape 36"/>
          <p:cNvSpPr/>
          <p:nvPr/>
        </p:nvSpPr>
        <p:spPr>
          <a:xfrm>
            <a:off x="5213350" y="1466848"/>
            <a:ext cx="1358864" cy="1079428"/>
          </a:xfrm>
          <a:prstGeom prst="roundRect">
            <a:avLst>
              <a:gd name="adj" fmla="val 7648"/>
            </a:avLst>
          </a:prstGeom>
          <a:solidFill>
            <a:srgbClr val="FFFFFF"/>
          </a:solidFill>
          <a:ln w="12700">
            <a:solidFill>
              <a:srgbClr val="BFD0EE"/>
            </a:solidFill>
            <a:prstDash val="solid"/>
          </a:ln>
        </p:spPr>
      </p:sp>
      <p:sp>
        <p:nvSpPr>
          <p:cNvPr id="42" name="Text 37"/>
          <p:cNvSpPr/>
          <p:nvPr/>
        </p:nvSpPr>
        <p:spPr>
          <a:xfrm>
            <a:off x="5307391" y="1560891"/>
            <a:ext cx="1221581"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IBM Plex Sans" pitchFamily="34" charset="0"/>
                <a:ea typeface="IBM Plex Sans" pitchFamily="34" charset="-122"/>
                <a:cs typeface="IBM Plex Sans" pitchFamily="34" charset="-120"/>
              </a:rPr>
              <a:t>3 · Canvas</a:t>
            </a:r>
            <a:endParaRPr lang="en-US" sz="1200" dirty="0"/>
          </a:p>
        </p:txBody>
      </p:sp>
      <p:sp>
        <p:nvSpPr>
          <p:cNvPr id="43" name="Text 38"/>
          <p:cNvSpPr/>
          <p:nvPr/>
        </p:nvSpPr>
        <p:spPr>
          <a:xfrm>
            <a:off x="5307391" y="1799647"/>
            <a:ext cx="122158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Draft ready</a:t>
            </a:r>
            <a:endParaRPr lang="en-US" sz="1400" dirty="0"/>
          </a:p>
        </p:txBody>
      </p:sp>
      <p:sp>
        <p:nvSpPr>
          <p:cNvPr id="44" name="Text 39"/>
          <p:cNvSpPr/>
          <p:nvPr/>
        </p:nvSpPr>
        <p:spPr>
          <a:xfrm>
            <a:off x="5307391" y="2038313"/>
            <a:ext cx="1221581" cy="43688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Mapping</a:t>
            </a:r>
            <a:endParaRPr lang="en-US" sz="1200" dirty="0"/>
          </a:p>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in AG Grid</a:t>
            </a:r>
            <a:endParaRPr lang="en-US" sz="1200" dirty="0"/>
          </a:p>
        </p:txBody>
      </p:sp>
      <p:sp>
        <p:nvSpPr>
          <p:cNvPr id="45" name="Shape 40"/>
          <p:cNvSpPr/>
          <p:nvPr/>
        </p:nvSpPr>
        <p:spPr>
          <a:xfrm>
            <a:off x="6876978" y="2990848"/>
            <a:ext cx="1358864" cy="1079428"/>
          </a:xfrm>
          <a:prstGeom prst="roundRect">
            <a:avLst>
              <a:gd name="adj" fmla="val 7648"/>
            </a:avLst>
          </a:prstGeom>
          <a:solidFill>
            <a:srgbClr val="FFFFFF"/>
          </a:solidFill>
          <a:ln w="12700">
            <a:solidFill>
              <a:srgbClr val="BFD0EE"/>
            </a:solidFill>
            <a:prstDash val="solid"/>
          </a:ln>
        </p:spPr>
      </p:sp>
      <p:sp>
        <p:nvSpPr>
          <p:cNvPr id="46" name="Text 41"/>
          <p:cNvSpPr/>
          <p:nvPr/>
        </p:nvSpPr>
        <p:spPr>
          <a:xfrm>
            <a:off x="6971019" y="3084891"/>
            <a:ext cx="1221581"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IBM Plex Sans" pitchFamily="34" charset="0"/>
                <a:ea typeface="IBM Plex Sans" pitchFamily="34" charset="-122"/>
                <a:cs typeface="IBM Plex Sans" pitchFamily="34" charset="-120"/>
              </a:rPr>
              <a:t>4 · Reviewer</a:t>
            </a:r>
            <a:endParaRPr lang="en-US" sz="1200" dirty="0"/>
          </a:p>
        </p:txBody>
      </p:sp>
      <p:sp>
        <p:nvSpPr>
          <p:cNvPr id="47" name="Text 42"/>
          <p:cNvSpPr/>
          <p:nvPr/>
        </p:nvSpPr>
        <p:spPr>
          <a:xfrm>
            <a:off x="6971019" y="3323647"/>
            <a:ext cx="122158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Validates</a:t>
            </a:r>
            <a:endParaRPr lang="en-US" sz="1400" dirty="0"/>
          </a:p>
        </p:txBody>
      </p:sp>
      <p:sp>
        <p:nvSpPr>
          <p:cNvPr id="48" name="Text 43"/>
          <p:cNvSpPr/>
          <p:nvPr/>
        </p:nvSpPr>
        <p:spPr>
          <a:xfrm>
            <a:off x="6971019" y="3562313"/>
            <a:ext cx="1221581" cy="43688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Flags issues</a:t>
            </a:r>
            <a:endParaRPr lang="en-US" sz="1200" dirty="0"/>
          </a:p>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to fix</a:t>
            </a:r>
            <a:endParaRPr lang="en-US" sz="1200" dirty="0"/>
          </a:p>
        </p:txBody>
      </p:sp>
      <p:sp>
        <p:nvSpPr>
          <p:cNvPr id="49" name="Shape 44"/>
          <p:cNvSpPr/>
          <p:nvPr/>
        </p:nvSpPr>
        <p:spPr>
          <a:xfrm>
            <a:off x="8540696" y="1466848"/>
            <a:ext cx="1358864" cy="1079428"/>
          </a:xfrm>
          <a:prstGeom prst="roundRect">
            <a:avLst>
              <a:gd name="adj" fmla="val 7648"/>
            </a:avLst>
          </a:prstGeom>
          <a:solidFill>
            <a:srgbClr val="FFFFFF"/>
          </a:solidFill>
          <a:ln w="12700">
            <a:solidFill>
              <a:srgbClr val="D9822B"/>
            </a:solidFill>
            <a:prstDash val="solid"/>
          </a:ln>
        </p:spPr>
      </p:sp>
      <p:sp>
        <p:nvSpPr>
          <p:cNvPr id="50" name="Text 45"/>
          <p:cNvSpPr/>
          <p:nvPr/>
        </p:nvSpPr>
        <p:spPr>
          <a:xfrm>
            <a:off x="8634737" y="1560891"/>
            <a:ext cx="1221581"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3F0E"/>
                </a:solidFill>
                <a:latin typeface="IBM Plex Sans" pitchFamily="34" charset="0"/>
                <a:ea typeface="IBM Plex Sans" pitchFamily="34" charset="-122"/>
                <a:cs typeface="IBM Plex Sans" pitchFamily="34" charset="-120"/>
              </a:rPr>
              <a:t>5 · You</a:t>
            </a:r>
            <a:endParaRPr lang="en-US" sz="1200" dirty="0"/>
          </a:p>
        </p:txBody>
      </p:sp>
      <p:sp>
        <p:nvSpPr>
          <p:cNvPr id="51" name="Text 46"/>
          <p:cNvSpPr/>
          <p:nvPr/>
        </p:nvSpPr>
        <p:spPr>
          <a:xfrm>
            <a:off x="8634737" y="1799647"/>
            <a:ext cx="122158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Approve</a:t>
            </a:r>
            <a:endParaRPr lang="en-US" sz="1400" dirty="0"/>
          </a:p>
        </p:txBody>
      </p:sp>
      <p:sp>
        <p:nvSpPr>
          <p:cNvPr id="52" name="Text 47"/>
          <p:cNvSpPr/>
          <p:nvPr/>
        </p:nvSpPr>
        <p:spPr>
          <a:xfrm>
            <a:off x="8634737" y="2038313"/>
            <a:ext cx="1221581" cy="43688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Review, edit,</a:t>
            </a:r>
            <a:endParaRPr lang="en-US" sz="1200" dirty="0"/>
          </a:p>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sign off</a:t>
            </a:r>
            <a:endParaRPr lang="en-US" sz="1200" dirty="0"/>
          </a:p>
        </p:txBody>
      </p:sp>
      <p:sp>
        <p:nvSpPr>
          <p:cNvPr id="53" name="Shape 48"/>
          <p:cNvSpPr/>
          <p:nvPr/>
        </p:nvSpPr>
        <p:spPr>
          <a:xfrm>
            <a:off x="10204414" y="2990848"/>
            <a:ext cx="1358864" cy="1079428"/>
          </a:xfrm>
          <a:prstGeom prst="roundRect">
            <a:avLst>
              <a:gd name="adj" fmla="val 7648"/>
            </a:avLst>
          </a:prstGeom>
          <a:solidFill>
            <a:srgbClr val="E8F0FE"/>
          </a:solidFill>
          <a:ln w="12700">
            <a:solidFill>
              <a:srgbClr val="2563C9"/>
            </a:solidFill>
            <a:prstDash val="solid"/>
          </a:ln>
        </p:spPr>
      </p:sp>
      <p:sp>
        <p:nvSpPr>
          <p:cNvPr id="54" name="Text 49"/>
          <p:cNvSpPr/>
          <p:nvPr/>
        </p:nvSpPr>
        <p:spPr>
          <a:xfrm>
            <a:off x="10298455" y="3084891"/>
            <a:ext cx="1221581"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IBM Plex Sans" pitchFamily="34" charset="0"/>
                <a:ea typeface="IBM Plex Sans" pitchFamily="34" charset="-122"/>
                <a:cs typeface="IBM Plex Sans" pitchFamily="34" charset="-120"/>
              </a:rPr>
              <a:t>6 · Harness</a:t>
            </a:r>
            <a:endParaRPr lang="en-US" sz="1200" dirty="0"/>
          </a:p>
        </p:txBody>
      </p:sp>
      <p:sp>
        <p:nvSpPr>
          <p:cNvPr id="55" name="Text 50"/>
          <p:cNvSpPr/>
          <p:nvPr/>
        </p:nvSpPr>
        <p:spPr>
          <a:xfrm>
            <a:off x="10298455" y="3323647"/>
            <a:ext cx="122158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Publish</a:t>
            </a:r>
            <a:endParaRPr lang="en-US" sz="1400" dirty="0"/>
          </a:p>
        </p:txBody>
      </p:sp>
      <p:sp>
        <p:nvSpPr>
          <p:cNvPr id="56" name="Text 51"/>
          <p:cNvSpPr/>
          <p:nvPr/>
        </p:nvSpPr>
        <p:spPr>
          <a:xfrm>
            <a:off x="10298455" y="3562313"/>
            <a:ext cx="1221581" cy="43688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To [Data</a:t>
            </a:r>
            <a:endParaRPr lang="en-US" sz="1200" dirty="0"/>
          </a:p>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Catalogue]</a:t>
            </a:r>
            <a:endParaRPr lang="en-US" sz="1200" dirty="0"/>
          </a:p>
        </p:txBody>
      </p:sp>
      <p:pic>
        <p:nvPicPr>
          <p:cNvPr id="57" name="Image 3" descr="connector">    </p:cNvPr>
          <p:cNvPicPr>
            <a:picLocks noChangeAspect="1"/>
          </p:cNvPicPr>
          <p:nvPr/>
        </p:nvPicPr>
        <p:blipFill>
          <a:blip r:embed="rId4"/>
          <a:srcRect l="0" r="0" t="0" b="0"/>
          <a:stretch/>
        </p:blipFill>
        <p:spPr>
          <a:xfrm>
            <a:off x="2514564" y="2501846"/>
            <a:ext cx="1079500" cy="1079500"/>
          </a:xfrm>
          <a:prstGeom prst="rect">
            <a:avLst/>
          </a:prstGeom>
        </p:spPr>
      </p:pic>
      <p:pic>
        <p:nvPicPr>
          <p:cNvPr id="58" name="Image 4" descr="connector">    </p:cNvPr>
          <p:cNvPicPr>
            <a:picLocks noChangeAspect="1"/>
          </p:cNvPicPr>
          <p:nvPr/>
        </p:nvPicPr>
        <p:blipFill>
          <a:blip r:embed="rId5"/>
          <a:srcRect l="0" r="0" t="0" b="0"/>
          <a:stretch/>
        </p:blipFill>
        <p:spPr>
          <a:xfrm>
            <a:off x="4864064" y="2501846"/>
            <a:ext cx="1079500" cy="1079500"/>
          </a:xfrm>
          <a:prstGeom prst="rect">
            <a:avLst/>
          </a:prstGeom>
        </p:spPr>
      </p:pic>
      <p:pic>
        <p:nvPicPr>
          <p:cNvPr id="59" name="Image 5" descr="connector">    </p:cNvPr>
          <p:cNvPicPr>
            <a:picLocks noChangeAspect="1"/>
          </p:cNvPicPr>
          <p:nvPr/>
        </p:nvPicPr>
        <p:blipFill>
          <a:blip r:embed="rId6"/>
          <a:srcRect l="0" r="0" t="0" b="0"/>
          <a:stretch/>
        </p:blipFill>
        <p:spPr>
          <a:xfrm>
            <a:off x="6527781" y="1955781"/>
            <a:ext cx="1079500" cy="1079500"/>
          </a:xfrm>
          <a:prstGeom prst="rect">
            <a:avLst/>
          </a:prstGeom>
        </p:spPr>
      </p:pic>
      <p:pic>
        <p:nvPicPr>
          <p:cNvPr id="60" name="Image 6" descr="connector">    </p:cNvPr>
          <p:cNvPicPr>
            <a:picLocks noChangeAspect="1"/>
          </p:cNvPicPr>
          <p:nvPr/>
        </p:nvPicPr>
        <p:blipFill>
          <a:blip r:embed="rId7"/>
          <a:srcRect l="0" r="0" t="0" b="0"/>
          <a:stretch/>
        </p:blipFill>
        <p:spPr>
          <a:xfrm>
            <a:off x="8191500" y="2501846"/>
            <a:ext cx="1079500" cy="1079500"/>
          </a:xfrm>
          <a:prstGeom prst="rect">
            <a:avLst/>
          </a:prstGeom>
        </p:spPr>
      </p:pic>
      <p:pic>
        <p:nvPicPr>
          <p:cNvPr id="61" name="Image 7" descr="connector">    </p:cNvPr>
          <p:cNvPicPr>
            <a:picLocks noChangeAspect="1"/>
          </p:cNvPicPr>
          <p:nvPr/>
        </p:nvPicPr>
        <p:blipFill>
          <a:blip r:embed="rId8"/>
          <a:srcRect l="0" r="0" t="0" b="0"/>
          <a:stretch/>
        </p:blipFill>
        <p:spPr>
          <a:xfrm>
            <a:off x="9855127" y="1955781"/>
            <a:ext cx="1079500" cy="1079500"/>
          </a:xfrm>
          <a:prstGeom prst="rect">
            <a:avLst/>
          </a:prstGeom>
        </p:spPr>
      </p:pic>
      <p:pic>
        <p:nvPicPr>
          <p:cNvPr id="62" name="Image 8" descr="connector">    </p:cNvPr>
          <p:cNvPicPr>
            <a:picLocks noChangeAspect="1"/>
          </p:cNvPicPr>
          <p:nvPr/>
        </p:nvPicPr>
        <p:blipFill>
          <a:blip r:embed="rId9"/>
          <a:srcRect l="0" r="0" t="-14" b="-14"/>
          <a:stretch/>
        </p:blipFill>
        <p:spPr>
          <a:xfrm>
            <a:off x="3695628" y="4025846"/>
            <a:ext cx="101564" cy="1060378"/>
          </a:xfrm>
          <a:prstGeom prst="rect">
            <a:avLst/>
          </a:prstGeom>
        </p:spPr>
      </p:pic>
      <p:pic>
        <p:nvPicPr>
          <p:cNvPr id="63" name="Image 9" descr="Reviewer issues loop back to the main agent">    </p:cNvPr>
          <p:cNvPicPr>
            <a:picLocks noChangeAspect="1"/>
          </p:cNvPicPr>
          <p:nvPr/>
        </p:nvPicPr>
        <p:blipFill>
          <a:blip r:embed="rId10"/>
          <a:srcRect l="-3" r="-3" t="0" b="0"/>
          <a:stretch/>
        </p:blipFill>
        <p:spPr>
          <a:xfrm>
            <a:off x="3810000" y="4076627"/>
            <a:ext cx="3937000" cy="304782"/>
          </a:xfrm>
          <a:prstGeom prst="rect">
            <a:avLst/>
          </a:prstGeom>
        </p:spPr>
      </p:pic>
      <p:sp>
        <p:nvSpPr>
          <p:cNvPr id="64" name="Text 52"/>
          <p:cNvSpPr/>
          <p:nvPr/>
        </p:nvSpPr>
        <p:spPr>
          <a:xfrm>
            <a:off x="4010660" y="4356063"/>
            <a:ext cx="3662680" cy="23881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8A3F0E"/>
                </a:solidFill>
                <a:latin typeface="IBM Plex Sans" pitchFamily="34" charset="0"/>
                <a:ea typeface="IBM Plex Sans" pitchFamily="34" charset="-122"/>
                <a:cs typeface="IBM Plex Sans" pitchFamily="34" charset="-120"/>
              </a:rPr>
              <a:t>↺ Issues → main agent re-edits the canvas</a:t>
            </a:r>
            <a:endParaRPr lang="en-US" sz="1200" dirty="0"/>
          </a:p>
        </p:txBody>
      </p:sp>
      <p:pic>
        <p:nvPicPr>
          <p:cNvPr id="65" name="Image 10" descr="Changes you request loop back to the main agent">    </p:cNvPr>
          <p:cNvPicPr>
            <a:picLocks noChangeAspect="1"/>
          </p:cNvPicPr>
          <p:nvPr/>
        </p:nvPicPr>
        <p:blipFill>
          <a:blip r:embed="rId11"/>
          <a:srcRect l="-2" r="-2" t="0" b="0"/>
          <a:stretch/>
        </p:blipFill>
        <p:spPr>
          <a:xfrm>
            <a:off x="4445000" y="1333498"/>
            <a:ext cx="4953000" cy="1663628"/>
          </a:xfrm>
          <a:prstGeom prst="rect">
            <a:avLst/>
          </a:prstGeom>
        </p:spPr>
      </p:pic>
      <p:sp>
        <p:nvSpPr>
          <p:cNvPr id="66" name="Text 53"/>
          <p:cNvSpPr/>
          <p:nvPr/>
        </p:nvSpPr>
        <p:spPr>
          <a:xfrm>
            <a:off x="3276546" y="1650998"/>
            <a:ext cx="1193800" cy="421734"/>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8A3F0E"/>
                </a:solidFill>
                <a:latin typeface="IBM Plex Sans" pitchFamily="34" charset="0"/>
                <a:ea typeface="IBM Plex Sans" pitchFamily="34" charset="-122"/>
                <a:cs typeface="IBM Plex Sans" pitchFamily="34" charset="-120"/>
              </a:rPr>
              <a:t>↺ Changes requested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128" y="426641"/>
            <a:ext cx="5538679" cy="2388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563C9"/>
                </a:solidFill>
                <a:latin typeface="IBM Plex Sans" pitchFamily="34" charset="0"/>
                <a:ea typeface="IBM Plex Sans" pitchFamily="34" charset="-122"/>
                <a:cs typeface="IBM Plex Sans" pitchFamily="34" charset="-120"/>
              </a:rPr>
              <a:t>REFERENCE ARCHITECTURE · PLANES + RUNTIME FLOW</a:t>
            </a:r>
            <a:endParaRPr lang="en-US" sz="1200" dirty="0"/>
          </a:p>
        </p:txBody>
      </p:sp>
      <p:sp>
        <p:nvSpPr>
          <p:cNvPr id="3" name="Text 1"/>
          <p:cNvSpPr/>
          <p:nvPr>
            <p:ph type="title"/>
          </p:nvPr>
        </p:nvSpPr>
        <p:spPr>
          <a:xfrm>
            <a:off x="457128" y="678114"/>
            <a:ext cx="4754033" cy="388631"/>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14213D"/>
                </a:solidFill>
                <a:latin typeface="IBM Plex Sans" pitchFamily="34" charset="0"/>
                <a:ea typeface="IBM Plex Sans" pitchFamily="34" charset="-122"/>
                <a:cs typeface="IBM Plex Sans" pitchFamily="34" charset="-120"/>
              </a:rPr>
              <a:t>Architecture in motion</a:t>
            </a:r>
            <a:endParaRPr lang="en-US" sz="2600" dirty="0"/>
          </a:p>
        </p:txBody>
      </p:sp>
      <p:pic>
        <p:nvPicPr>
          <p:cNvPr id="4" name="Image 0" descr="Solid line">    </p:cNvPr>
          <p:cNvPicPr>
            <a:picLocks noChangeAspect="1"/>
          </p:cNvPicPr>
          <p:nvPr/>
        </p:nvPicPr>
        <p:blipFill>
          <a:blip r:embed="rId1"/>
          <a:srcRect l="-15" r="-15" t="0" b="0"/>
          <a:stretch/>
        </p:blipFill>
        <p:spPr>
          <a:xfrm>
            <a:off x="7983320" y="909203"/>
            <a:ext cx="304782" cy="50782"/>
          </a:xfrm>
          <a:prstGeom prst="rect">
            <a:avLst/>
          </a:prstGeom>
        </p:spPr>
      </p:pic>
      <p:sp>
        <p:nvSpPr>
          <p:cNvPr id="5" name="Text 2"/>
          <p:cNvSpPr/>
          <p:nvPr/>
        </p:nvSpPr>
        <p:spPr>
          <a:xfrm>
            <a:off x="8351603" y="827934"/>
            <a:ext cx="379124" cy="23881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Flow</a:t>
            </a:r>
            <a:endParaRPr lang="en-US" sz="1200" dirty="0"/>
          </a:p>
        </p:txBody>
      </p:sp>
      <p:pic>
        <p:nvPicPr>
          <p:cNvPr id="6" name="Image 1" descr="Dashed orange line">    </p:cNvPr>
          <p:cNvPicPr>
            <a:picLocks noChangeAspect="1"/>
          </p:cNvPicPr>
          <p:nvPr/>
        </p:nvPicPr>
        <p:blipFill>
          <a:blip r:embed="rId2"/>
          <a:srcRect l="-15" r="-15" t="0" b="0"/>
          <a:stretch/>
        </p:blipFill>
        <p:spPr>
          <a:xfrm>
            <a:off x="8895773" y="909203"/>
            <a:ext cx="304782" cy="50782"/>
          </a:xfrm>
          <a:prstGeom prst="rect">
            <a:avLst/>
          </a:prstGeom>
        </p:spPr>
      </p:pic>
      <p:sp>
        <p:nvSpPr>
          <p:cNvPr id="7" name="Text 3"/>
          <p:cNvSpPr/>
          <p:nvPr/>
        </p:nvSpPr>
        <p:spPr>
          <a:xfrm>
            <a:off x="9264055" y="827934"/>
            <a:ext cx="903360" cy="23881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Rework loop</a:t>
            </a:r>
            <a:endParaRPr lang="en-US" sz="1200" dirty="0"/>
          </a:p>
        </p:txBody>
      </p:sp>
      <p:pic>
        <p:nvPicPr>
          <p:cNvPr id="8" name="Image 2" descr="Dashed blue line">    </p:cNvPr>
          <p:cNvPicPr>
            <a:picLocks noChangeAspect="1"/>
          </p:cNvPicPr>
          <p:nvPr/>
        </p:nvPicPr>
        <p:blipFill>
          <a:blip r:embed="rId3"/>
          <a:srcRect l="-15" r="-15" t="0" b="0"/>
          <a:stretch/>
        </p:blipFill>
        <p:spPr>
          <a:xfrm>
            <a:off x="10332460" y="909203"/>
            <a:ext cx="304782" cy="50782"/>
          </a:xfrm>
          <a:prstGeom prst="rect">
            <a:avLst/>
          </a:prstGeom>
        </p:spPr>
      </p:pic>
      <p:sp>
        <p:nvSpPr>
          <p:cNvPr id="9" name="Text 4"/>
          <p:cNvSpPr/>
          <p:nvPr/>
        </p:nvSpPr>
        <p:spPr>
          <a:xfrm>
            <a:off x="10700742" y="827934"/>
            <a:ext cx="1084750" cy="23881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Context lookup</a:t>
            </a:r>
            <a:endParaRPr lang="en-US" sz="1200" dirty="0"/>
          </a:p>
        </p:txBody>
      </p:sp>
      <p:sp>
        <p:nvSpPr>
          <p:cNvPr id="10" name="Shape 5"/>
          <p:cNvSpPr/>
          <p:nvPr/>
        </p:nvSpPr>
        <p:spPr>
          <a:xfrm>
            <a:off x="460303" y="1196956"/>
            <a:ext cx="11271214" cy="1390650"/>
          </a:xfrm>
          <a:prstGeom prst="roundRect">
            <a:avLst>
              <a:gd name="adj" fmla="val 7078"/>
            </a:avLst>
          </a:prstGeom>
          <a:solidFill>
            <a:srgbClr val="F3F7FD"/>
          </a:solidFill>
          <a:ln w="6350">
            <a:solidFill>
              <a:srgbClr val="D2DEF2"/>
            </a:solidFill>
            <a:prstDash val="solid"/>
          </a:ln>
        </p:spPr>
      </p:sp>
      <p:sp>
        <p:nvSpPr>
          <p:cNvPr id="11" name="Text 6"/>
          <p:cNvSpPr/>
          <p:nvPr/>
        </p:nvSpPr>
        <p:spPr>
          <a:xfrm>
            <a:off x="615246" y="1678871"/>
            <a:ext cx="11290166" cy="23881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563C9"/>
                </a:solidFill>
                <a:latin typeface="IBM Plex Sans" pitchFamily="34" charset="0"/>
                <a:ea typeface="IBM Plex Sans" pitchFamily="34" charset="-122"/>
                <a:cs typeface="IBM Plex Sans" pitchFamily="34" charset="-120"/>
              </a:rPr>
              <a:t>EXPERIENCE</a:t>
            </a:r>
            <a:endParaRPr lang="en-US" sz="1200" dirty="0"/>
          </a:p>
        </p:txBody>
      </p:sp>
      <p:sp>
        <p:nvSpPr>
          <p:cNvPr id="12" name="Text 7"/>
          <p:cNvSpPr/>
          <p:nvPr/>
        </p:nvSpPr>
        <p:spPr>
          <a:xfrm>
            <a:off x="615246" y="1892281"/>
            <a:ext cx="11290166"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Chat &amp; canvas</a:t>
            </a:r>
            <a:endParaRPr lang="en-US" sz="1200" dirty="0"/>
          </a:p>
        </p:txBody>
      </p:sp>
      <p:sp>
        <p:nvSpPr>
          <p:cNvPr id="13" name="Shape 8"/>
          <p:cNvSpPr/>
          <p:nvPr/>
        </p:nvSpPr>
        <p:spPr>
          <a:xfrm>
            <a:off x="460303" y="2670175"/>
            <a:ext cx="11271214" cy="1771650"/>
          </a:xfrm>
          <a:prstGeom prst="roundRect">
            <a:avLst>
              <a:gd name="adj" fmla="val 5556"/>
            </a:avLst>
          </a:prstGeom>
          <a:solidFill>
            <a:srgbClr val="EEF3FD"/>
          </a:solidFill>
          <a:ln w="6350">
            <a:solidFill>
              <a:srgbClr val="C9D7F2"/>
            </a:solidFill>
            <a:prstDash val="solid"/>
          </a:ln>
        </p:spPr>
      </p:sp>
      <p:sp>
        <p:nvSpPr>
          <p:cNvPr id="14" name="Text 9"/>
          <p:cNvSpPr/>
          <p:nvPr/>
        </p:nvSpPr>
        <p:spPr>
          <a:xfrm>
            <a:off x="615246" y="3129176"/>
            <a:ext cx="11290166" cy="23881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563C9"/>
                </a:solidFill>
                <a:latin typeface="IBM Plex Sans" pitchFamily="34" charset="0"/>
                <a:ea typeface="IBM Plex Sans" pitchFamily="34" charset="-122"/>
                <a:cs typeface="IBM Plex Sans" pitchFamily="34" charset="-120"/>
              </a:rPr>
              <a:t>CONTROL</a:t>
            </a:r>
            <a:endParaRPr lang="en-US" sz="1200" dirty="0"/>
          </a:p>
        </p:txBody>
      </p:sp>
      <p:sp>
        <p:nvSpPr>
          <p:cNvPr id="15" name="Text 10"/>
          <p:cNvSpPr/>
          <p:nvPr/>
        </p:nvSpPr>
        <p:spPr>
          <a:xfrm>
            <a:off x="615246" y="3342590"/>
            <a:ext cx="11290166"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Harness</a:t>
            </a:r>
            <a:endParaRPr lang="en-US" sz="1200" dirty="0"/>
          </a:p>
        </p:txBody>
      </p:sp>
      <p:sp>
        <p:nvSpPr>
          <p:cNvPr id="16" name="Text 11"/>
          <p:cNvSpPr/>
          <p:nvPr/>
        </p:nvSpPr>
        <p:spPr>
          <a:xfrm>
            <a:off x="615246" y="3556000"/>
            <a:ext cx="11290166"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Agents SDK</a:t>
            </a:r>
            <a:endParaRPr lang="en-US" sz="1200" dirty="0"/>
          </a:p>
        </p:txBody>
      </p:sp>
      <p:sp>
        <p:nvSpPr>
          <p:cNvPr id="17" name="Text 12"/>
          <p:cNvSpPr/>
          <p:nvPr/>
        </p:nvSpPr>
        <p:spPr>
          <a:xfrm>
            <a:off x="615246" y="3769410"/>
            <a:ext cx="11290166"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[Model]</a:t>
            </a:r>
            <a:endParaRPr lang="en-US" sz="1200" dirty="0"/>
          </a:p>
        </p:txBody>
      </p:sp>
      <p:sp>
        <p:nvSpPr>
          <p:cNvPr id="18" name="Shape 13"/>
          <p:cNvSpPr/>
          <p:nvPr/>
        </p:nvSpPr>
        <p:spPr>
          <a:xfrm>
            <a:off x="460303" y="4524301"/>
            <a:ext cx="11271214" cy="628650"/>
          </a:xfrm>
          <a:prstGeom prst="roundRect">
            <a:avLst>
              <a:gd name="adj" fmla="val 15657"/>
            </a:avLst>
          </a:prstGeom>
          <a:solidFill>
            <a:srgbClr val="FFFFFF"/>
          </a:solidFill>
          <a:ln w="6350">
            <a:solidFill>
              <a:srgbClr val="DADCE0"/>
            </a:solidFill>
            <a:prstDash val="solid"/>
          </a:ln>
        </p:spPr>
      </p:sp>
      <p:sp>
        <p:nvSpPr>
          <p:cNvPr id="19" name="Text 14"/>
          <p:cNvSpPr/>
          <p:nvPr/>
        </p:nvSpPr>
        <p:spPr>
          <a:xfrm>
            <a:off x="615246" y="4625215"/>
            <a:ext cx="11290166" cy="23881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563C9"/>
                </a:solidFill>
                <a:latin typeface="IBM Plex Sans" pitchFamily="34" charset="0"/>
                <a:ea typeface="IBM Plex Sans" pitchFamily="34" charset="-122"/>
                <a:cs typeface="IBM Plex Sans" pitchFamily="34" charset="-120"/>
              </a:rPr>
              <a:t>CONTEXT</a:t>
            </a:r>
            <a:endParaRPr lang="en-US" sz="1200" dirty="0"/>
          </a:p>
        </p:txBody>
      </p:sp>
      <p:sp>
        <p:nvSpPr>
          <p:cNvPr id="20" name="Text 15"/>
          <p:cNvSpPr/>
          <p:nvPr/>
        </p:nvSpPr>
        <p:spPr>
          <a:xfrm>
            <a:off x="615246" y="4838626"/>
            <a:ext cx="11290166"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MCP &amp; tools</a:t>
            </a:r>
            <a:endParaRPr lang="en-US" sz="1200" dirty="0"/>
          </a:p>
        </p:txBody>
      </p:sp>
      <p:sp>
        <p:nvSpPr>
          <p:cNvPr id="21" name="Shape 16"/>
          <p:cNvSpPr/>
          <p:nvPr/>
        </p:nvSpPr>
        <p:spPr>
          <a:xfrm>
            <a:off x="460303" y="5235519"/>
            <a:ext cx="11271214" cy="1009650"/>
          </a:xfrm>
          <a:prstGeom prst="roundRect">
            <a:avLst>
              <a:gd name="adj" fmla="val 9748"/>
            </a:avLst>
          </a:prstGeom>
          <a:solidFill>
            <a:srgbClr val="FEF6EE"/>
          </a:solidFill>
          <a:ln w="6350">
            <a:solidFill>
              <a:srgbClr val="F0C9A0"/>
            </a:solidFill>
            <a:prstDash val="solid"/>
          </a:ln>
        </p:spPr>
      </p:sp>
      <p:sp>
        <p:nvSpPr>
          <p:cNvPr id="22" name="Text 17"/>
          <p:cNvSpPr/>
          <p:nvPr/>
        </p:nvSpPr>
        <p:spPr>
          <a:xfrm>
            <a:off x="615246" y="5526934"/>
            <a:ext cx="11290166" cy="23881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8A3F0E"/>
                </a:solidFill>
                <a:latin typeface="IBM Plex Sans" pitchFamily="34" charset="0"/>
                <a:ea typeface="IBM Plex Sans" pitchFamily="34" charset="-122"/>
                <a:cs typeface="IBM Plex Sans" pitchFamily="34" charset="-120"/>
              </a:rPr>
              <a:t>GOVERNANCE</a:t>
            </a:r>
            <a:endParaRPr lang="en-US" sz="1200" dirty="0"/>
          </a:p>
        </p:txBody>
      </p:sp>
      <p:sp>
        <p:nvSpPr>
          <p:cNvPr id="23" name="Text 18"/>
          <p:cNvSpPr/>
          <p:nvPr/>
        </p:nvSpPr>
        <p:spPr>
          <a:xfrm>
            <a:off x="615246" y="5740344"/>
            <a:ext cx="11290166"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Approval gate</a:t>
            </a:r>
            <a:endParaRPr lang="en-US" sz="1200" dirty="0"/>
          </a:p>
        </p:txBody>
      </p:sp>
      <p:sp>
        <p:nvSpPr>
          <p:cNvPr id="24" name="Text 19"/>
          <p:cNvSpPr/>
          <p:nvPr/>
        </p:nvSpPr>
        <p:spPr>
          <a:xfrm>
            <a:off x="1879564" y="4693856"/>
            <a:ext cx="819908" cy="289538"/>
          </a:xfrm>
          <a:prstGeom prst="roundRect">
            <a:avLst>
              <a:gd name="adj" fmla="val 21931"/>
            </a:avLst>
          </a:prstGeom>
          <a:solidFill>
            <a:srgbClr val="F1F4F8"/>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Ontology</a:t>
            </a:r>
            <a:endParaRPr lang="en-US" sz="1200" dirty="0"/>
          </a:p>
        </p:txBody>
      </p:sp>
      <p:sp>
        <p:nvSpPr>
          <p:cNvPr id="25" name="Text 20"/>
          <p:cNvSpPr/>
          <p:nvPr/>
        </p:nvSpPr>
        <p:spPr>
          <a:xfrm>
            <a:off x="2775599" y="4693856"/>
            <a:ext cx="653401" cy="289538"/>
          </a:xfrm>
          <a:prstGeom prst="roundRect">
            <a:avLst>
              <a:gd name="adj" fmla="val 21931"/>
            </a:avLst>
          </a:prstGeom>
          <a:solidFill>
            <a:srgbClr val="F1F4F8"/>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MetaQ</a:t>
            </a:r>
            <a:endParaRPr lang="en-US" sz="1200" dirty="0"/>
          </a:p>
        </p:txBody>
      </p:sp>
      <p:sp>
        <p:nvSpPr>
          <p:cNvPr id="26" name="Text 21"/>
          <p:cNvSpPr/>
          <p:nvPr/>
        </p:nvSpPr>
        <p:spPr>
          <a:xfrm>
            <a:off x="3505128" y="4693856"/>
            <a:ext cx="1081484" cy="289538"/>
          </a:xfrm>
          <a:prstGeom prst="roundRect">
            <a:avLst>
              <a:gd name="adj" fmla="val 21931"/>
            </a:avLst>
          </a:prstGeom>
          <a:solidFill>
            <a:srgbClr val="F1F4F8"/>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Denodo MCP</a:t>
            </a:r>
            <a:endParaRPr lang="en-US" sz="1200" dirty="0"/>
          </a:p>
        </p:txBody>
      </p:sp>
      <p:sp>
        <p:nvSpPr>
          <p:cNvPr id="27" name="Text 22"/>
          <p:cNvSpPr/>
          <p:nvPr/>
        </p:nvSpPr>
        <p:spPr>
          <a:xfrm>
            <a:off x="4662740" y="4693856"/>
            <a:ext cx="1048832" cy="289538"/>
          </a:xfrm>
          <a:prstGeom prst="roundRect">
            <a:avLst>
              <a:gd name="adj" fmla="val 21931"/>
            </a:avLst>
          </a:prstGeom>
          <a:solidFill>
            <a:srgbClr val="F1F4F8"/>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Code search</a:t>
            </a:r>
            <a:endParaRPr lang="en-US" sz="1200" dirty="0"/>
          </a:p>
        </p:txBody>
      </p:sp>
      <p:sp>
        <p:nvSpPr>
          <p:cNvPr id="28" name="Text 23"/>
          <p:cNvSpPr/>
          <p:nvPr/>
        </p:nvSpPr>
        <p:spPr>
          <a:xfrm>
            <a:off x="5787700" y="4693856"/>
            <a:ext cx="1235815" cy="289538"/>
          </a:xfrm>
          <a:prstGeom prst="roundRect">
            <a:avLst>
              <a:gd name="adj" fmla="val 21931"/>
            </a:avLst>
          </a:prstGeom>
          <a:solidFill>
            <a:srgbClr val="F1F4F8"/>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Prior mappings</a:t>
            </a:r>
            <a:endParaRPr lang="en-US" sz="1200" dirty="0"/>
          </a:p>
        </p:txBody>
      </p:sp>
      <p:sp>
        <p:nvSpPr>
          <p:cNvPr id="29" name="Text 24"/>
          <p:cNvSpPr/>
          <p:nvPr/>
        </p:nvSpPr>
        <p:spPr>
          <a:xfrm>
            <a:off x="1879564" y="5626063"/>
            <a:ext cx="65405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3F0E"/>
                </a:solidFill>
                <a:latin typeface="IBM Plex Sans" pitchFamily="34" charset="0"/>
                <a:ea typeface="IBM Plex Sans" pitchFamily="34" charset="-122"/>
                <a:cs typeface="IBM Plex Sans" pitchFamily="34" charset="-120"/>
              </a:rPr>
              <a:t>Nothing is published without your approval on the canvas</a:t>
            </a:r>
            <a:endParaRPr lang="en-US" sz="1200" dirty="0"/>
          </a:p>
        </p:txBody>
      </p:sp>
      <p:sp>
        <p:nvSpPr>
          <p:cNvPr id="30" name="Shape 25"/>
          <p:cNvSpPr/>
          <p:nvPr/>
        </p:nvSpPr>
        <p:spPr>
          <a:xfrm>
            <a:off x="1885914" y="1352476"/>
            <a:ext cx="1358864" cy="1079428"/>
          </a:xfrm>
          <a:prstGeom prst="roundRect">
            <a:avLst>
              <a:gd name="adj" fmla="val 7648"/>
            </a:avLst>
          </a:prstGeom>
          <a:solidFill>
            <a:srgbClr val="FFFFFF"/>
          </a:solidFill>
          <a:ln w="12700">
            <a:solidFill>
              <a:srgbClr val="D9822B"/>
            </a:solidFill>
            <a:prstDash val="solid"/>
          </a:ln>
        </p:spPr>
      </p:sp>
      <p:sp>
        <p:nvSpPr>
          <p:cNvPr id="31" name="Text 26"/>
          <p:cNvSpPr/>
          <p:nvPr/>
        </p:nvSpPr>
        <p:spPr>
          <a:xfrm>
            <a:off x="1979955" y="1446519"/>
            <a:ext cx="1221581"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3F0E"/>
                </a:solidFill>
                <a:latin typeface="IBM Plex Sans" pitchFamily="34" charset="0"/>
                <a:ea typeface="IBM Plex Sans" pitchFamily="34" charset="-122"/>
                <a:cs typeface="IBM Plex Sans" pitchFamily="34" charset="-120"/>
              </a:rPr>
              <a:t>1 · You</a:t>
            </a:r>
            <a:endParaRPr lang="en-US" sz="1200" dirty="0"/>
          </a:p>
        </p:txBody>
      </p:sp>
      <p:sp>
        <p:nvSpPr>
          <p:cNvPr id="32" name="Text 27"/>
          <p:cNvSpPr/>
          <p:nvPr/>
        </p:nvSpPr>
        <p:spPr>
          <a:xfrm>
            <a:off x="1979955" y="1685274"/>
            <a:ext cx="122158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Start</a:t>
            </a:r>
            <a:endParaRPr lang="en-US" sz="1400" dirty="0"/>
          </a:p>
        </p:txBody>
      </p:sp>
      <p:sp>
        <p:nvSpPr>
          <p:cNvPr id="33" name="Text 28"/>
          <p:cNvSpPr/>
          <p:nvPr/>
        </p:nvSpPr>
        <p:spPr>
          <a:xfrm>
            <a:off x="1979955" y="1923941"/>
            <a:ext cx="1221581" cy="43688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Intent + docs</a:t>
            </a:r>
            <a:endParaRPr lang="en-US" sz="1200" dirty="0"/>
          </a:p>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in chat</a:t>
            </a:r>
            <a:endParaRPr lang="en-US" sz="1200" dirty="0"/>
          </a:p>
        </p:txBody>
      </p:sp>
      <p:sp>
        <p:nvSpPr>
          <p:cNvPr id="34" name="Shape 29"/>
          <p:cNvSpPr/>
          <p:nvPr/>
        </p:nvSpPr>
        <p:spPr>
          <a:xfrm>
            <a:off x="3549632" y="2825694"/>
            <a:ext cx="1358864" cy="1079428"/>
          </a:xfrm>
          <a:prstGeom prst="roundRect">
            <a:avLst>
              <a:gd name="adj" fmla="val 7648"/>
            </a:avLst>
          </a:prstGeom>
          <a:solidFill>
            <a:srgbClr val="FFFFFF"/>
          </a:solidFill>
          <a:ln w="12700">
            <a:solidFill>
              <a:srgbClr val="BFD0EE"/>
            </a:solidFill>
            <a:prstDash val="solid"/>
          </a:ln>
        </p:spPr>
      </p:sp>
      <p:sp>
        <p:nvSpPr>
          <p:cNvPr id="35" name="Text 30"/>
          <p:cNvSpPr/>
          <p:nvPr/>
        </p:nvSpPr>
        <p:spPr>
          <a:xfrm>
            <a:off x="3643673" y="2919735"/>
            <a:ext cx="1221581"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IBM Plex Sans" pitchFamily="34" charset="0"/>
                <a:ea typeface="IBM Plex Sans" pitchFamily="34" charset="-122"/>
                <a:cs typeface="IBM Plex Sans" pitchFamily="34" charset="-120"/>
              </a:rPr>
              <a:t>2 · Main agent</a:t>
            </a:r>
            <a:endParaRPr lang="en-US" sz="1200" dirty="0"/>
          </a:p>
        </p:txBody>
      </p:sp>
      <p:sp>
        <p:nvSpPr>
          <p:cNvPr id="36" name="Text 31"/>
          <p:cNvSpPr/>
          <p:nvPr/>
        </p:nvSpPr>
        <p:spPr>
          <a:xfrm>
            <a:off x="3643673" y="3158492"/>
            <a:ext cx="122158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Maps intent</a:t>
            </a:r>
            <a:endParaRPr lang="en-US" sz="1400" dirty="0"/>
          </a:p>
        </p:txBody>
      </p:sp>
      <p:sp>
        <p:nvSpPr>
          <p:cNvPr id="37" name="Text 32"/>
          <p:cNvSpPr/>
          <p:nvPr/>
        </p:nvSpPr>
        <p:spPr>
          <a:xfrm>
            <a:off x="3643673" y="3397160"/>
            <a:ext cx="1221581" cy="43688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Queries the</a:t>
            </a:r>
            <a:endParaRPr lang="en-US" sz="1200" dirty="0"/>
          </a:p>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sources</a:t>
            </a:r>
            <a:endParaRPr lang="en-US" sz="1200" dirty="0"/>
          </a:p>
        </p:txBody>
      </p:sp>
      <p:sp>
        <p:nvSpPr>
          <p:cNvPr id="38" name="Shape 33"/>
          <p:cNvSpPr/>
          <p:nvPr/>
        </p:nvSpPr>
        <p:spPr>
          <a:xfrm>
            <a:off x="5213350" y="1352476"/>
            <a:ext cx="1358864" cy="1079428"/>
          </a:xfrm>
          <a:prstGeom prst="roundRect">
            <a:avLst>
              <a:gd name="adj" fmla="val 7648"/>
            </a:avLst>
          </a:prstGeom>
          <a:solidFill>
            <a:srgbClr val="FFFFFF"/>
          </a:solidFill>
          <a:ln w="12700">
            <a:solidFill>
              <a:srgbClr val="BFD0EE"/>
            </a:solidFill>
            <a:prstDash val="solid"/>
          </a:ln>
        </p:spPr>
      </p:sp>
      <p:sp>
        <p:nvSpPr>
          <p:cNvPr id="39" name="Text 34"/>
          <p:cNvSpPr/>
          <p:nvPr/>
        </p:nvSpPr>
        <p:spPr>
          <a:xfrm>
            <a:off x="5307391" y="1446519"/>
            <a:ext cx="1221581"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IBM Plex Sans" pitchFamily="34" charset="0"/>
                <a:ea typeface="IBM Plex Sans" pitchFamily="34" charset="-122"/>
                <a:cs typeface="IBM Plex Sans" pitchFamily="34" charset="-120"/>
              </a:rPr>
              <a:t>3 · Canvas</a:t>
            </a:r>
            <a:endParaRPr lang="en-US" sz="1200" dirty="0"/>
          </a:p>
        </p:txBody>
      </p:sp>
      <p:sp>
        <p:nvSpPr>
          <p:cNvPr id="40" name="Text 35"/>
          <p:cNvSpPr/>
          <p:nvPr/>
        </p:nvSpPr>
        <p:spPr>
          <a:xfrm>
            <a:off x="5307391" y="1685274"/>
            <a:ext cx="122158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Draft ready</a:t>
            </a:r>
            <a:endParaRPr lang="en-US" sz="1400" dirty="0"/>
          </a:p>
        </p:txBody>
      </p:sp>
      <p:sp>
        <p:nvSpPr>
          <p:cNvPr id="41" name="Text 36"/>
          <p:cNvSpPr/>
          <p:nvPr/>
        </p:nvSpPr>
        <p:spPr>
          <a:xfrm>
            <a:off x="5307391" y="1923941"/>
            <a:ext cx="1221581" cy="43688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Mapping</a:t>
            </a:r>
            <a:endParaRPr lang="en-US" sz="1200" dirty="0"/>
          </a:p>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in AG Grid</a:t>
            </a:r>
            <a:endParaRPr lang="en-US" sz="1200" dirty="0"/>
          </a:p>
        </p:txBody>
      </p:sp>
      <p:sp>
        <p:nvSpPr>
          <p:cNvPr id="42" name="Shape 37"/>
          <p:cNvSpPr/>
          <p:nvPr/>
        </p:nvSpPr>
        <p:spPr>
          <a:xfrm>
            <a:off x="6876978" y="2825694"/>
            <a:ext cx="1358864" cy="1079428"/>
          </a:xfrm>
          <a:prstGeom prst="roundRect">
            <a:avLst>
              <a:gd name="adj" fmla="val 7648"/>
            </a:avLst>
          </a:prstGeom>
          <a:solidFill>
            <a:srgbClr val="FFFFFF"/>
          </a:solidFill>
          <a:ln w="12700">
            <a:solidFill>
              <a:srgbClr val="BFD0EE"/>
            </a:solidFill>
            <a:prstDash val="solid"/>
          </a:ln>
        </p:spPr>
      </p:sp>
      <p:sp>
        <p:nvSpPr>
          <p:cNvPr id="43" name="Text 38"/>
          <p:cNvSpPr/>
          <p:nvPr/>
        </p:nvSpPr>
        <p:spPr>
          <a:xfrm>
            <a:off x="6971019" y="2919735"/>
            <a:ext cx="1221581"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IBM Plex Sans" pitchFamily="34" charset="0"/>
                <a:ea typeface="IBM Plex Sans" pitchFamily="34" charset="-122"/>
                <a:cs typeface="IBM Plex Sans" pitchFamily="34" charset="-120"/>
              </a:rPr>
              <a:t>4 · Reviewer</a:t>
            </a:r>
            <a:endParaRPr lang="en-US" sz="1200" dirty="0"/>
          </a:p>
        </p:txBody>
      </p:sp>
      <p:sp>
        <p:nvSpPr>
          <p:cNvPr id="44" name="Text 39"/>
          <p:cNvSpPr/>
          <p:nvPr/>
        </p:nvSpPr>
        <p:spPr>
          <a:xfrm>
            <a:off x="6971019" y="3158492"/>
            <a:ext cx="122158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Validates</a:t>
            </a:r>
            <a:endParaRPr lang="en-US" sz="1400" dirty="0"/>
          </a:p>
        </p:txBody>
      </p:sp>
      <p:sp>
        <p:nvSpPr>
          <p:cNvPr id="45" name="Text 40"/>
          <p:cNvSpPr/>
          <p:nvPr/>
        </p:nvSpPr>
        <p:spPr>
          <a:xfrm>
            <a:off x="6971019" y="3397160"/>
            <a:ext cx="1221581" cy="43688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Flags issues</a:t>
            </a:r>
            <a:endParaRPr lang="en-US" sz="1200" dirty="0"/>
          </a:p>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to fix</a:t>
            </a:r>
            <a:endParaRPr lang="en-US" sz="1200" dirty="0"/>
          </a:p>
        </p:txBody>
      </p:sp>
      <p:sp>
        <p:nvSpPr>
          <p:cNvPr id="46" name="Shape 41"/>
          <p:cNvSpPr/>
          <p:nvPr/>
        </p:nvSpPr>
        <p:spPr>
          <a:xfrm>
            <a:off x="8540696" y="1352476"/>
            <a:ext cx="1358864" cy="1079428"/>
          </a:xfrm>
          <a:prstGeom prst="roundRect">
            <a:avLst>
              <a:gd name="adj" fmla="val 7648"/>
            </a:avLst>
          </a:prstGeom>
          <a:solidFill>
            <a:srgbClr val="FFFFFF"/>
          </a:solidFill>
          <a:ln w="12700">
            <a:solidFill>
              <a:srgbClr val="D9822B"/>
            </a:solidFill>
            <a:prstDash val="solid"/>
          </a:ln>
        </p:spPr>
      </p:sp>
      <p:sp>
        <p:nvSpPr>
          <p:cNvPr id="47" name="Text 42"/>
          <p:cNvSpPr/>
          <p:nvPr/>
        </p:nvSpPr>
        <p:spPr>
          <a:xfrm>
            <a:off x="8634737" y="1446519"/>
            <a:ext cx="1221581"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3F0E"/>
                </a:solidFill>
                <a:latin typeface="IBM Plex Sans" pitchFamily="34" charset="0"/>
                <a:ea typeface="IBM Plex Sans" pitchFamily="34" charset="-122"/>
                <a:cs typeface="IBM Plex Sans" pitchFamily="34" charset="-120"/>
              </a:rPr>
              <a:t>5 · You</a:t>
            </a:r>
            <a:endParaRPr lang="en-US" sz="1200" dirty="0"/>
          </a:p>
        </p:txBody>
      </p:sp>
      <p:sp>
        <p:nvSpPr>
          <p:cNvPr id="48" name="Text 43"/>
          <p:cNvSpPr/>
          <p:nvPr/>
        </p:nvSpPr>
        <p:spPr>
          <a:xfrm>
            <a:off x="8634737" y="1685274"/>
            <a:ext cx="122158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Approve</a:t>
            </a:r>
            <a:endParaRPr lang="en-US" sz="1400" dirty="0"/>
          </a:p>
        </p:txBody>
      </p:sp>
      <p:sp>
        <p:nvSpPr>
          <p:cNvPr id="49" name="Text 44"/>
          <p:cNvSpPr/>
          <p:nvPr/>
        </p:nvSpPr>
        <p:spPr>
          <a:xfrm>
            <a:off x="8634737" y="1923941"/>
            <a:ext cx="1221581" cy="43688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Review, edit,</a:t>
            </a:r>
            <a:endParaRPr lang="en-US" sz="1200" dirty="0"/>
          </a:p>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sign off</a:t>
            </a:r>
            <a:endParaRPr lang="en-US" sz="1200" dirty="0"/>
          </a:p>
        </p:txBody>
      </p:sp>
      <p:sp>
        <p:nvSpPr>
          <p:cNvPr id="50" name="Shape 45"/>
          <p:cNvSpPr/>
          <p:nvPr/>
        </p:nvSpPr>
        <p:spPr>
          <a:xfrm>
            <a:off x="10204414" y="5308600"/>
            <a:ext cx="1358864" cy="863582"/>
          </a:xfrm>
          <a:prstGeom prst="roundRect">
            <a:avLst>
              <a:gd name="adj" fmla="val 9559"/>
            </a:avLst>
          </a:prstGeom>
          <a:solidFill>
            <a:srgbClr val="E8F0FE"/>
          </a:solidFill>
          <a:ln w="12700">
            <a:solidFill>
              <a:srgbClr val="2563C9"/>
            </a:solidFill>
            <a:prstDash val="solid"/>
          </a:ln>
        </p:spPr>
      </p:sp>
      <p:sp>
        <p:nvSpPr>
          <p:cNvPr id="51" name="Text 46"/>
          <p:cNvSpPr/>
          <p:nvPr/>
        </p:nvSpPr>
        <p:spPr>
          <a:xfrm>
            <a:off x="10298455" y="5402641"/>
            <a:ext cx="1221581" cy="233669"/>
          </a:xfrm>
          <a:prstGeom prst="rect">
            <a:avLst/>
          </a:prstGeom>
          <a:noFill/>
          <a:ln/>
        </p:spPr>
        <p:txBody>
          <a:bodyPr wrap="square" lIns="0" tIns="0" rIns="0" bIns="0" rtlCol="0" anchor="t">
            <a:normAutofit/>
          </a:bodyPr>
          <a:lstStyle/>
          <a:p>
            <a:pPr algn="l" indent="0" marL="0">
              <a:lnSpc>
                <a:spcPts val="1675"/>
              </a:lnSpc>
              <a:buNone/>
            </a:pPr>
            <a:r>
              <a:rPr lang="en-US" sz="1196" b="1" dirty="0">
                <a:solidFill>
                  <a:srgbClr val="2563C9"/>
                </a:solidFill>
                <a:latin typeface="IBM Plex Sans" pitchFamily="34" charset="0"/>
                <a:ea typeface="IBM Plex Sans" pitchFamily="34" charset="-122"/>
                <a:cs typeface="IBM Plex Sans" pitchFamily="34" charset="-120"/>
              </a:rPr>
              <a:t>6 · Harness</a:t>
            </a:r>
            <a:endParaRPr lang="en-US" sz="1196" dirty="0"/>
          </a:p>
        </p:txBody>
      </p:sp>
      <p:sp>
        <p:nvSpPr>
          <p:cNvPr id="52" name="Text 47"/>
          <p:cNvSpPr/>
          <p:nvPr/>
        </p:nvSpPr>
        <p:spPr>
          <a:xfrm>
            <a:off x="10298455" y="5636254"/>
            <a:ext cx="1221581" cy="233669"/>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14213D"/>
                </a:solidFill>
                <a:latin typeface="IBM Plex Sans" pitchFamily="34" charset="0"/>
                <a:ea typeface="IBM Plex Sans" pitchFamily="34" charset="-122"/>
                <a:cs typeface="IBM Plex Sans" pitchFamily="34" charset="-120"/>
              </a:rPr>
              <a:t>Publish</a:t>
            </a:r>
            <a:endParaRPr lang="en-US" sz="1396" dirty="0"/>
          </a:p>
        </p:txBody>
      </p:sp>
      <p:sp>
        <p:nvSpPr>
          <p:cNvPr id="53" name="Text 48"/>
          <p:cNvSpPr/>
          <p:nvPr/>
        </p:nvSpPr>
        <p:spPr>
          <a:xfrm>
            <a:off x="10298455" y="5869871"/>
            <a:ext cx="1221581" cy="233669"/>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4A5568"/>
                </a:solidFill>
                <a:latin typeface="IBM Plex Sans" pitchFamily="34" charset="0"/>
                <a:ea typeface="IBM Plex Sans" pitchFamily="34" charset="-122"/>
                <a:cs typeface="IBM Plex Sans" pitchFamily="34" charset="-120"/>
              </a:rPr>
              <a:t>[Data Catalogue]</a:t>
            </a:r>
            <a:endParaRPr lang="en-US" sz="1196" dirty="0"/>
          </a:p>
        </p:txBody>
      </p:sp>
      <p:sp>
        <p:nvSpPr>
          <p:cNvPr id="54" name="Shape 49"/>
          <p:cNvSpPr/>
          <p:nvPr/>
        </p:nvSpPr>
        <p:spPr>
          <a:xfrm>
            <a:off x="9045521" y="2822519"/>
            <a:ext cx="2457432" cy="1085778"/>
          </a:xfrm>
          <a:prstGeom prst="roundRect">
            <a:avLst>
              <a:gd name="adj" fmla="val 7895"/>
            </a:avLst>
          </a:prstGeom>
          <a:solidFill>
            <a:srgbClr val="FFFFFF"/>
          </a:solidFill>
          <a:ln w="6350">
            <a:solidFill>
              <a:srgbClr val="DADCE0"/>
            </a:solidFill>
            <a:prstDash val="solid"/>
          </a:ln>
        </p:spPr>
      </p:sp>
      <p:sp>
        <p:nvSpPr>
          <p:cNvPr id="55" name="Text 50"/>
          <p:cNvSpPr/>
          <p:nvPr/>
        </p:nvSpPr>
        <p:spPr>
          <a:xfrm>
            <a:off x="9162400" y="2926680"/>
            <a:ext cx="2290383" cy="225822"/>
          </a:xfrm>
          <a:prstGeom prst="rect">
            <a:avLst/>
          </a:prstGeom>
          <a:noFill/>
          <a:ln/>
        </p:spPr>
        <p:txBody>
          <a:bodyPr wrap="square" lIns="0" tIns="0" rIns="0" bIns="0" rtlCol="0" anchor="t">
            <a:normAutofit/>
          </a:bodyPr>
          <a:lstStyle/>
          <a:p>
            <a:pPr algn="l" indent="0" marL="0">
              <a:lnSpc>
                <a:spcPts val="1622"/>
              </a:lnSpc>
              <a:buNone/>
            </a:pPr>
            <a:r>
              <a:rPr lang="en-US" sz="1159" b="1" spc="50" kern="0" dirty="0">
                <a:solidFill>
                  <a:srgbClr val="2563C9"/>
                </a:solidFill>
                <a:latin typeface="IBM Plex Sans" pitchFamily="34" charset="0"/>
                <a:ea typeface="IBM Plex Sans" pitchFamily="34" charset="-122"/>
                <a:cs typeface="IBM Plex Sans" pitchFamily="34" charset="-120"/>
              </a:rPr>
              <a:t>CAPABILITIES</a:t>
            </a:r>
            <a:endParaRPr lang="en-US" sz="1159" dirty="0"/>
          </a:p>
        </p:txBody>
      </p:sp>
      <p:sp>
        <p:nvSpPr>
          <p:cNvPr id="56" name="Text 51"/>
          <p:cNvSpPr/>
          <p:nvPr/>
        </p:nvSpPr>
        <p:spPr>
          <a:xfrm>
            <a:off x="9162400" y="3152449"/>
            <a:ext cx="2290383" cy="225732"/>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14213D"/>
                </a:solidFill>
                <a:latin typeface="IBM Plex Sans" pitchFamily="34" charset="0"/>
                <a:ea typeface="IBM Plex Sans" pitchFamily="34" charset="-122"/>
                <a:cs typeface="IBM Plex Sans" pitchFamily="34" charset="-120"/>
              </a:rPr>
              <a:t>Subagents · Skills · MCP</a:t>
            </a:r>
            <a:endParaRPr lang="en-US" sz="1159" dirty="0"/>
          </a:p>
        </p:txBody>
      </p:sp>
      <p:sp>
        <p:nvSpPr>
          <p:cNvPr id="57" name="Text 52"/>
          <p:cNvSpPr/>
          <p:nvPr/>
        </p:nvSpPr>
        <p:spPr>
          <a:xfrm>
            <a:off x="9162400" y="3378126"/>
            <a:ext cx="2290383" cy="225732"/>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14213D"/>
                </a:solidFill>
                <a:latin typeface="IBM Plex Sans" pitchFamily="34" charset="0"/>
                <a:ea typeface="IBM Plex Sans" pitchFamily="34" charset="-122"/>
                <a:cs typeface="IBM Plex Sans" pitchFamily="34" charset="-120"/>
              </a:rPr>
              <a:t>Compaction · FS offload</a:t>
            </a:r>
            <a:endParaRPr lang="en-US" sz="1159" dirty="0"/>
          </a:p>
        </p:txBody>
      </p:sp>
      <p:sp>
        <p:nvSpPr>
          <p:cNvPr id="58" name="Text 53"/>
          <p:cNvSpPr/>
          <p:nvPr/>
        </p:nvSpPr>
        <p:spPr>
          <a:xfrm>
            <a:off x="9162400" y="3603805"/>
            <a:ext cx="2290383" cy="225732"/>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4A5568"/>
                </a:solidFill>
                <a:latin typeface="IBM Plex Sans" pitchFamily="34" charset="0"/>
                <a:ea typeface="IBM Plex Sans" pitchFamily="34" charset="-122"/>
                <a:cs typeface="IBM Plex Sans" pitchFamily="34" charset="-120"/>
              </a:rPr>
              <a:t>Used as needed</a:t>
            </a:r>
            <a:endParaRPr lang="en-US" sz="1159" dirty="0"/>
          </a:p>
        </p:txBody>
      </p:sp>
      <p:pic>
        <p:nvPicPr>
          <p:cNvPr id="59" name="Image 3" descr="connector">    </p:cNvPr>
          <p:cNvPicPr>
            <a:picLocks noChangeAspect="1"/>
          </p:cNvPicPr>
          <p:nvPr/>
        </p:nvPicPr>
        <p:blipFill>
          <a:blip r:embed="rId4"/>
          <a:srcRect l="-3" r="-3" t="0" b="0"/>
          <a:stretch/>
        </p:blipFill>
        <p:spPr>
          <a:xfrm>
            <a:off x="2514564" y="2387563"/>
            <a:ext cx="1079500" cy="1028628"/>
          </a:xfrm>
          <a:prstGeom prst="rect">
            <a:avLst/>
          </a:prstGeom>
        </p:spPr>
      </p:pic>
      <p:pic>
        <p:nvPicPr>
          <p:cNvPr id="60" name="Image 4" descr="connector">    </p:cNvPr>
          <p:cNvPicPr>
            <a:picLocks noChangeAspect="1"/>
          </p:cNvPicPr>
          <p:nvPr/>
        </p:nvPicPr>
        <p:blipFill>
          <a:blip r:embed="rId5"/>
          <a:srcRect l="-3" r="-3" t="0" b="0"/>
          <a:stretch/>
        </p:blipFill>
        <p:spPr>
          <a:xfrm>
            <a:off x="4864064" y="2387563"/>
            <a:ext cx="1079500" cy="1028628"/>
          </a:xfrm>
          <a:prstGeom prst="rect">
            <a:avLst/>
          </a:prstGeom>
        </p:spPr>
      </p:pic>
      <p:pic>
        <p:nvPicPr>
          <p:cNvPr id="61" name="Image 5" descr="connector">    </p:cNvPr>
          <p:cNvPicPr>
            <a:picLocks noChangeAspect="1"/>
          </p:cNvPicPr>
          <p:nvPr/>
        </p:nvPicPr>
        <p:blipFill>
          <a:blip r:embed="rId6"/>
          <a:srcRect l="-3" r="-3" t="0" b="0"/>
          <a:stretch/>
        </p:blipFill>
        <p:spPr>
          <a:xfrm>
            <a:off x="6527781" y="1841500"/>
            <a:ext cx="1079500" cy="1028628"/>
          </a:xfrm>
          <a:prstGeom prst="rect">
            <a:avLst/>
          </a:prstGeom>
        </p:spPr>
      </p:pic>
      <p:pic>
        <p:nvPicPr>
          <p:cNvPr id="62" name="Image 6" descr="connector">    </p:cNvPr>
          <p:cNvPicPr>
            <a:picLocks noChangeAspect="1"/>
          </p:cNvPicPr>
          <p:nvPr/>
        </p:nvPicPr>
        <p:blipFill>
          <a:blip r:embed="rId7"/>
          <a:srcRect l="-2" r="-2" t="0" b="0"/>
          <a:stretch/>
        </p:blipFill>
        <p:spPr>
          <a:xfrm>
            <a:off x="8191500" y="2387563"/>
            <a:ext cx="749282" cy="1028628"/>
          </a:xfrm>
          <a:prstGeom prst="rect">
            <a:avLst/>
          </a:prstGeom>
        </p:spPr>
      </p:pic>
      <p:pic>
        <p:nvPicPr>
          <p:cNvPr id="63" name="Image 7" descr="connector">    </p:cNvPr>
          <p:cNvPicPr>
            <a:picLocks noChangeAspect="1"/>
          </p:cNvPicPr>
          <p:nvPr/>
        </p:nvPicPr>
        <p:blipFill>
          <a:blip r:embed="rId8"/>
          <a:srcRect l="0" r="0" t="-18" b="-18"/>
          <a:stretch/>
        </p:blipFill>
        <p:spPr>
          <a:xfrm>
            <a:off x="3695628" y="3860781"/>
            <a:ext cx="101564" cy="857250"/>
          </a:xfrm>
          <a:prstGeom prst="rect">
            <a:avLst/>
          </a:prstGeom>
        </p:spPr>
      </p:pic>
      <p:pic>
        <p:nvPicPr>
          <p:cNvPr id="64" name="Image 8" descr="After approval the flow goes down to publish">    </p:cNvPr>
          <p:cNvPicPr>
            <a:picLocks noChangeAspect="1"/>
          </p:cNvPicPr>
          <p:nvPr/>
        </p:nvPicPr>
        <p:blipFill>
          <a:blip r:embed="rId9"/>
          <a:srcRect l="0" r="0" t="0" b="0"/>
          <a:stretch/>
        </p:blipFill>
        <p:spPr>
          <a:xfrm>
            <a:off x="9842500" y="1828781"/>
            <a:ext cx="1905000" cy="4000500"/>
          </a:xfrm>
          <a:prstGeom prst="rect">
            <a:avLst/>
          </a:prstGeom>
        </p:spPr>
      </p:pic>
      <p:pic>
        <p:nvPicPr>
          <p:cNvPr id="65" name="Image 9" descr="Reviewer issues loop back to the main agent">    </p:cNvPr>
          <p:cNvPicPr>
            <a:picLocks noChangeAspect="1"/>
          </p:cNvPicPr>
          <p:nvPr/>
        </p:nvPicPr>
        <p:blipFill>
          <a:blip r:embed="rId10"/>
          <a:srcRect l="-3" r="-3" t="0" b="0"/>
          <a:stretch/>
        </p:blipFill>
        <p:spPr>
          <a:xfrm>
            <a:off x="3810000" y="3911563"/>
            <a:ext cx="3937000" cy="304782"/>
          </a:xfrm>
          <a:prstGeom prst="rect">
            <a:avLst/>
          </a:prstGeom>
        </p:spPr>
      </p:pic>
      <p:sp>
        <p:nvSpPr>
          <p:cNvPr id="66" name="Text 54"/>
          <p:cNvSpPr/>
          <p:nvPr/>
        </p:nvSpPr>
        <p:spPr>
          <a:xfrm>
            <a:off x="4010660" y="4165563"/>
            <a:ext cx="3662680" cy="23881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8A3F0E"/>
                </a:solidFill>
                <a:latin typeface="IBM Plex Sans" pitchFamily="34" charset="0"/>
                <a:ea typeface="IBM Plex Sans" pitchFamily="34" charset="-122"/>
                <a:cs typeface="IBM Plex Sans" pitchFamily="34" charset="-120"/>
              </a:rPr>
              <a:t>↺ Issues → main agent re-edits the canvas</a:t>
            </a:r>
            <a:endParaRPr lang="en-US" sz="1200" dirty="0"/>
          </a:p>
        </p:txBody>
      </p:sp>
      <p:pic>
        <p:nvPicPr>
          <p:cNvPr id="67" name="Image 10" descr="Changes you request loop back to the main agent">    </p:cNvPr>
          <p:cNvPicPr>
            <a:picLocks noChangeAspect="1"/>
          </p:cNvPicPr>
          <p:nvPr/>
        </p:nvPicPr>
        <p:blipFill>
          <a:blip r:embed="rId11"/>
          <a:srcRect l="-2" r="-2" t="0" b="0"/>
          <a:stretch/>
        </p:blipFill>
        <p:spPr>
          <a:xfrm>
            <a:off x="4445000" y="1193781"/>
            <a:ext cx="4953000" cy="1663628"/>
          </a:xfrm>
          <a:prstGeom prst="rect">
            <a:avLst/>
          </a:prstGeom>
        </p:spPr>
      </p:pic>
      <p:sp>
        <p:nvSpPr>
          <p:cNvPr id="68" name="Text 55"/>
          <p:cNvSpPr/>
          <p:nvPr/>
        </p:nvSpPr>
        <p:spPr>
          <a:xfrm>
            <a:off x="3276546" y="1536626"/>
            <a:ext cx="1193800" cy="421734"/>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8A3F0E"/>
                </a:solidFill>
                <a:latin typeface="IBM Plex Sans" pitchFamily="34" charset="0"/>
                <a:ea typeface="IBM Plex Sans" pitchFamily="34" charset="-122"/>
                <a:cs typeface="IBM Plex Sans" pitchFamily="34" charset="-120"/>
              </a:rPr>
              <a:t>↺ Changes requested</a:t>
            </a:r>
            <a:endParaRPr lang="en-US" sz="1200" dirty="0"/>
          </a:p>
        </p:txBody>
      </p:sp>
    </p:spTree>
  </p:cSld>
  <p:clrMapOvr>
    <a:masterClrMapping/>
  </p:clrMapOvr>
</p:sld>
</file>

<file path=ppt/theme/theme1.xml><?xml version="1.0" encoding="utf-8"?>
<a:theme xmlns:a="http://schemas.openxmlformats.org/drawingml/2006/main" name="Agentic Data Product Curation">
  <a:themeElements>
    <a:clrScheme name="Agentic Data Product Curation">
      <a:dk1>
        <a:srgbClr val="14213D"/>
      </a:dk1>
      <a:lt1>
        <a:srgbClr val="FFFFFF"/>
      </a:lt1>
      <a:dk2>
        <a:srgbClr val="4F596E"/>
      </a:dk2>
      <a:lt2>
        <a:srgbClr val="E8E9EC"/>
      </a:lt2>
      <a:accent1>
        <a:srgbClr val="2563C9"/>
      </a:accent1>
      <a:accent2>
        <a:srgbClr val="8A3F0E"/>
      </a:accent2>
      <a:accent3>
        <a:srgbClr val="1A3D7A"/>
      </a:accent3>
      <a:accent4>
        <a:srgbClr val="C2611A"/>
      </a:accent4>
      <a:accent5>
        <a:srgbClr val="174EA6"/>
      </a:accent5>
      <a:accent6>
        <a:srgbClr val="4A5568"/>
      </a:accent6>
      <a:hlink>
        <a:srgbClr val="0563C1"/>
      </a:hlink>
      <a:folHlink>
        <a:srgbClr val="954F72"/>
      </a:folHlink>
    </a:clrScheme>
    <a:fontScheme name="Agentic Data Product Curat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Data Product Curation</dc:title>
  <dc:subject/>
  <dc:creator/>
  <cp:lastModifiedBy/>
  <cp:revision>1</cp:revision>
  <dcterms:created xsi:type="dcterms:W3CDTF">2026-10-30T13:41:49Z</dcterms:created>
  <dcterms:modified xsi:type="dcterms:W3CDTF">2026-10-30T13:41:49Z</dcterms:modified>
</cp:coreProperties>
</file>