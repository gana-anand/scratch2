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message for the whole session: AI does not modernize legacy code on its own — it amplifies whatever process you wrap around it, good and bad. This session is about the engineering discipline that makes AI reliable on old, undocumented, business-critical systems, not about AI magic. Tool-specific Digit Code features are a separate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stakes with numbers, but caveat: these figures are as reported by vendor/analyst sources — verify the specific ones you present. The core takeaway is the blue box: AI amplifies whatever process surrounds it. Everything that follows is about building that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 it justifies every technique that follows. The key nuance: LLMs nail the WHAT but miss the WHY. The most expensive modernization bugs come from removing behavior that looked redundant but encoded a real-world rule. Silent behavior change is the failure mode the rest of the session is engineered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as a contrast. Vibe coding (freeform prompt-and-patch) is fine for throwaways — even Karpathy, who coined the term, scoped it to weekend projects. It breaks on production and hits a ~3-month tech-debt wall. SDD writes the version-controlled spec first; code is generated and validated against it. The spec is the agent's inner compass and is durable across model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five-step flow. The hardest part of modernization is extracting and pinning down behavior — SDD forces that before code is generated. Honest caveat to mention aloud: SDD adds upfront overhead. The mature pattern is hybrid — vibe-code to explore and discover requirements, then formalize them into version-controlled specs before anything goes near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generate, run/verify, read the failure, fix, re-verify — repeat until pass or budget hit. The agent treats tests/builds/type-checkers/linters as first-class citizens. Why it matters most here: legacy code is under-tested, so objective signals are your only ground truth, and the loop keeps correcting until behavior matches the documented baseline. It also lets one engineer supervise many parallel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expert part. Each failure has a concrete engineering fix — the throughline is: don't trust the model's self-assessment, verify against external executable signals, bound the loop with budgets, give it memory of failures, precise criteria, and a human escalation path. Close with the takeaway: no tests = no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classic techniques that matter MORE in the AI era, not less. Characterization tests lock in current behavior; seams and strangler fig keep the blast radius small; dependency mapping is the fastest, lowest-risk AI win (graph grounding cut hallucination 40-50%); business-rule extraction is a ~83%-accurate first pass, never a replacement for human review. The wrapper pattern is often the fastest safe path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rewrite makes sense only when the architecture is fundamentally broken — big-bang rewrites become multi-year programs that lose confidence before shipping. The wrap pattern is usually the fastest safe path in 2026. The biggest leadership error: comparing AI-augmented modernization to a traditional rewrite's cost. AI changes the economics, so that's the wrong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baseline behavior with characterization tests before refactoring (refactoring without tests is rearranging dynamite). Treat logic extraction as a gate, sequence it tests→expert interviews on exceptions→AI gap-fill. One PR = one intent. Define done up front as functional parity plus performance. Keep security a separate control loop. Release with canary/shadow + rollback. Humans are the final quality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to the team. DOs center on tests-first, spec-first, executable verification, bounded loops with human escalation, keeping legacy live, SME involvement, and knowledge preservation. DON'Ts: no autopilot, no pure syntax translation, don't lock in bugs via AI tests, don't trust self-assessment, no scope creep, no single hero team, and don't optimize the wrong axis or use the traditional-rewrite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insider slide. The single biggest unlock is using AI for comprehension before modification — it's the highest-value, lowest-risk win. Ground agents with a dependency/entity graph to cut hallucination. Parallelize per module. Write failing tests first for the cleanest success signal. Keep the iteration trail as an audit log. Always gate AI output with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cross-cutting shift in AI-assisted coding: context engineering has overtaken prompt engineering. The enemy is context rot — models degrade as the window fills (correctness drops after ~32K tokens per Databricks Mosaic research). Four remedies are becoming standard: a persistent AGENTS.md/CLAUDE.md project-context file (now read natively by most agents), sub-agents to multiply context windows, proactive compaction past ~60% fill, and file-based memory. All of this maps directly onto legacy work, where codebases are far too big for one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transferable playbook the field has converged on by 2026: context engineering, spec-driven development, test-driven agents (TDAD — specs compiled into tests, agent iterates to green), sub-agents to split exploration from editing, verification-first / agentic code review instead of trusting the model's self-judgment, and codebase grounding via graph/AST/retrieval. Closing banner is the credibility anchor: a Dec-2025 field study showed professional developers don't 'vibe' — they retain control via plan files and supervision, and agents still struggle exactly where legacy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round out the session and tend to come up in Q&amp;A. Governance/access ties to zero-trust — agents need secure, governed reach into real systems. Metrics give leadership concrete progress signals. Human-in-the-loop design plus loop economics (budgets) keep things safe and affordable. Knowledge preservation is a strong business-continuity angle as veteran engineers retire. A real before/after mini case study (COBOL → spec → tested slice) lands better than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per the outline. Digit Code's tool-specific features and demo are a separate, dedicated session. Keep today focused on the transferable engineering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that opened the session: AI is an accelerant, discipline is the engine. The four pillars — spec first, verify against real signals, preserve behavior, humans as the final gate. Then open the floor. Reminder: verify any specific figures cited before presenting; vendor blogs sometimes cite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11899087" y="0"/>
            <a:ext cx="292608" cy="1714500"/>
          </a:xfrm>
          <a:prstGeom prst="rect">
            <a:avLst/>
          </a:prstGeom>
          <a:solidFill>
            <a:srgbClr val="4285F4"/>
          </a:solidFill>
          <a:ln/>
        </p:spPr>
      </p:sp>
      <p:sp>
        <p:nvSpPr>
          <p:cNvPr id="3" name="Shape 1"/>
          <p:cNvSpPr/>
          <p:nvPr/>
        </p:nvSpPr>
        <p:spPr>
          <a:xfrm>
            <a:off x="11899087" y="1714500"/>
            <a:ext cx="292608" cy="1714500"/>
          </a:xfrm>
          <a:prstGeom prst="rect">
            <a:avLst/>
          </a:prstGeom>
          <a:solidFill>
            <a:srgbClr val="EA4335"/>
          </a:solidFill>
          <a:ln/>
        </p:spPr>
      </p:sp>
      <p:sp>
        <p:nvSpPr>
          <p:cNvPr id="4" name="Shape 2"/>
          <p:cNvSpPr/>
          <p:nvPr/>
        </p:nvSpPr>
        <p:spPr>
          <a:xfrm>
            <a:off x="11899087" y="3429000"/>
            <a:ext cx="292608" cy="1714500"/>
          </a:xfrm>
          <a:prstGeom prst="rect">
            <a:avLst/>
          </a:prstGeom>
          <a:solidFill>
            <a:srgbClr val="FBBC04"/>
          </a:solidFill>
          <a:ln/>
        </p:spPr>
      </p:sp>
      <p:sp>
        <p:nvSpPr>
          <p:cNvPr id="5" name="Shape 3"/>
          <p:cNvSpPr/>
          <p:nvPr/>
        </p:nvSpPr>
        <p:spPr>
          <a:xfrm>
            <a:off x="11899087" y="5143500"/>
            <a:ext cx="292608" cy="1714500"/>
          </a:xfrm>
          <a:prstGeom prst="rect">
            <a:avLst/>
          </a:prstGeom>
          <a:solidFill>
            <a:srgbClr val="34A853"/>
          </a:solidFill>
          <a:ln/>
        </p:spPr>
      </p:sp>
      <p:sp>
        <p:nvSpPr>
          <p:cNvPr id="6" name="Text 4"/>
          <p:cNvSpPr/>
          <p:nvPr/>
        </p:nvSpPr>
        <p:spPr>
          <a:xfrm>
            <a:off x="822960" y="1600200"/>
            <a:ext cx="9144000" cy="365760"/>
          </a:xfrm>
          <a:prstGeom prst="rect">
            <a:avLst/>
          </a:prstGeom>
          <a:noFill/>
          <a:ln/>
        </p:spPr>
        <p:txBody>
          <a:bodyPr wrap="square" rtlCol="0" anchor="ctr"/>
          <a:lstStyle/>
          <a:p>
            <a:pPr indent="0" marL="0">
              <a:buNone/>
            </a:pPr>
            <a:r>
              <a:rPr lang="en-US" sz="1300" b="1" spc="300" kern="0" dirty="0">
                <a:solidFill>
                  <a:srgbClr val="9AA0A6"/>
                </a:solidFill>
                <a:latin typeface="Arial" pitchFamily="34" charset="0"/>
                <a:ea typeface="Arial" pitchFamily="34" charset="-122"/>
                <a:cs typeface="Arial" pitchFamily="34" charset="-120"/>
              </a:rPr>
              <a:t>ENGINEERING SESSION  ·  2026</a:t>
            </a:r>
            <a:endParaRPr lang="en-US" sz="1300" dirty="0"/>
          </a:p>
        </p:txBody>
      </p:sp>
      <p:sp>
        <p:nvSpPr>
          <p:cNvPr id="7" name="Text 5"/>
          <p:cNvSpPr/>
          <p:nvPr/>
        </p:nvSpPr>
        <p:spPr>
          <a:xfrm>
            <a:off x="777240" y="2057400"/>
            <a:ext cx="10241280" cy="2011680"/>
          </a:xfrm>
          <a:prstGeom prst="rect">
            <a:avLst/>
          </a:prstGeom>
          <a:noFill/>
          <a:ln/>
        </p:spPr>
        <p:txBody>
          <a:bodyPr wrap="square" rtlCol="0" anchor="ctr"/>
          <a:lstStyle/>
          <a:p>
            <a:pPr indent="0" marL="0">
              <a:lnSpc>
                <a:spcPct val="100000"/>
              </a:lnSpc>
              <a:buNone/>
            </a:pPr>
            <a:r>
              <a:rPr lang="en-US" sz="5200" b="1" dirty="0">
                <a:solidFill>
                  <a:srgbClr val="FFFFFF"/>
                </a:solidFill>
                <a:latin typeface="Arial" pitchFamily="34" charset="0"/>
                <a:ea typeface="Arial" pitchFamily="34" charset="-122"/>
                <a:cs typeface="Arial" pitchFamily="34" charset="-120"/>
              </a:rPr>
              <a:t>Legacy Modernization</a:t>
            </a:r>
            <a:endParaRPr lang="en-US" sz="5200" dirty="0"/>
          </a:p>
          <a:p>
            <a:pPr indent="0" marL="0">
              <a:lnSpc>
                <a:spcPct val="100000"/>
              </a:lnSpc>
              <a:buNone/>
            </a:pPr>
            <a:r>
              <a:rPr lang="en-US" sz="5200" b="1" dirty="0">
                <a:solidFill>
                  <a:srgbClr val="FFFFFF"/>
                </a:solidFill>
                <a:latin typeface="Arial" pitchFamily="34" charset="0"/>
                <a:ea typeface="Arial" pitchFamily="34" charset="-122"/>
                <a:cs typeface="Arial" pitchFamily="34" charset="-120"/>
              </a:rPr>
              <a:t>Using AI</a:t>
            </a:r>
            <a:endParaRPr lang="en-US" sz="5200" dirty="0"/>
          </a:p>
        </p:txBody>
      </p:sp>
      <p:sp>
        <p:nvSpPr>
          <p:cNvPr id="8" name="Text 6"/>
          <p:cNvSpPr/>
          <p:nvPr/>
        </p:nvSpPr>
        <p:spPr>
          <a:xfrm>
            <a:off x="822960" y="4160520"/>
            <a:ext cx="8961120" cy="822960"/>
          </a:xfrm>
          <a:prstGeom prst="rect">
            <a:avLst/>
          </a:prstGeom>
          <a:noFill/>
          <a:ln/>
        </p:spPr>
        <p:txBody>
          <a:bodyPr wrap="square" rtlCol="0" anchor="ctr"/>
          <a:lstStyle/>
          <a:p>
            <a:pPr indent="0" marL="0">
              <a:buNone/>
            </a:pPr>
            <a:r>
              <a:rPr lang="en-US" sz="1700" dirty="0">
                <a:solidFill>
                  <a:srgbClr val="C9CDD3"/>
                </a:solidFill>
                <a:latin typeface="Arial" pitchFamily="34" charset="0"/>
                <a:ea typeface="Arial" pitchFamily="34" charset="-122"/>
                <a:cs typeface="Arial" pitchFamily="34" charset="-120"/>
              </a:rPr>
              <a:t>Techniques, disciplines, and traps — doing it responsibly on old, undocumented, business-critical systems.</a:t>
            </a:r>
            <a:endParaRPr lang="en-US" sz="1700" dirty="0"/>
          </a:p>
        </p:txBody>
      </p:sp>
      <p:sp>
        <p:nvSpPr>
          <p:cNvPr id="9" name="Shape 7"/>
          <p:cNvSpPr/>
          <p:nvPr/>
        </p:nvSpPr>
        <p:spPr>
          <a:xfrm>
            <a:off x="822960" y="5166360"/>
            <a:ext cx="201168" cy="201168"/>
          </a:xfrm>
          <a:prstGeom prst="ellipse">
            <a:avLst/>
          </a:prstGeom>
          <a:solidFill>
            <a:srgbClr val="4285F4"/>
          </a:solidFill>
          <a:ln/>
        </p:spPr>
      </p:sp>
      <p:sp>
        <p:nvSpPr>
          <p:cNvPr id="10" name="Shape 8"/>
          <p:cNvSpPr/>
          <p:nvPr/>
        </p:nvSpPr>
        <p:spPr>
          <a:xfrm>
            <a:off x="1133856" y="5166360"/>
            <a:ext cx="201168" cy="201168"/>
          </a:xfrm>
          <a:prstGeom prst="ellipse">
            <a:avLst/>
          </a:prstGeom>
          <a:solidFill>
            <a:srgbClr val="EA4335"/>
          </a:solidFill>
          <a:ln/>
        </p:spPr>
      </p:sp>
      <p:sp>
        <p:nvSpPr>
          <p:cNvPr id="11" name="Shape 9"/>
          <p:cNvSpPr/>
          <p:nvPr/>
        </p:nvSpPr>
        <p:spPr>
          <a:xfrm>
            <a:off x="1444752" y="5166360"/>
            <a:ext cx="201168" cy="201168"/>
          </a:xfrm>
          <a:prstGeom prst="ellipse">
            <a:avLst/>
          </a:prstGeom>
          <a:solidFill>
            <a:srgbClr val="FBBC04"/>
          </a:solidFill>
          <a:ln/>
        </p:spPr>
      </p:sp>
      <p:sp>
        <p:nvSpPr>
          <p:cNvPr id="12" name="Shape 10"/>
          <p:cNvSpPr/>
          <p:nvPr/>
        </p:nvSpPr>
        <p:spPr>
          <a:xfrm>
            <a:off x="1755648" y="5166360"/>
            <a:ext cx="201168" cy="201168"/>
          </a:xfrm>
          <a:prstGeom prst="ellipse">
            <a:avLst/>
          </a:prstGeom>
          <a:solidFill>
            <a:srgbClr val="34A853"/>
          </a:solidFill>
          <a:ln/>
        </p:spPr>
      </p:sp>
      <p:sp>
        <p:nvSpPr>
          <p:cNvPr id="13" name="Text 11"/>
          <p:cNvSpPr/>
          <p:nvPr/>
        </p:nvSpPr>
        <p:spPr>
          <a:xfrm>
            <a:off x="822960" y="5715000"/>
            <a:ext cx="10058400" cy="365760"/>
          </a:xfrm>
          <a:prstGeom prst="rect">
            <a:avLst/>
          </a:prstGeom>
          <a:noFill/>
          <a:ln/>
        </p:spPr>
        <p:txBody>
          <a:bodyPr wrap="square" rtlCol="0" anchor="ctr"/>
          <a:lstStyle/>
          <a:p>
            <a:pPr indent="0" marL="0">
              <a:buNone/>
            </a:pPr>
            <a:r>
              <a:rPr lang="en-US" sz="1300" i="1" dirty="0">
                <a:solidFill>
                  <a:srgbClr val="9AA0A6"/>
                </a:solidFill>
                <a:latin typeface="Arial" pitchFamily="34" charset="0"/>
                <a:ea typeface="Arial" pitchFamily="34" charset="-122"/>
                <a:cs typeface="Arial" pitchFamily="34" charset="-120"/>
              </a:rPr>
              <a:t>Spec-based development  ·  Self-correcting loops  ·  Do's &amp; Don'ts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FRAMING</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Why this matters now</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Text 6"/>
          <p:cNvSpPr/>
          <p:nvPr/>
        </p:nvSpPr>
        <p:spPr>
          <a:xfrm>
            <a:off x="640080" y="1554480"/>
            <a:ext cx="6400800" cy="1005840"/>
          </a:xfrm>
          <a:prstGeom prst="rect">
            <a:avLst/>
          </a:prstGeom>
          <a:noFill/>
          <a:ln/>
        </p:spPr>
        <p:txBody>
          <a:bodyPr wrap="square" rtlCol="0" anchor="t"/>
          <a:lstStyle/>
          <a:p>
            <a:pPr indent="0" marL="0">
              <a:lnSpc>
                <a:spcPct val="112000"/>
              </a:lnSpc>
              <a:buNone/>
            </a:pPr>
            <a:r>
              <a:rPr lang="en-US" sz="1500" b="1" dirty="0">
                <a:solidFill>
                  <a:srgbClr val="202124"/>
                </a:solidFill>
                <a:latin typeface="Arial" pitchFamily="34" charset="0"/>
                <a:ea typeface="Arial" pitchFamily="34" charset="-122"/>
                <a:cs typeface="Arial" pitchFamily="34" charset="-120"/>
              </a:rPr>
              <a:t>The 2026 question has shifted. </a:t>
            </a:r>
            <a:pPr indent="0" marL="0">
              <a:lnSpc>
                <a:spcPct val="112000"/>
              </a:lnSpc>
              <a:buNone/>
            </a:pPr>
            <a:r>
              <a:rPr lang="en-US" sz="1500" dirty="0">
                <a:solidFill>
                  <a:srgbClr val="5F6368"/>
                </a:solidFill>
                <a:latin typeface="Arial" pitchFamily="34" charset="0"/>
                <a:ea typeface="Arial" pitchFamily="34" charset="-122"/>
                <a:cs typeface="Arial" pitchFamily="34" charset="-120"/>
              </a:rPr>
              <a:t>Leaders no longer ask </a:t>
            </a:r>
            <a:pPr indent="0" marL="0">
              <a:lnSpc>
                <a:spcPct val="112000"/>
              </a:lnSpc>
              <a:buNone/>
            </a:pPr>
            <a:r>
              <a:rPr lang="en-US" sz="1500" i="1" dirty="0">
                <a:solidFill>
                  <a:srgbClr val="202124"/>
                </a:solidFill>
                <a:latin typeface="Arial" pitchFamily="34" charset="0"/>
                <a:ea typeface="Arial" pitchFamily="34" charset="-122"/>
                <a:cs typeface="Arial" pitchFamily="34" charset="-120"/>
              </a:rPr>
              <a:t>“should we modernize?”</a:t>
            </a:r>
            <a:pPr indent="0" marL="0">
              <a:lnSpc>
                <a:spcPct val="112000"/>
              </a:lnSpc>
              <a:buNone/>
            </a:pPr>
            <a:r>
              <a:rPr lang="en-US" sz="1500" dirty="0">
                <a:solidFill>
                  <a:srgbClr val="5F6368"/>
                </a:solidFill>
                <a:latin typeface="Arial" pitchFamily="34" charset="0"/>
                <a:ea typeface="Arial" pitchFamily="34" charset="-122"/>
                <a:cs typeface="Arial" pitchFamily="34" charset="-120"/>
              </a:rPr>
              <a:t> — they ask how far to go, how much to spend, and how to avoid breaking what runs the business.</a:t>
            </a:r>
            <a:endParaRPr lang="en-US" sz="1500" dirty="0"/>
          </a:p>
        </p:txBody>
      </p:sp>
      <p:sp>
        <p:nvSpPr>
          <p:cNvPr id="9" name="Shape 7"/>
          <p:cNvSpPr/>
          <p:nvPr/>
        </p:nvSpPr>
        <p:spPr>
          <a:xfrm>
            <a:off x="640080" y="2697480"/>
            <a:ext cx="6400800" cy="1417320"/>
          </a:xfrm>
          <a:prstGeom prst="roundRect">
            <a:avLst>
              <a:gd name="adj" fmla="val 5161"/>
            </a:avLst>
          </a:prstGeom>
          <a:solidFill>
            <a:srgbClr val="E8F0FE"/>
          </a:solidFill>
          <a:ln w="12700">
            <a:solidFill>
              <a:srgbClr val="E8F0FE"/>
            </a:solidFill>
            <a:prstDash val="solid"/>
          </a:ln>
        </p:spPr>
      </p:sp>
      <p:sp>
        <p:nvSpPr>
          <p:cNvPr id="10" name="Shape 8"/>
          <p:cNvSpPr/>
          <p:nvPr/>
        </p:nvSpPr>
        <p:spPr>
          <a:xfrm>
            <a:off x="640080" y="2697480"/>
            <a:ext cx="82296" cy="1417320"/>
          </a:xfrm>
          <a:prstGeom prst="rect">
            <a:avLst/>
          </a:prstGeom>
          <a:solidFill>
            <a:srgbClr val="4285F4"/>
          </a:solidFill>
          <a:ln/>
        </p:spPr>
      </p:sp>
      <p:sp>
        <p:nvSpPr>
          <p:cNvPr id="11" name="Shape 9"/>
          <p:cNvSpPr/>
          <p:nvPr/>
        </p:nvSpPr>
        <p:spPr>
          <a:xfrm>
            <a:off x="868680" y="2907792"/>
            <a:ext cx="548640" cy="548640"/>
          </a:xfrm>
          <a:prstGeom prst="ellipse">
            <a:avLst/>
          </a:prstGeom>
          <a:solidFill>
            <a:srgbClr val="FFFFFF"/>
          </a:solidFill>
          <a:ln/>
        </p:spPr>
      </p:sp>
      <p:pic>
        <p:nvPicPr>
          <p:cNvPr id="12" name="Image 0" descr="preencoded.png">    </p:cNvPr>
          <p:cNvPicPr>
            <a:picLocks noChangeAspect="1"/>
          </p:cNvPicPr>
          <p:nvPr/>
        </p:nvPicPr>
        <p:blipFill>
          <a:blip r:embed="rId1"/>
          <a:stretch>
            <a:fillRect/>
          </a:stretch>
        </p:blipFill>
        <p:spPr>
          <a:xfrm>
            <a:off x="1016813" y="3055925"/>
            <a:ext cx="252374" cy="252374"/>
          </a:xfrm>
          <a:prstGeom prst="rect">
            <a:avLst/>
          </a:prstGeom>
        </p:spPr>
      </p:pic>
      <p:sp>
        <p:nvSpPr>
          <p:cNvPr id="13" name="Text 10"/>
          <p:cNvSpPr/>
          <p:nvPr/>
        </p:nvSpPr>
        <p:spPr>
          <a:xfrm>
            <a:off x="1600200" y="2852928"/>
            <a:ext cx="5303520" cy="411480"/>
          </a:xfrm>
          <a:prstGeom prst="rect">
            <a:avLst/>
          </a:prstGeom>
          <a:noFill/>
          <a:ln/>
        </p:spPr>
        <p:txBody>
          <a:bodyPr wrap="square" rtlCol="0" anchor="ctr"/>
          <a:lstStyle/>
          <a:p>
            <a:pPr indent="0" marL="0">
              <a:buNone/>
            </a:pPr>
            <a:r>
              <a:rPr lang="en-US" sz="1550" b="1" dirty="0">
                <a:solidFill>
                  <a:srgbClr val="202124"/>
                </a:solidFill>
                <a:latin typeface="Arial" pitchFamily="34" charset="0"/>
                <a:ea typeface="Arial" pitchFamily="34" charset="-122"/>
                <a:cs typeface="Arial" pitchFamily="34" charset="-120"/>
              </a:rPr>
              <a:t>AI amplifies process — it does not replace it.</a:t>
            </a:r>
            <a:endParaRPr lang="en-US" sz="1550" dirty="0"/>
          </a:p>
        </p:txBody>
      </p:sp>
      <p:sp>
        <p:nvSpPr>
          <p:cNvPr id="14" name="Text 11"/>
          <p:cNvSpPr/>
          <p:nvPr/>
        </p:nvSpPr>
        <p:spPr>
          <a:xfrm>
            <a:off x="1600200" y="3255264"/>
            <a:ext cx="5257800" cy="777240"/>
          </a:xfrm>
          <a:prstGeom prst="rect">
            <a:avLst/>
          </a:prstGeom>
          <a:noFill/>
          <a:ln/>
        </p:spPr>
        <p:txBody>
          <a:bodyPr wrap="square" rtlCol="0" anchor="t"/>
          <a:lstStyle/>
          <a:p>
            <a:pPr indent="0" marL="0">
              <a:lnSpc>
                <a:spcPct val="110000"/>
              </a:lnSpc>
              <a:buNone/>
            </a:pPr>
            <a:r>
              <a:rPr lang="en-US" sz="1250" dirty="0">
                <a:solidFill>
                  <a:srgbClr val="5F6368"/>
                </a:solidFill>
                <a:latin typeface="Arial" pitchFamily="34" charset="0"/>
                <a:ea typeface="Arial" pitchFamily="34" charset="-122"/>
                <a:cs typeface="Arial" pitchFamily="34" charset="-120"/>
              </a:rPr>
              <a:t>A team without tests, code search, or observability gets worse output when they layer agents on top — not better. The discipline comes first.</a:t>
            </a:r>
            <a:endParaRPr lang="en-US" sz="1250" dirty="0"/>
          </a:p>
        </p:txBody>
      </p:sp>
      <p:sp>
        <p:nvSpPr>
          <p:cNvPr id="15" name="Text 12"/>
          <p:cNvSpPr/>
          <p:nvPr/>
        </p:nvSpPr>
        <p:spPr>
          <a:xfrm>
            <a:off x="640080" y="4297680"/>
            <a:ext cx="6400800" cy="365760"/>
          </a:xfrm>
          <a:prstGeom prst="rect">
            <a:avLst/>
          </a:prstGeom>
          <a:noFill/>
          <a:ln/>
        </p:spPr>
        <p:txBody>
          <a:bodyPr wrap="square" rtlCol="0" anchor="ctr"/>
          <a:lstStyle/>
          <a:p>
            <a:pPr indent="0" marL="0">
              <a:buNone/>
            </a:pPr>
            <a:r>
              <a:rPr lang="en-US" sz="1300" i="1" dirty="0">
                <a:solidFill>
                  <a:srgbClr val="5F6368"/>
                </a:solidFill>
                <a:latin typeface="Arial" pitchFamily="34" charset="0"/>
                <a:ea typeface="Arial" pitchFamily="34" charset="-122"/>
                <a:cs typeface="Arial" pitchFamily="34" charset="-120"/>
              </a:rPr>
              <a:t>This session = engineering discipline, not “AI magic.”</a:t>
            </a:r>
            <a:endParaRPr lang="en-US" sz="1300" dirty="0"/>
          </a:p>
        </p:txBody>
      </p:sp>
      <p:sp>
        <p:nvSpPr>
          <p:cNvPr id="16" name="Shape 13"/>
          <p:cNvSpPr/>
          <p:nvPr/>
        </p:nvSpPr>
        <p:spPr>
          <a:xfrm>
            <a:off x="7360920" y="1554480"/>
            <a:ext cx="4160520" cy="1371600"/>
          </a:xfrm>
          <a:prstGeom prst="roundRect">
            <a:avLst>
              <a:gd name="adj" fmla="val 5333"/>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7" name="Shape 14"/>
          <p:cNvSpPr/>
          <p:nvPr/>
        </p:nvSpPr>
        <p:spPr>
          <a:xfrm>
            <a:off x="7360920" y="1554480"/>
            <a:ext cx="82296" cy="1371600"/>
          </a:xfrm>
          <a:prstGeom prst="rect">
            <a:avLst/>
          </a:prstGeom>
          <a:solidFill>
            <a:srgbClr val="4285F4"/>
          </a:solidFill>
          <a:ln/>
        </p:spPr>
      </p:sp>
      <p:sp>
        <p:nvSpPr>
          <p:cNvPr id="18" name="Text 15"/>
          <p:cNvSpPr/>
          <p:nvPr/>
        </p:nvSpPr>
        <p:spPr>
          <a:xfrm>
            <a:off x="7589520" y="1700784"/>
            <a:ext cx="1828800" cy="640080"/>
          </a:xfrm>
          <a:prstGeom prst="rect">
            <a:avLst/>
          </a:prstGeom>
          <a:noFill/>
          <a:ln/>
        </p:spPr>
        <p:txBody>
          <a:bodyPr wrap="square" rtlCol="0" anchor="ctr"/>
          <a:lstStyle/>
          <a:p>
            <a:pPr indent="0" marL="0">
              <a:buNone/>
            </a:pPr>
            <a:r>
              <a:rPr lang="en-US" sz="3400" b="1" dirty="0">
                <a:solidFill>
                  <a:srgbClr val="4285F4"/>
                </a:solidFill>
                <a:latin typeface="Arial" pitchFamily="34" charset="0"/>
                <a:ea typeface="Arial" pitchFamily="34" charset="-122"/>
                <a:cs typeface="Arial" pitchFamily="34" charset="-120"/>
              </a:rPr>
              <a:t>280K</a:t>
            </a:r>
            <a:endParaRPr lang="en-US" sz="3400" dirty="0"/>
          </a:p>
        </p:txBody>
      </p:sp>
      <p:sp>
        <p:nvSpPr>
          <p:cNvPr id="19" name="Text 16"/>
          <p:cNvSpPr/>
          <p:nvPr/>
        </p:nvSpPr>
        <p:spPr>
          <a:xfrm>
            <a:off x="9372600" y="1737360"/>
            <a:ext cx="2057400" cy="548640"/>
          </a:xfrm>
          <a:prstGeom prst="rect">
            <a:avLst/>
          </a:prstGeom>
          <a:noFill/>
          <a:ln/>
        </p:spPr>
        <p:txBody>
          <a:bodyPr wrap="square" rtlCol="0" anchor="ctr"/>
          <a:lstStyle/>
          <a:p>
            <a:pPr indent="0" marL="0">
              <a:buNone/>
            </a:pPr>
            <a:r>
              <a:rPr lang="en-US" sz="1200" b="1" dirty="0">
                <a:solidFill>
                  <a:srgbClr val="202124"/>
                </a:solidFill>
                <a:latin typeface="Arial" pitchFamily="34" charset="0"/>
                <a:ea typeface="Arial" pitchFamily="34" charset="-122"/>
                <a:cs typeface="Arial" pitchFamily="34" charset="-120"/>
              </a:rPr>
              <a:t>developer-hours saved</a:t>
            </a:r>
            <a:endParaRPr lang="en-US" sz="1200" dirty="0"/>
          </a:p>
        </p:txBody>
      </p:sp>
      <p:sp>
        <p:nvSpPr>
          <p:cNvPr id="20" name="Text 17"/>
          <p:cNvSpPr/>
          <p:nvPr/>
        </p:nvSpPr>
        <p:spPr>
          <a:xfrm>
            <a:off x="7589520" y="2331720"/>
            <a:ext cx="3749040" cy="548640"/>
          </a:xfrm>
          <a:prstGeom prst="rect">
            <a:avLst/>
          </a:prstGeom>
          <a:noFill/>
          <a:ln/>
        </p:spPr>
        <p:txBody>
          <a:bodyPr wrap="square" rtlCol="0" anchor="t"/>
          <a:lstStyle/>
          <a:p>
            <a:pPr indent="0" marL="0">
              <a:lnSpc>
                <a:spcPct val="105000"/>
              </a:lnSpc>
              <a:buNone/>
            </a:pPr>
            <a:r>
              <a:rPr lang="en-US" sz="1000" dirty="0">
                <a:solidFill>
                  <a:srgbClr val="5F6368"/>
                </a:solidFill>
                <a:latin typeface="Arial" pitchFamily="34" charset="0"/>
                <a:ea typeface="Arial" pitchFamily="34" charset="-122"/>
                <a:cs typeface="Arial" pitchFamily="34" charset="-120"/>
              </a:rPr>
              <a:t>Morgan Stanley's DevGen.AI translated millions of lines of legacy code into plain-English specs.</a:t>
            </a:r>
            <a:endParaRPr lang="en-US" sz="1000" dirty="0"/>
          </a:p>
        </p:txBody>
      </p:sp>
      <p:sp>
        <p:nvSpPr>
          <p:cNvPr id="21" name="Shape 18"/>
          <p:cNvSpPr/>
          <p:nvPr/>
        </p:nvSpPr>
        <p:spPr>
          <a:xfrm>
            <a:off x="7360920" y="3072384"/>
            <a:ext cx="4160520" cy="1371600"/>
          </a:xfrm>
          <a:prstGeom prst="roundRect">
            <a:avLst>
              <a:gd name="adj" fmla="val 5333"/>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2" name="Shape 19"/>
          <p:cNvSpPr/>
          <p:nvPr/>
        </p:nvSpPr>
        <p:spPr>
          <a:xfrm>
            <a:off x="7360920" y="3072384"/>
            <a:ext cx="82296" cy="1371600"/>
          </a:xfrm>
          <a:prstGeom prst="rect">
            <a:avLst/>
          </a:prstGeom>
          <a:solidFill>
            <a:srgbClr val="34A853"/>
          </a:solidFill>
          <a:ln/>
        </p:spPr>
      </p:sp>
      <p:sp>
        <p:nvSpPr>
          <p:cNvPr id="23" name="Text 20"/>
          <p:cNvSpPr/>
          <p:nvPr/>
        </p:nvSpPr>
        <p:spPr>
          <a:xfrm>
            <a:off x="7589520" y="3218688"/>
            <a:ext cx="1828800" cy="640080"/>
          </a:xfrm>
          <a:prstGeom prst="rect">
            <a:avLst/>
          </a:prstGeom>
          <a:noFill/>
          <a:ln/>
        </p:spPr>
        <p:txBody>
          <a:bodyPr wrap="square" rtlCol="0" anchor="ctr"/>
          <a:lstStyle/>
          <a:p>
            <a:pPr indent="0" marL="0">
              <a:buNone/>
            </a:pPr>
            <a:r>
              <a:rPr lang="en-US" sz="3400" b="1" dirty="0">
                <a:solidFill>
                  <a:srgbClr val="34A853"/>
                </a:solidFill>
                <a:latin typeface="Arial" pitchFamily="34" charset="0"/>
                <a:ea typeface="Arial" pitchFamily="34" charset="-122"/>
                <a:cs typeface="Arial" pitchFamily="34" charset="-120"/>
              </a:rPr>
              <a:t>40–50%</a:t>
            </a:r>
            <a:endParaRPr lang="en-US" sz="3400" dirty="0"/>
          </a:p>
        </p:txBody>
      </p:sp>
      <p:sp>
        <p:nvSpPr>
          <p:cNvPr id="24" name="Text 21"/>
          <p:cNvSpPr/>
          <p:nvPr/>
        </p:nvSpPr>
        <p:spPr>
          <a:xfrm>
            <a:off x="9372600" y="3255264"/>
            <a:ext cx="2057400" cy="548640"/>
          </a:xfrm>
          <a:prstGeom prst="rect">
            <a:avLst/>
          </a:prstGeom>
          <a:noFill/>
          <a:ln/>
        </p:spPr>
        <p:txBody>
          <a:bodyPr wrap="square" rtlCol="0" anchor="ctr"/>
          <a:lstStyle/>
          <a:p>
            <a:pPr indent="0" marL="0">
              <a:buNone/>
            </a:pPr>
            <a:r>
              <a:rPr lang="en-US" sz="1200" b="1" dirty="0">
                <a:solidFill>
                  <a:srgbClr val="202124"/>
                </a:solidFill>
                <a:latin typeface="Arial" pitchFamily="34" charset="0"/>
                <a:ea typeface="Arial" pitchFamily="34" charset="-122"/>
                <a:cs typeface="Arial" pitchFamily="34" charset="-120"/>
              </a:rPr>
              <a:t>faster timelines</a:t>
            </a:r>
            <a:endParaRPr lang="en-US" sz="1200" dirty="0"/>
          </a:p>
        </p:txBody>
      </p:sp>
      <p:sp>
        <p:nvSpPr>
          <p:cNvPr id="25" name="Text 22"/>
          <p:cNvSpPr/>
          <p:nvPr/>
        </p:nvSpPr>
        <p:spPr>
          <a:xfrm>
            <a:off x="7589520" y="3849624"/>
            <a:ext cx="3749040" cy="548640"/>
          </a:xfrm>
          <a:prstGeom prst="rect">
            <a:avLst/>
          </a:prstGeom>
          <a:noFill/>
          <a:ln/>
        </p:spPr>
        <p:txBody>
          <a:bodyPr wrap="square" rtlCol="0" anchor="t"/>
          <a:lstStyle/>
          <a:p>
            <a:pPr indent="0" marL="0">
              <a:lnSpc>
                <a:spcPct val="105000"/>
              </a:lnSpc>
              <a:buNone/>
            </a:pPr>
            <a:r>
              <a:rPr lang="en-US" sz="1000" dirty="0">
                <a:solidFill>
                  <a:srgbClr val="5F6368"/>
                </a:solidFill>
                <a:latin typeface="Arial" pitchFamily="34" charset="0"/>
                <a:ea typeface="Arial" pitchFamily="34" charset="-122"/>
                <a:cs typeface="Arial" pitchFamily="34" charset="-120"/>
              </a:rPr>
              <a:t>McKinsey estimate for generative AI in modernization — plus ~40% lower tech-debt cost.</a:t>
            </a:r>
            <a:endParaRPr lang="en-US" sz="1000" dirty="0"/>
          </a:p>
        </p:txBody>
      </p:sp>
      <p:sp>
        <p:nvSpPr>
          <p:cNvPr id="26" name="Shape 23"/>
          <p:cNvSpPr/>
          <p:nvPr/>
        </p:nvSpPr>
        <p:spPr>
          <a:xfrm>
            <a:off x="7360920" y="4590288"/>
            <a:ext cx="4160520" cy="1371600"/>
          </a:xfrm>
          <a:prstGeom prst="roundRect">
            <a:avLst>
              <a:gd name="adj" fmla="val 5333"/>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7" name="Shape 24"/>
          <p:cNvSpPr/>
          <p:nvPr/>
        </p:nvSpPr>
        <p:spPr>
          <a:xfrm>
            <a:off x="7360920" y="4590288"/>
            <a:ext cx="82296" cy="1371600"/>
          </a:xfrm>
          <a:prstGeom prst="rect">
            <a:avLst/>
          </a:prstGeom>
          <a:solidFill>
            <a:srgbClr val="EA4335"/>
          </a:solidFill>
          <a:ln/>
        </p:spPr>
      </p:sp>
      <p:sp>
        <p:nvSpPr>
          <p:cNvPr id="28" name="Text 25"/>
          <p:cNvSpPr/>
          <p:nvPr/>
        </p:nvSpPr>
        <p:spPr>
          <a:xfrm>
            <a:off x="7589520" y="4736592"/>
            <a:ext cx="1828800" cy="640080"/>
          </a:xfrm>
          <a:prstGeom prst="rect">
            <a:avLst/>
          </a:prstGeom>
          <a:noFill/>
          <a:ln/>
        </p:spPr>
        <p:txBody>
          <a:bodyPr wrap="square" rtlCol="0" anchor="ctr"/>
          <a:lstStyle/>
          <a:p>
            <a:pPr indent="0" marL="0">
              <a:buNone/>
            </a:pPr>
            <a:r>
              <a:rPr lang="en-US" sz="3400" b="1" dirty="0">
                <a:solidFill>
                  <a:srgbClr val="EA4335"/>
                </a:solidFill>
                <a:latin typeface="Arial" pitchFamily="34" charset="0"/>
                <a:ea typeface="Arial" pitchFamily="34" charset="-122"/>
                <a:cs typeface="Arial" pitchFamily="34" charset="-120"/>
              </a:rPr>
              <a:t>75%+</a:t>
            </a:r>
            <a:endParaRPr lang="en-US" sz="3400" dirty="0"/>
          </a:p>
        </p:txBody>
      </p:sp>
      <p:sp>
        <p:nvSpPr>
          <p:cNvPr id="29" name="Text 26"/>
          <p:cNvSpPr/>
          <p:nvPr/>
        </p:nvSpPr>
        <p:spPr>
          <a:xfrm>
            <a:off x="9372600" y="4773168"/>
            <a:ext cx="2057400" cy="548640"/>
          </a:xfrm>
          <a:prstGeom prst="rect">
            <a:avLst/>
          </a:prstGeom>
          <a:noFill/>
          <a:ln/>
        </p:spPr>
        <p:txBody>
          <a:bodyPr wrap="square" rtlCol="0" anchor="ctr"/>
          <a:lstStyle/>
          <a:p>
            <a:pPr indent="0" marL="0">
              <a:buNone/>
            </a:pPr>
            <a:r>
              <a:rPr lang="en-US" sz="1200" b="1" dirty="0">
                <a:solidFill>
                  <a:srgbClr val="202124"/>
                </a:solidFill>
                <a:latin typeface="Arial" pitchFamily="34" charset="0"/>
                <a:ea typeface="Arial" pitchFamily="34" charset="-122"/>
                <a:cs typeface="Arial" pitchFamily="34" charset="-120"/>
              </a:rPr>
              <a:t>of enterprises</a:t>
            </a:r>
            <a:endParaRPr lang="en-US" sz="1200" dirty="0"/>
          </a:p>
        </p:txBody>
      </p:sp>
      <p:sp>
        <p:nvSpPr>
          <p:cNvPr id="30" name="Text 27"/>
          <p:cNvSpPr/>
          <p:nvPr/>
        </p:nvSpPr>
        <p:spPr>
          <a:xfrm>
            <a:off x="7589520" y="5367528"/>
            <a:ext cx="3749040" cy="548640"/>
          </a:xfrm>
          <a:prstGeom prst="rect">
            <a:avLst/>
          </a:prstGeom>
          <a:noFill/>
          <a:ln/>
        </p:spPr>
        <p:txBody>
          <a:bodyPr wrap="square" rtlCol="0" anchor="t"/>
          <a:lstStyle/>
          <a:p>
            <a:pPr indent="0" marL="0">
              <a:lnSpc>
                <a:spcPct val="105000"/>
              </a:lnSpc>
              <a:buNone/>
            </a:pPr>
            <a:r>
              <a:rPr lang="en-US" sz="1000" dirty="0">
                <a:solidFill>
                  <a:srgbClr val="5F6368"/>
                </a:solidFill>
                <a:latin typeface="Arial" pitchFamily="34" charset="0"/>
                <a:ea typeface="Arial" pitchFamily="34" charset="-122"/>
                <a:cs typeface="Arial" pitchFamily="34" charset="-120"/>
              </a:rPr>
              <a:t>now use AI in their modernization strategy; AI is ~⅓ of modernization spend.</a:t>
            </a:r>
            <a:endParaRPr lang="en-US" sz="1000" dirty="0"/>
          </a:p>
        </p:txBody>
      </p:sp>
      <p:sp>
        <p:nvSpPr>
          <p:cNvPr id="31" name="Shape 28"/>
          <p:cNvSpPr/>
          <p:nvPr/>
        </p:nvSpPr>
        <p:spPr>
          <a:xfrm>
            <a:off x="640080" y="6419088"/>
            <a:ext cx="10908792" cy="0"/>
          </a:xfrm>
          <a:prstGeom prst="line">
            <a:avLst/>
          </a:prstGeom>
          <a:noFill/>
          <a:ln w="12700">
            <a:solidFill>
              <a:srgbClr val="DADCE0"/>
            </a:solidFill>
            <a:prstDash val="solid"/>
          </a:ln>
        </p:spPr>
      </p:sp>
      <p:sp>
        <p:nvSpPr>
          <p:cNvPr id="32" name="Text 29"/>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33" name="Text 30"/>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THE CORE PROBLEM</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Modernization is a requirements problem in disguise</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Text 6"/>
          <p:cNvSpPr/>
          <p:nvPr/>
        </p:nvSpPr>
        <p:spPr>
          <a:xfrm>
            <a:off x="640080" y="1554480"/>
            <a:ext cx="10881360" cy="731520"/>
          </a:xfrm>
          <a:prstGeom prst="rect">
            <a:avLst/>
          </a:prstGeom>
          <a:noFill/>
          <a:ln/>
        </p:spPr>
        <p:txBody>
          <a:bodyPr wrap="square" rtlCol="0" anchor="t"/>
          <a:lstStyle/>
          <a:p>
            <a:pPr indent="0" marL="0">
              <a:lnSpc>
                <a:spcPct val="112000"/>
              </a:lnSpc>
              <a:buNone/>
            </a:pPr>
            <a:r>
              <a:rPr lang="en-US" sz="1450" dirty="0">
                <a:solidFill>
                  <a:srgbClr val="5F6368"/>
                </a:solidFill>
                <a:latin typeface="Arial" pitchFamily="34" charset="0"/>
                <a:ea typeface="Arial" pitchFamily="34" charset="-122"/>
                <a:cs typeface="Arial" pitchFamily="34" charset="-120"/>
              </a:rPr>
              <a:t>Legacy systems hold decades of business logic — pricing rules, tax clauses, validations, workflows — embedded directly in code. Teams aren't just rewriting software; they're recreating behavior they don't fully understand.</a:t>
            </a:r>
            <a:endParaRPr lang="en-US" sz="1450" dirty="0"/>
          </a:p>
        </p:txBody>
      </p:sp>
      <p:sp>
        <p:nvSpPr>
          <p:cNvPr id="9" name="Shape 7"/>
          <p:cNvSpPr/>
          <p:nvPr/>
        </p:nvSpPr>
        <p:spPr>
          <a:xfrm>
            <a:off x="640080" y="2514600"/>
            <a:ext cx="5257800" cy="1691640"/>
          </a:xfrm>
          <a:prstGeom prst="roundRect">
            <a:avLst>
              <a:gd name="adj" fmla="val 4324"/>
            </a:avLst>
          </a:prstGeom>
          <a:solidFill>
            <a:srgbClr val="E6F4EA"/>
          </a:solidFill>
          <a:ln w="12700">
            <a:solidFill>
              <a:srgbClr val="E6F4EA"/>
            </a:solidFill>
            <a:prstDash val="solid"/>
          </a:ln>
        </p:spPr>
      </p:sp>
      <p:sp>
        <p:nvSpPr>
          <p:cNvPr id="10" name="Shape 8"/>
          <p:cNvSpPr/>
          <p:nvPr/>
        </p:nvSpPr>
        <p:spPr>
          <a:xfrm>
            <a:off x="868680" y="2715768"/>
            <a:ext cx="548640" cy="548640"/>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1016813" y="2863901"/>
            <a:ext cx="252374" cy="252374"/>
          </a:xfrm>
          <a:prstGeom prst="rect">
            <a:avLst/>
          </a:prstGeom>
        </p:spPr>
      </p:pic>
      <p:sp>
        <p:nvSpPr>
          <p:cNvPr id="12" name="Text 9"/>
          <p:cNvSpPr/>
          <p:nvPr/>
        </p:nvSpPr>
        <p:spPr>
          <a:xfrm>
            <a:off x="1554480" y="2734056"/>
            <a:ext cx="4206240" cy="365760"/>
          </a:xfrm>
          <a:prstGeom prst="rect">
            <a:avLst/>
          </a:prstGeom>
          <a:noFill/>
          <a:ln/>
        </p:spPr>
        <p:txBody>
          <a:bodyPr wrap="square" rtlCol="0" anchor="ctr"/>
          <a:lstStyle/>
          <a:p>
            <a:pPr indent="0" marL="0">
              <a:buNone/>
            </a:pPr>
            <a:r>
              <a:rPr lang="en-US" sz="1450" b="1" dirty="0">
                <a:solidFill>
                  <a:srgbClr val="202124"/>
                </a:solidFill>
                <a:latin typeface="Arial" pitchFamily="34" charset="0"/>
                <a:ea typeface="Arial" pitchFamily="34" charset="-122"/>
                <a:cs typeface="Arial" pitchFamily="34" charset="-120"/>
              </a:rPr>
              <a:t>LLMs are strong at the WHAT</a:t>
            </a:r>
            <a:endParaRPr lang="en-US" sz="1450" dirty="0"/>
          </a:p>
        </p:txBody>
      </p:sp>
      <p:sp>
        <p:nvSpPr>
          <p:cNvPr id="13" name="Text 10"/>
          <p:cNvSpPr/>
          <p:nvPr/>
        </p:nvSpPr>
        <p:spPr>
          <a:xfrm>
            <a:off x="896112" y="3291840"/>
            <a:ext cx="4800600" cy="777240"/>
          </a:xfrm>
          <a:prstGeom prst="rect">
            <a:avLst/>
          </a:prstGeom>
          <a:noFill/>
          <a:ln/>
        </p:spPr>
        <p:txBody>
          <a:bodyPr wrap="square" rtlCol="0" anchor="t"/>
          <a:lstStyle/>
          <a:p>
            <a:pPr indent="0" marL="0">
              <a:lnSpc>
                <a:spcPct val="110000"/>
              </a:lnSpc>
              <a:buNone/>
            </a:pPr>
            <a:r>
              <a:rPr lang="en-US" sz="1250" dirty="0">
                <a:solidFill>
                  <a:srgbClr val="1E4620"/>
                </a:solidFill>
                <a:latin typeface="Arial" pitchFamily="34" charset="0"/>
                <a:ea typeface="Arial" pitchFamily="34" charset="-122"/>
                <a:cs typeface="Arial" pitchFamily="34" charset="-120"/>
              </a:rPr>
              <a:t>They describe what code does — accurately and fast. Great for comprehension and documentation.</a:t>
            </a:r>
            <a:endParaRPr lang="en-US" sz="1250" dirty="0"/>
          </a:p>
        </p:txBody>
      </p:sp>
      <p:sp>
        <p:nvSpPr>
          <p:cNvPr id="14" name="Shape 11"/>
          <p:cNvSpPr/>
          <p:nvPr/>
        </p:nvSpPr>
        <p:spPr>
          <a:xfrm>
            <a:off x="6263640" y="2514600"/>
            <a:ext cx="5257800" cy="1691640"/>
          </a:xfrm>
          <a:prstGeom prst="roundRect">
            <a:avLst>
              <a:gd name="adj" fmla="val 4324"/>
            </a:avLst>
          </a:prstGeom>
          <a:solidFill>
            <a:srgbClr val="FCE8E6"/>
          </a:solidFill>
          <a:ln w="12700">
            <a:solidFill>
              <a:srgbClr val="FCE8E6"/>
            </a:solidFill>
            <a:prstDash val="solid"/>
          </a:ln>
        </p:spPr>
      </p:sp>
      <p:sp>
        <p:nvSpPr>
          <p:cNvPr id="15" name="Shape 12"/>
          <p:cNvSpPr/>
          <p:nvPr/>
        </p:nvSpPr>
        <p:spPr>
          <a:xfrm>
            <a:off x="6492240" y="2715768"/>
            <a:ext cx="548640" cy="548640"/>
          </a:xfrm>
          <a:prstGeom prst="ellipse">
            <a:avLst/>
          </a:prstGeom>
          <a:solidFill>
            <a:srgbClr val="FFFFFF"/>
          </a:solidFill>
          <a:ln/>
        </p:spPr>
      </p:sp>
      <p:pic>
        <p:nvPicPr>
          <p:cNvPr id="16" name="Image 1" descr="preencoded.png">    </p:cNvPr>
          <p:cNvPicPr>
            <a:picLocks noChangeAspect="1"/>
          </p:cNvPicPr>
          <p:nvPr/>
        </p:nvPicPr>
        <p:blipFill>
          <a:blip r:embed="rId2"/>
          <a:stretch>
            <a:fillRect/>
          </a:stretch>
        </p:blipFill>
        <p:spPr>
          <a:xfrm>
            <a:off x="6640373" y="2863901"/>
            <a:ext cx="252374" cy="252374"/>
          </a:xfrm>
          <a:prstGeom prst="rect">
            <a:avLst/>
          </a:prstGeom>
        </p:spPr>
      </p:pic>
      <p:sp>
        <p:nvSpPr>
          <p:cNvPr id="17" name="Text 13"/>
          <p:cNvSpPr/>
          <p:nvPr/>
        </p:nvSpPr>
        <p:spPr>
          <a:xfrm>
            <a:off x="7178040" y="2734056"/>
            <a:ext cx="4206240" cy="365760"/>
          </a:xfrm>
          <a:prstGeom prst="rect">
            <a:avLst/>
          </a:prstGeom>
          <a:noFill/>
          <a:ln/>
        </p:spPr>
        <p:txBody>
          <a:bodyPr wrap="square" rtlCol="0" anchor="ctr"/>
          <a:lstStyle/>
          <a:p>
            <a:pPr indent="0" marL="0">
              <a:buNone/>
            </a:pPr>
            <a:r>
              <a:rPr lang="en-US" sz="1450" b="1" dirty="0">
                <a:solidFill>
                  <a:srgbClr val="202124"/>
                </a:solidFill>
                <a:latin typeface="Arial" pitchFamily="34" charset="0"/>
                <a:ea typeface="Arial" pitchFamily="34" charset="-122"/>
                <a:cs typeface="Arial" pitchFamily="34" charset="-120"/>
              </a:rPr>
              <a:t>They are weak at the WHY</a:t>
            </a:r>
            <a:endParaRPr lang="en-US" sz="1450" dirty="0"/>
          </a:p>
        </p:txBody>
      </p:sp>
      <p:sp>
        <p:nvSpPr>
          <p:cNvPr id="18" name="Text 14"/>
          <p:cNvSpPr/>
          <p:nvPr/>
        </p:nvSpPr>
        <p:spPr>
          <a:xfrm>
            <a:off x="6519672" y="3291840"/>
            <a:ext cx="4846320" cy="822960"/>
          </a:xfrm>
          <a:prstGeom prst="rect">
            <a:avLst/>
          </a:prstGeom>
          <a:noFill/>
          <a:ln/>
        </p:spPr>
        <p:txBody>
          <a:bodyPr wrap="square" rtlCol="0" anchor="t"/>
          <a:lstStyle/>
          <a:p>
            <a:pPr indent="0" marL="0">
              <a:lnSpc>
                <a:spcPct val="110000"/>
              </a:lnSpc>
              <a:buNone/>
            </a:pPr>
            <a:r>
              <a:rPr lang="en-US" sz="1250" dirty="0">
                <a:solidFill>
                  <a:srgbClr val="5B1B14"/>
                </a:solidFill>
                <a:latin typeface="Arial" pitchFamily="34" charset="0"/>
                <a:ea typeface="Arial" pitchFamily="34" charset="-122"/>
                <a:cs typeface="Arial" pitchFamily="34" charset="-120"/>
              </a:rPr>
              <a:t>Business intent, user journeys, edge-case handling — the “why” is exactly what modernization depends on, and it's rarely written down.</a:t>
            </a:r>
            <a:endParaRPr lang="en-US" sz="1250" dirty="0"/>
          </a:p>
        </p:txBody>
      </p:sp>
      <p:sp>
        <p:nvSpPr>
          <p:cNvPr id="19" name="Shape 15"/>
          <p:cNvSpPr/>
          <p:nvPr/>
        </p:nvSpPr>
        <p:spPr>
          <a:xfrm>
            <a:off x="640080" y="4434840"/>
            <a:ext cx="10881360" cy="1143000"/>
          </a:xfrm>
          <a:prstGeom prst="roundRect">
            <a:avLst>
              <a:gd name="adj" fmla="val 6400"/>
            </a:avLst>
          </a:prstGeom>
          <a:solidFill>
            <a:srgbClr val="202124"/>
          </a:solidFill>
          <a:ln w="12700">
            <a:solidFill>
              <a:srgbClr val="202124"/>
            </a:solidFill>
            <a:prstDash val="solid"/>
          </a:ln>
        </p:spPr>
      </p:sp>
      <p:sp>
        <p:nvSpPr>
          <p:cNvPr id="20" name="Shape 16"/>
          <p:cNvSpPr/>
          <p:nvPr/>
        </p:nvSpPr>
        <p:spPr>
          <a:xfrm>
            <a:off x="914400" y="4690872"/>
            <a:ext cx="603504" cy="603504"/>
          </a:xfrm>
          <a:prstGeom prst="ellipse">
            <a:avLst/>
          </a:prstGeom>
          <a:solidFill>
            <a:srgbClr val="3C3C00"/>
          </a:solidFill>
          <a:ln/>
        </p:spPr>
      </p:sp>
      <p:pic>
        <p:nvPicPr>
          <p:cNvPr id="21" name="Image 2" descr="preencoded.png">    </p:cNvPr>
          <p:cNvPicPr>
            <a:picLocks noChangeAspect="1"/>
          </p:cNvPicPr>
          <p:nvPr/>
        </p:nvPicPr>
        <p:blipFill>
          <a:blip r:embed="rId3"/>
          <a:stretch>
            <a:fillRect/>
          </a:stretch>
        </p:blipFill>
        <p:spPr>
          <a:xfrm>
            <a:off x="1077346" y="4853818"/>
            <a:ext cx="277612" cy="277612"/>
          </a:xfrm>
          <a:prstGeom prst="rect">
            <a:avLst/>
          </a:prstGeom>
        </p:spPr>
      </p:pic>
      <p:sp>
        <p:nvSpPr>
          <p:cNvPr id="22" name="Text 17"/>
          <p:cNvSpPr/>
          <p:nvPr/>
        </p:nvSpPr>
        <p:spPr>
          <a:xfrm>
            <a:off x="1783080" y="4572000"/>
            <a:ext cx="9509760" cy="868680"/>
          </a:xfrm>
          <a:prstGeom prst="rect">
            <a:avLst/>
          </a:prstGeom>
          <a:noFill/>
          <a:ln/>
        </p:spPr>
        <p:txBody>
          <a:bodyPr wrap="square" rtlCol="0" anchor="ctr"/>
          <a:lstStyle/>
          <a:p>
            <a:pPr indent="0" marL="0">
              <a:lnSpc>
                <a:spcPct val="110000"/>
              </a:lnSpc>
              <a:buNone/>
            </a:pPr>
            <a:r>
              <a:rPr lang="en-US" sz="1300" b="1" dirty="0">
                <a:solidFill>
                  <a:srgbClr val="FBBC04"/>
                </a:solidFill>
                <a:latin typeface="Arial" pitchFamily="34" charset="0"/>
                <a:ea typeface="Arial" pitchFamily="34" charset="-122"/>
                <a:cs typeface="Arial" pitchFamily="34" charset="-120"/>
              </a:rPr>
              <a:t>The #1 risk: silent behavior change.  </a:t>
            </a:r>
            <a:pPr indent="0" marL="0">
              <a:lnSpc>
                <a:spcPct val="110000"/>
              </a:lnSpc>
              <a:buNone/>
            </a:pPr>
            <a:r>
              <a:rPr lang="en-US" sz="1300" dirty="0">
                <a:solidFill>
                  <a:srgbClr val="E8EAED"/>
                </a:solidFill>
                <a:latin typeface="Arial" pitchFamily="34" charset="0"/>
                <a:ea typeface="Arial" pitchFamily="34" charset="-122"/>
                <a:cs typeface="Arial" pitchFamily="34" charset="-120"/>
              </a:rPr>
              <a:t>The new system runs, but behaves subtly differently. The most expensive bugs come from deleting logic that </a:t>
            </a:r>
            <a:pPr indent="0" marL="0">
              <a:lnSpc>
                <a:spcPct val="110000"/>
              </a:lnSpc>
              <a:buNone/>
            </a:pPr>
            <a:r>
              <a:rPr lang="en-US" sz="1300" i="1" dirty="0">
                <a:solidFill>
                  <a:srgbClr val="E8EAED"/>
                </a:solidFill>
                <a:latin typeface="Arial" pitchFamily="34" charset="0"/>
                <a:ea typeface="Arial" pitchFamily="34" charset="-122"/>
                <a:cs typeface="Arial" pitchFamily="34" charset="-120"/>
              </a:rPr>
              <a:t>looked</a:t>
            </a:r>
            <a:pPr indent="0" marL="0">
              <a:lnSpc>
                <a:spcPct val="110000"/>
              </a:lnSpc>
              <a:buNone/>
            </a:pPr>
            <a:r>
              <a:rPr lang="en-US" sz="1300" dirty="0">
                <a:solidFill>
                  <a:srgbClr val="E8EAED"/>
                </a:solidFill>
                <a:latin typeface="Arial" pitchFamily="34" charset="0"/>
                <a:ea typeface="Arial" pitchFamily="34" charset="-122"/>
                <a:cs typeface="Arial" pitchFamily="34" charset="-120"/>
              </a:rPr>
              <a:t> redundant but actually encoded a real rule — a 2014 tax adjustment, a contract clause.</a:t>
            </a:r>
            <a:endParaRPr lang="en-US" sz="1300" dirty="0"/>
          </a:p>
        </p:txBody>
      </p:sp>
      <p:sp>
        <p:nvSpPr>
          <p:cNvPr id="23" name="Shape 18"/>
          <p:cNvSpPr/>
          <p:nvPr/>
        </p:nvSpPr>
        <p:spPr>
          <a:xfrm>
            <a:off x="640080" y="6419088"/>
            <a:ext cx="10908792" cy="0"/>
          </a:xfrm>
          <a:prstGeom prst="line">
            <a:avLst/>
          </a:prstGeom>
          <a:noFill/>
          <a:ln w="12700">
            <a:solidFill>
              <a:srgbClr val="DADCE0"/>
            </a:solidFill>
            <a:prstDash val="solid"/>
          </a:ln>
        </p:spPr>
      </p:sp>
      <p:sp>
        <p:nvSpPr>
          <p:cNvPr id="24" name="Text 19"/>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25" name="Text 20"/>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SPEC-BASED DEVELOPMENT</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Vibe coding vs. spec-driven development</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Shape 6"/>
          <p:cNvSpPr/>
          <p:nvPr/>
        </p:nvSpPr>
        <p:spPr>
          <a:xfrm>
            <a:off x="640080" y="1600200"/>
            <a:ext cx="5257800" cy="3794760"/>
          </a:xfrm>
          <a:prstGeom prst="roundRect">
            <a:avLst>
              <a:gd name="adj" fmla="val 1928"/>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9" name="Shape 7"/>
          <p:cNvSpPr/>
          <p:nvPr/>
        </p:nvSpPr>
        <p:spPr>
          <a:xfrm>
            <a:off x="640080" y="1600200"/>
            <a:ext cx="5257800" cy="640080"/>
          </a:xfrm>
          <a:prstGeom prst="rect">
            <a:avLst/>
          </a:prstGeom>
          <a:solidFill>
            <a:srgbClr val="FCE8E6"/>
          </a:solidFill>
          <a:ln/>
        </p:spPr>
      </p:sp>
      <p:sp>
        <p:nvSpPr>
          <p:cNvPr id="10" name="Shape 8"/>
          <p:cNvSpPr/>
          <p:nvPr/>
        </p:nvSpPr>
        <p:spPr>
          <a:xfrm>
            <a:off x="841248" y="1719072"/>
            <a:ext cx="402336" cy="402336"/>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949879" y="1827703"/>
            <a:ext cx="185075" cy="185075"/>
          </a:xfrm>
          <a:prstGeom prst="rect">
            <a:avLst/>
          </a:prstGeom>
        </p:spPr>
      </p:pic>
      <p:sp>
        <p:nvSpPr>
          <p:cNvPr id="12" name="Text 9"/>
          <p:cNvSpPr/>
          <p:nvPr/>
        </p:nvSpPr>
        <p:spPr>
          <a:xfrm>
            <a:off x="1325880" y="1600200"/>
            <a:ext cx="4389120" cy="640080"/>
          </a:xfrm>
          <a:prstGeom prst="rect">
            <a:avLst/>
          </a:prstGeom>
          <a:noFill/>
          <a:ln/>
        </p:spPr>
        <p:txBody>
          <a:bodyPr wrap="square" rtlCol="0" anchor="ctr"/>
          <a:lstStyle/>
          <a:p>
            <a:pPr indent="0" marL="0">
              <a:buNone/>
            </a:pPr>
            <a:r>
              <a:rPr lang="en-US" sz="1700" b="1" dirty="0">
                <a:solidFill>
                  <a:srgbClr val="202124"/>
                </a:solidFill>
                <a:latin typeface="Arial" pitchFamily="34" charset="0"/>
                <a:ea typeface="Arial" pitchFamily="34" charset="-122"/>
                <a:cs typeface="Arial" pitchFamily="34" charset="-120"/>
              </a:rPr>
              <a:t>Vibe coding</a:t>
            </a:r>
            <a:endParaRPr lang="en-US" sz="1700" dirty="0"/>
          </a:p>
        </p:txBody>
      </p:sp>
      <p:sp>
        <p:nvSpPr>
          <p:cNvPr id="13" name="Text 10"/>
          <p:cNvSpPr/>
          <p:nvPr/>
        </p:nvSpPr>
        <p:spPr>
          <a:xfrm>
            <a:off x="868680" y="2313432"/>
            <a:ext cx="4846320" cy="320040"/>
          </a:xfrm>
          <a:prstGeom prst="rect">
            <a:avLst/>
          </a:prstGeom>
          <a:noFill/>
          <a:ln/>
        </p:spPr>
        <p:txBody>
          <a:bodyPr wrap="square" rtlCol="0" anchor="ctr"/>
          <a:lstStyle/>
          <a:p>
            <a:pPr indent="0" marL="0">
              <a:buNone/>
            </a:pPr>
            <a:r>
              <a:rPr lang="en-US" sz="1150" i="1" dirty="0">
                <a:solidFill>
                  <a:srgbClr val="EA4335"/>
                </a:solidFill>
                <a:latin typeface="Arial" pitchFamily="34" charset="0"/>
                <a:ea typeface="Arial" pitchFamily="34" charset="-122"/>
                <a:cs typeface="Arial" pitchFamily="34" charset="-120"/>
              </a:rPr>
              <a:t>prompt → generate → eyeball → patch → repeat</a:t>
            </a:r>
            <a:endParaRPr lang="en-US" sz="1150" dirty="0"/>
          </a:p>
        </p:txBody>
      </p:sp>
      <p:sp>
        <p:nvSpPr>
          <p:cNvPr id="14" name="Text 11"/>
          <p:cNvSpPr/>
          <p:nvPr/>
        </p:nvSpPr>
        <p:spPr>
          <a:xfrm>
            <a:off x="896112" y="2743200"/>
            <a:ext cx="4846320" cy="2468880"/>
          </a:xfrm>
          <a:prstGeom prst="rect">
            <a:avLst/>
          </a:prstGeom>
          <a:noFill/>
          <a:ln/>
        </p:spPr>
        <p:txBody>
          <a:bodyPr wrap="square" rtlCol="0" anchor="t"/>
          <a:lstStyle/>
          <a:p>
            <a:pPr indent="0" marL="0">
              <a:lnSpc>
                <a:spcPct val="115000"/>
              </a:lnSpc>
              <a:spcAft>
                <a:spcPts val="500"/>
              </a:spcAft>
              <a:buNone/>
            </a:pPr>
            <a:r>
              <a:rPr lang="en-US" sz="1200" b="1" dirty="0">
                <a:solidFill>
                  <a:srgbClr val="202124"/>
                </a:solidFill>
                <a:latin typeface="Arial" pitchFamily="34" charset="0"/>
                <a:ea typeface="Arial" pitchFamily="34" charset="-122"/>
                <a:cs typeface="Arial" pitchFamily="34" charset="-120"/>
              </a:rPr>
              <a:t>Great for: </a:t>
            </a:r>
            <a:pPr indent="0" marL="0">
              <a:lnSpc>
                <a:spcPct val="115000"/>
              </a:lnSpc>
              <a:spcAft>
                <a:spcPts val="500"/>
              </a:spcAft>
              <a:buNone/>
            </a:pPr>
            <a:r>
              <a:rPr lang="en-US" sz="1200" dirty="0">
                <a:solidFill>
                  <a:srgbClr val="5F6368"/>
                </a:solidFill>
                <a:latin typeface="Arial" pitchFamily="34" charset="0"/>
                <a:ea typeface="Arial" pitchFamily="34" charset="-122"/>
                <a:cs typeface="Arial" pitchFamily="34" charset="-120"/>
              </a:rPr>
              <a:t>throwaway prototypes, admin screens, mockups, exploration.</a:t>
            </a:r>
            <a:endParaRPr lang="en-US" sz="1200" dirty="0"/>
          </a:p>
          <a:p>
            <a:pPr indent="0" marL="0">
              <a:lnSpc>
                <a:spcPct val="115000"/>
              </a:lnSpc>
              <a:spcAft>
                <a:spcPts val="500"/>
              </a:spcAft>
              <a:buNone/>
            </a:pPr>
            <a:r>
              <a:rPr lang="en-US" sz="1200" b="1" dirty="0">
                <a:solidFill>
                  <a:srgbClr val="202124"/>
                </a:solidFill>
                <a:latin typeface="Arial" pitchFamily="34" charset="0"/>
                <a:ea typeface="Arial" pitchFamily="34" charset="-122"/>
                <a:cs typeface="Arial" pitchFamily="34" charset="-120"/>
              </a:rPr>
              <a:t>Breaks on: </a:t>
            </a:r>
            <a:pPr indent="0" marL="0">
              <a:lnSpc>
                <a:spcPct val="115000"/>
              </a:lnSpc>
              <a:spcAft>
                <a:spcPts val="500"/>
              </a:spcAft>
              <a:buNone/>
            </a:pPr>
            <a:r>
              <a:rPr lang="en-US" sz="1200" dirty="0">
                <a:solidFill>
                  <a:srgbClr val="5F6368"/>
                </a:solidFill>
                <a:latin typeface="Arial" pitchFamily="34" charset="0"/>
                <a:ea typeface="Arial" pitchFamily="34" charset="-122"/>
                <a:cs typeface="Arial" pitchFamily="34" charset="-120"/>
              </a:rPr>
              <a:t>production systems — and especially legacy modernization.</a:t>
            </a:r>
            <a:endParaRPr lang="en-US" sz="1200" dirty="0"/>
          </a:p>
          <a:p>
            <a:pPr marL="342900" indent="-342900">
              <a:lnSpc>
                <a:spcPct val="115000"/>
              </a:lnSpc>
              <a:spcAft>
                <a:spcPts val="500"/>
              </a:spcAft>
              <a:buSzPct val="100000"/>
              <a:buChar char="•"/>
            </a:pPr>
            <a:r>
              <a:rPr lang="en-US" sz="1200" dirty="0">
                <a:solidFill>
                  <a:srgbClr val="5F6368"/>
                </a:solidFill>
                <a:latin typeface="Arial" pitchFamily="34" charset="0"/>
                <a:ea typeface="Arial" pitchFamily="34" charset="-122"/>
                <a:cs typeface="Arial" pitchFamily="34" charset="-120"/>
              </a:rPr>
              <a:t>Hits a documented ~3-month wall as tech debt compounds.</a:t>
            </a:r>
            <a:endParaRPr lang="en-US" sz="1200" dirty="0"/>
          </a:p>
          <a:p>
            <a:pPr marL="342900" indent="-342900">
              <a:lnSpc>
                <a:spcPct val="115000"/>
              </a:lnSpc>
              <a:spcAft>
                <a:spcPts val="500"/>
              </a:spcAft>
              <a:buSzPct val="100000"/>
              <a:buChar char="•"/>
            </a:pPr>
            <a:r>
              <a:rPr lang="en-US" sz="1200" dirty="0">
                <a:solidFill>
                  <a:srgbClr val="5F6368"/>
                </a:solidFill>
                <a:latin typeface="Arial" pitchFamily="34" charset="0"/>
                <a:ea typeface="Arial" pitchFamily="34" charset="-122"/>
                <a:cs typeface="Arial" pitchFamily="34" charset="-120"/>
              </a:rPr>
              <a:t>No plan, no spec — decisions live in a chat thread.</a:t>
            </a:r>
            <a:endParaRPr lang="en-US" sz="1200" dirty="0"/>
          </a:p>
          <a:p>
            <a:pPr marL="342900" indent="-342900">
              <a:lnSpc>
                <a:spcPct val="115000"/>
              </a:lnSpc>
              <a:spcAft>
                <a:spcPts val="500"/>
              </a:spcAft>
              <a:buSzPct val="100000"/>
              <a:buChar char="•"/>
            </a:pPr>
            <a:r>
              <a:rPr lang="en-US" sz="1200" dirty="0">
                <a:solidFill>
                  <a:srgbClr val="5F6368"/>
                </a:solidFill>
                <a:latin typeface="Arial" pitchFamily="34" charset="0"/>
                <a:ea typeface="Arial" pitchFamily="34" charset="-122"/>
                <a:cs typeface="Arial" pitchFamily="34" charset="-120"/>
              </a:rPr>
              <a:t>New joiners inherit a trail of prompts, not documentation.</a:t>
            </a:r>
            <a:endParaRPr lang="en-US" sz="1200" dirty="0"/>
          </a:p>
        </p:txBody>
      </p:sp>
      <p:sp>
        <p:nvSpPr>
          <p:cNvPr id="15" name="Shape 12"/>
          <p:cNvSpPr/>
          <p:nvPr/>
        </p:nvSpPr>
        <p:spPr>
          <a:xfrm>
            <a:off x="6263640" y="1600200"/>
            <a:ext cx="5257800" cy="3794760"/>
          </a:xfrm>
          <a:prstGeom prst="roundRect">
            <a:avLst>
              <a:gd name="adj" fmla="val 1928"/>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6" name="Shape 13"/>
          <p:cNvSpPr/>
          <p:nvPr/>
        </p:nvSpPr>
        <p:spPr>
          <a:xfrm>
            <a:off x="6263640" y="1600200"/>
            <a:ext cx="5257800" cy="640080"/>
          </a:xfrm>
          <a:prstGeom prst="rect">
            <a:avLst/>
          </a:prstGeom>
          <a:solidFill>
            <a:srgbClr val="E6F4EA"/>
          </a:solidFill>
          <a:ln/>
        </p:spPr>
      </p:sp>
      <p:sp>
        <p:nvSpPr>
          <p:cNvPr id="17" name="Shape 14"/>
          <p:cNvSpPr/>
          <p:nvPr/>
        </p:nvSpPr>
        <p:spPr>
          <a:xfrm>
            <a:off x="6464808" y="1719072"/>
            <a:ext cx="402336" cy="402336"/>
          </a:xfrm>
          <a:prstGeom prst="ellipse">
            <a:avLst/>
          </a:prstGeom>
          <a:solidFill>
            <a:srgbClr val="FFFFFF"/>
          </a:solidFill>
          <a:ln/>
        </p:spPr>
      </p:sp>
      <p:pic>
        <p:nvPicPr>
          <p:cNvPr id="18" name="Image 1" descr="preencoded.png">    </p:cNvPr>
          <p:cNvPicPr>
            <a:picLocks noChangeAspect="1"/>
          </p:cNvPicPr>
          <p:nvPr/>
        </p:nvPicPr>
        <p:blipFill>
          <a:blip r:embed="rId2"/>
          <a:stretch>
            <a:fillRect/>
          </a:stretch>
        </p:blipFill>
        <p:spPr>
          <a:xfrm>
            <a:off x="6573439" y="1827703"/>
            <a:ext cx="185075" cy="185075"/>
          </a:xfrm>
          <a:prstGeom prst="rect">
            <a:avLst/>
          </a:prstGeom>
        </p:spPr>
      </p:pic>
      <p:sp>
        <p:nvSpPr>
          <p:cNvPr id="19" name="Text 15"/>
          <p:cNvSpPr/>
          <p:nvPr/>
        </p:nvSpPr>
        <p:spPr>
          <a:xfrm>
            <a:off x="6949440" y="1600200"/>
            <a:ext cx="4480560" cy="640080"/>
          </a:xfrm>
          <a:prstGeom prst="rect">
            <a:avLst/>
          </a:prstGeom>
          <a:noFill/>
          <a:ln/>
        </p:spPr>
        <p:txBody>
          <a:bodyPr wrap="square" rtlCol="0" anchor="ctr"/>
          <a:lstStyle/>
          <a:p>
            <a:pPr indent="0" marL="0">
              <a:buNone/>
            </a:pPr>
            <a:r>
              <a:rPr lang="en-US" sz="1600" b="1" dirty="0">
                <a:solidFill>
                  <a:srgbClr val="202124"/>
                </a:solidFill>
                <a:latin typeface="Arial" pitchFamily="34" charset="0"/>
                <a:ea typeface="Arial" pitchFamily="34" charset="-122"/>
                <a:cs typeface="Arial" pitchFamily="34" charset="-120"/>
              </a:rPr>
              <a:t>Spec-driven development (SDD)</a:t>
            </a:r>
            <a:endParaRPr lang="en-US" sz="1600" dirty="0"/>
          </a:p>
        </p:txBody>
      </p:sp>
      <p:sp>
        <p:nvSpPr>
          <p:cNvPr id="20" name="Text 16"/>
          <p:cNvSpPr/>
          <p:nvPr/>
        </p:nvSpPr>
        <p:spPr>
          <a:xfrm>
            <a:off x="6492240" y="2313432"/>
            <a:ext cx="4937760" cy="320040"/>
          </a:xfrm>
          <a:prstGeom prst="rect">
            <a:avLst/>
          </a:prstGeom>
          <a:noFill/>
          <a:ln/>
        </p:spPr>
        <p:txBody>
          <a:bodyPr wrap="square" rtlCol="0" anchor="ctr"/>
          <a:lstStyle/>
          <a:p>
            <a:pPr indent="0" marL="0">
              <a:buNone/>
            </a:pPr>
            <a:r>
              <a:rPr lang="en-US" sz="1150" i="1" dirty="0">
                <a:solidFill>
                  <a:srgbClr val="34A853"/>
                </a:solidFill>
                <a:latin typeface="Arial" pitchFamily="34" charset="0"/>
                <a:ea typeface="Arial" pitchFamily="34" charset="-122"/>
                <a:cs typeface="Arial" pitchFamily="34" charset="-120"/>
              </a:rPr>
              <a:t>write the spec first — code is generated against it</a:t>
            </a:r>
            <a:endParaRPr lang="en-US" sz="1150" dirty="0"/>
          </a:p>
        </p:txBody>
      </p:sp>
      <p:sp>
        <p:nvSpPr>
          <p:cNvPr id="21" name="Text 17"/>
          <p:cNvSpPr/>
          <p:nvPr/>
        </p:nvSpPr>
        <p:spPr>
          <a:xfrm>
            <a:off x="6519672" y="2743200"/>
            <a:ext cx="4846320" cy="2468880"/>
          </a:xfrm>
          <a:prstGeom prst="rect">
            <a:avLst/>
          </a:prstGeom>
          <a:noFill/>
          <a:ln/>
        </p:spPr>
        <p:txBody>
          <a:bodyPr wrap="square" rtlCol="0" anchor="t"/>
          <a:lstStyle/>
          <a:p>
            <a:pPr indent="0" marL="0">
              <a:lnSpc>
                <a:spcPct val="115000"/>
              </a:lnSpc>
              <a:spcAft>
                <a:spcPts val="500"/>
              </a:spcAft>
              <a:buNone/>
            </a:pPr>
            <a:r>
              <a:rPr lang="en-US" sz="1200" dirty="0">
                <a:solidFill>
                  <a:srgbClr val="5F6368"/>
                </a:solidFill>
                <a:latin typeface="Arial" pitchFamily="34" charset="0"/>
                <a:ea typeface="Arial" pitchFamily="34" charset="-122"/>
                <a:cs typeface="Arial" pitchFamily="34" charset="-120"/>
              </a:rPr>
              <a:t>A version-controlled spec — requirements, constraints, invariants, acceptance criteria — is the single source of truth.</a:t>
            </a:r>
            <a:endParaRPr lang="en-US" sz="1200" dirty="0"/>
          </a:p>
          <a:p>
            <a:pPr marL="342900" indent="-342900">
              <a:lnSpc>
                <a:spcPct val="115000"/>
              </a:lnSpc>
              <a:spcAft>
                <a:spcPts val="500"/>
              </a:spcAft>
              <a:buSzPct val="100000"/>
              <a:buChar char="•"/>
            </a:pPr>
            <a:r>
              <a:rPr lang="en-US" sz="1200" dirty="0">
                <a:solidFill>
                  <a:srgbClr val="5F6368"/>
                </a:solidFill>
                <a:latin typeface="Arial" pitchFamily="34" charset="0"/>
                <a:ea typeface="Arial" pitchFamily="34" charset="-122"/>
                <a:cs typeface="Arial" pitchFamily="34" charset="-120"/>
              </a:rPr>
              <a:t>Forces behavior to be explicit before code exists.</a:t>
            </a:r>
            <a:endParaRPr lang="en-US" sz="1200" dirty="0"/>
          </a:p>
          <a:p>
            <a:pPr marL="342900" indent="-342900">
              <a:lnSpc>
                <a:spcPct val="115000"/>
              </a:lnSpc>
              <a:spcAft>
                <a:spcPts val="500"/>
              </a:spcAft>
              <a:buSzPct val="100000"/>
              <a:buChar char="•"/>
            </a:pPr>
            <a:r>
              <a:rPr lang="en-US" sz="1200" dirty="0">
                <a:solidFill>
                  <a:srgbClr val="5F6368"/>
                </a:solidFill>
                <a:latin typeface="Arial" pitchFamily="34" charset="0"/>
                <a:ea typeface="Arial" pitchFamily="34" charset="-122"/>
                <a:cs typeface="Arial" pitchFamily="34" charset="-120"/>
              </a:rPr>
              <a:t>Acts as the agent's “inner compass” across iterations.</a:t>
            </a:r>
            <a:endParaRPr lang="en-US" sz="1200" dirty="0"/>
          </a:p>
          <a:p>
            <a:pPr marL="342900" indent="-342900">
              <a:lnSpc>
                <a:spcPct val="115000"/>
              </a:lnSpc>
              <a:spcAft>
                <a:spcPts val="500"/>
              </a:spcAft>
              <a:buSzPct val="100000"/>
              <a:buChar char="•"/>
            </a:pPr>
            <a:r>
              <a:rPr lang="en-US" sz="1200" dirty="0">
                <a:solidFill>
                  <a:srgbClr val="5F6368"/>
                </a:solidFill>
                <a:latin typeface="Arial" pitchFamily="34" charset="0"/>
                <a:ea typeface="Arial" pitchFamily="34" charset="-122"/>
                <a:cs typeface="Arial" pitchFamily="34" charset="-120"/>
              </a:rPr>
              <a:t>Durable: re-run the same spec as models improve.</a:t>
            </a:r>
            <a:endParaRPr lang="en-US" sz="1200" dirty="0"/>
          </a:p>
          <a:p>
            <a:pPr marL="342900" indent="-342900">
              <a:lnSpc>
                <a:spcPct val="115000"/>
              </a:lnSpc>
              <a:spcAft>
                <a:spcPts val="500"/>
              </a:spcAft>
              <a:buSzPct val="100000"/>
              <a:buChar char="•"/>
            </a:pPr>
            <a:r>
              <a:rPr lang="en-US" sz="1200" dirty="0">
                <a:solidFill>
                  <a:srgbClr val="5F6368"/>
                </a:solidFill>
                <a:latin typeface="Arial" pitchFamily="34" charset="0"/>
                <a:ea typeface="Arial" pitchFamily="34" charset="-122"/>
                <a:cs typeface="Arial" pitchFamily="34" charset="-120"/>
              </a:rPr>
              <a:t>Produces small, testable tasks the AI can self-check.</a:t>
            </a:r>
            <a:endParaRPr lang="en-US" sz="1200" dirty="0"/>
          </a:p>
        </p:txBody>
      </p:sp>
      <p:sp>
        <p:nvSpPr>
          <p:cNvPr id="22" name="Shape 18"/>
          <p:cNvSpPr/>
          <p:nvPr/>
        </p:nvSpPr>
        <p:spPr>
          <a:xfrm>
            <a:off x="640080" y="5532120"/>
            <a:ext cx="10881360" cy="658368"/>
          </a:xfrm>
          <a:prstGeom prst="roundRect">
            <a:avLst>
              <a:gd name="adj" fmla="val 11111"/>
            </a:avLst>
          </a:prstGeom>
          <a:solidFill>
            <a:srgbClr val="E8F0FE"/>
          </a:solidFill>
          <a:ln w="12700">
            <a:solidFill>
              <a:srgbClr val="E8F0FE"/>
            </a:solidFill>
            <a:prstDash val="solid"/>
          </a:ln>
        </p:spPr>
      </p:sp>
      <p:sp>
        <p:nvSpPr>
          <p:cNvPr id="23" name="Text 19"/>
          <p:cNvSpPr/>
          <p:nvPr/>
        </p:nvSpPr>
        <p:spPr>
          <a:xfrm>
            <a:off x="640080" y="5532120"/>
            <a:ext cx="10881360" cy="658368"/>
          </a:xfrm>
          <a:prstGeom prst="rect">
            <a:avLst/>
          </a:prstGeom>
          <a:noFill/>
          <a:ln/>
        </p:spPr>
        <p:txBody>
          <a:bodyPr wrap="square" rtlCol="0" anchor="ctr"/>
          <a:lstStyle/>
          <a:p>
            <a:pPr algn="ctr" indent="0" marL="0">
              <a:buNone/>
            </a:pPr>
            <a:r>
              <a:rPr lang="en-US" sz="1500" b="1" dirty="0">
                <a:solidFill>
                  <a:srgbClr val="4285F4"/>
                </a:solidFill>
                <a:latin typeface="Arial" pitchFamily="34" charset="0"/>
                <a:ea typeface="Arial" pitchFamily="34" charset="-122"/>
                <a:cs typeface="Arial" pitchFamily="34" charset="-120"/>
              </a:rPr>
              <a:t>“Vibe coding ships demos. Spec-driven development ships systems.”</a:t>
            </a:r>
            <a:endParaRPr lang="en-US" sz="1500" dirty="0"/>
          </a:p>
        </p:txBody>
      </p:sp>
      <p:sp>
        <p:nvSpPr>
          <p:cNvPr id="24" name="Shape 20"/>
          <p:cNvSpPr/>
          <p:nvPr/>
        </p:nvSpPr>
        <p:spPr>
          <a:xfrm>
            <a:off x="640080" y="6419088"/>
            <a:ext cx="10908792" cy="0"/>
          </a:xfrm>
          <a:prstGeom prst="line">
            <a:avLst/>
          </a:prstGeom>
          <a:noFill/>
          <a:ln w="12700">
            <a:solidFill>
              <a:srgbClr val="DADCE0"/>
            </a:solidFill>
            <a:prstDash val="solid"/>
          </a:ln>
        </p:spPr>
      </p:sp>
      <p:sp>
        <p:nvSpPr>
          <p:cNvPr id="25" name="Text 21"/>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26" name="Text 22"/>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SPEC-BASED DEVELOPMENT</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The workflow — and why it fits modernization</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Shape 6"/>
          <p:cNvSpPr/>
          <p:nvPr/>
        </p:nvSpPr>
        <p:spPr>
          <a:xfrm>
            <a:off x="640080" y="1783080"/>
            <a:ext cx="187452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9" name="Shape 7"/>
          <p:cNvSpPr/>
          <p:nvPr/>
        </p:nvSpPr>
        <p:spPr>
          <a:xfrm>
            <a:off x="640080" y="1783080"/>
            <a:ext cx="1874520" cy="73152"/>
          </a:xfrm>
          <a:prstGeom prst="rect">
            <a:avLst/>
          </a:prstGeom>
          <a:solidFill>
            <a:srgbClr val="4285F4"/>
          </a:solidFill>
          <a:ln/>
        </p:spPr>
      </p:sp>
      <p:sp>
        <p:nvSpPr>
          <p:cNvPr id="10" name="Shape 8"/>
          <p:cNvSpPr/>
          <p:nvPr/>
        </p:nvSpPr>
        <p:spPr>
          <a:xfrm>
            <a:off x="1293876" y="1984248"/>
            <a:ext cx="566928" cy="566928"/>
          </a:xfrm>
          <a:prstGeom prst="ellipse">
            <a:avLst/>
          </a:prstGeom>
          <a:solidFill>
            <a:srgbClr val="E8F0FE"/>
          </a:solidFill>
          <a:ln/>
        </p:spPr>
      </p:sp>
      <p:pic>
        <p:nvPicPr>
          <p:cNvPr id="11" name="Image 0" descr="preencoded.png">    </p:cNvPr>
          <p:cNvPicPr>
            <a:picLocks noChangeAspect="1"/>
          </p:cNvPicPr>
          <p:nvPr/>
        </p:nvPicPr>
        <p:blipFill>
          <a:blip r:embed="rId1"/>
          <a:stretch>
            <a:fillRect/>
          </a:stretch>
        </p:blipFill>
        <p:spPr>
          <a:xfrm>
            <a:off x="1446947" y="2137319"/>
            <a:ext cx="260787" cy="260787"/>
          </a:xfrm>
          <a:prstGeom prst="rect">
            <a:avLst/>
          </a:prstGeom>
        </p:spPr>
      </p:pic>
      <p:sp>
        <p:nvSpPr>
          <p:cNvPr id="12" name="Text 9"/>
          <p:cNvSpPr/>
          <p:nvPr/>
        </p:nvSpPr>
        <p:spPr>
          <a:xfrm>
            <a:off x="640080" y="2606040"/>
            <a:ext cx="1874520" cy="365760"/>
          </a:xfrm>
          <a:prstGeom prst="rect">
            <a:avLst/>
          </a:prstGeom>
          <a:noFill/>
          <a:ln/>
        </p:spPr>
        <p:txBody>
          <a:bodyPr wrap="square" rtlCol="0" anchor="ctr"/>
          <a:lstStyle/>
          <a:p>
            <a:pPr algn="ctr" indent="0" marL="0">
              <a:buNone/>
            </a:pPr>
            <a:r>
              <a:rPr lang="en-US" sz="1300" b="1" dirty="0">
                <a:solidFill>
                  <a:srgbClr val="202124"/>
                </a:solidFill>
                <a:latin typeface="Arial" pitchFamily="34" charset="0"/>
                <a:ea typeface="Arial" pitchFamily="34" charset="-122"/>
                <a:cs typeface="Arial" pitchFamily="34" charset="-120"/>
              </a:rPr>
              <a:t>Specify</a:t>
            </a:r>
            <a:endParaRPr lang="en-US" sz="1300" dirty="0"/>
          </a:p>
        </p:txBody>
      </p:sp>
      <p:sp>
        <p:nvSpPr>
          <p:cNvPr id="13" name="Shape 10"/>
          <p:cNvSpPr/>
          <p:nvPr/>
        </p:nvSpPr>
        <p:spPr>
          <a:xfrm>
            <a:off x="2542032" y="2400300"/>
            <a:ext cx="274320" cy="0"/>
          </a:xfrm>
          <a:prstGeom prst="line">
            <a:avLst/>
          </a:prstGeom>
          <a:noFill/>
          <a:ln w="25400">
            <a:solidFill>
              <a:srgbClr val="5F6368"/>
            </a:solidFill>
            <a:prstDash val="solid"/>
            <a:tailEnd type="triangle"/>
          </a:ln>
        </p:spPr>
      </p:sp>
      <p:sp>
        <p:nvSpPr>
          <p:cNvPr id="14" name="Shape 11"/>
          <p:cNvSpPr/>
          <p:nvPr/>
        </p:nvSpPr>
        <p:spPr>
          <a:xfrm>
            <a:off x="2843784" y="1783080"/>
            <a:ext cx="187452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5" name="Shape 12"/>
          <p:cNvSpPr/>
          <p:nvPr/>
        </p:nvSpPr>
        <p:spPr>
          <a:xfrm>
            <a:off x="2843784" y="1783080"/>
            <a:ext cx="1874520" cy="73152"/>
          </a:xfrm>
          <a:prstGeom prst="rect">
            <a:avLst/>
          </a:prstGeom>
          <a:solidFill>
            <a:srgbClr val="EA4335"/>
          </a:solidFill>
          <a:ln/>
        </p:spPr>
      </p:sp>
      <p:sp>
        <p:nvSpPr>
          <p:cNvPr id="16" name="Shape 13"/>
          <p:cNvSpPr/>
          <p:nvPr/>
        </p:nvSpPr>
        <p:spPr>
          <a:xfrm>
            <a:off x="3497580" y="1984248"/>
            <a:ext cx="566928" cy="566928"/>
          </a:xfrm>
          <a:prstGeom prst="ellipse">
            <a:avLst/>
          </a:prstGeom>
          <a:solidFill>
            <a:srgbClr val="FCE8E6"/>
          </a:solidFill>
          <a:ln/>
        </p:spPr>
      </p:sp>
      <p:pic>
        <p:nvPicPr>
          <p:cNvPr id="17" name="Image 1" descr="preencoded.png">    </p:cNvPr>
          <p:cNvPicPr>
            <a:picLocks noChangeAspect="1"/>
          </p:cNvPicPr>
          <p:nvPr/>
        </p:nvPicPr>
        <p:blipFill>
          <a:blip r:embed="rId2"/>
          <a:stretch>
            <a:fillRect/>
          </a:stretch>
        </p:blipFill>
        <p:spPr>
          <a:xfrm>
            <a:off x="3650651" y="2137319"/>
            <a:ext cx="260787" cy="260787"/>
          </a:xfrm>
          <a:prstGeom prst="rect">
            <a:avLst/>
          </a:prstGeom>
        </p:spPr>
      </p:pic>
      <p:sp>
        <p:nvSpPr>
          <p:cNvPr id="18" name="Text 14"/>
          <p:cNvSpPr/>
          <p:nvPr/>
        </p:nvSpPr>
        <p:spPr>
          <a:xfrm>
            <a:off x="2843784" y="2606040"/>
            <a:ext cx="1874520" cy="365760"/>
          </a:xfrm>
          <a:prstGeom prst="rect">
            <a:avLst/>
          </a:prstGeom>
          <a:noFill/>
          <a:ln/>
        </p:spPr>
        <p:txBody>
          <a:bodyPr wrap="square" rtlCol="0" anchor="ctr"/>
          <a:lstStyle/>
          <a:p>
            <a:pPr algn="ctr" indent="0" marL="0">
              <a:buNone/>
            </a:pPr>
            <a:r>
              <a:rPr lang="en-US" sz="1300" b="1" dirty="0">
                <a:solidFill>
                  <a:srgbClr val="202124"/>
                </a:solidFill>
                <a:latin typeface="Arial" pitchFamily="34" charset="0"/>
                <a:ea typeface="Arial" pitchFamily="34" charset="-122"/>
                <a:cs typeface="Arial" pitchFamily="34" charset="-120"/>
              </a:rPr>
              <a:t>Plan / Design</a:t>
            </a:r>
            <a:endParaRPr lang="en-US" sz="1300" dirty="0"/>
          </a:p>
        </p:txBody>
      </p:sp>
      <p:sp>
        <p:nvSpPr>
          <p:cNvPr id="19" name="Shape 15"/>
          <p:cNvSpPr/>
          <p:nvPr/>
        </p:nvSpPr>
        <p:spPr>
          <a:xfrm>
            <a:off x="4745736" y="2400300"/>
            <a:ext cx="274320" cy="0"/>
          </a:xfrm>
          <a:prstGeom prst="line">
            <a:avLst/>
          </a:prstGeom>
          <a:noFill/>
          <a:ln w="25400">
            <a:solidFill>
              <a:srgbClr val="5F6368"/>
            </a:solidFill>
            <a:prstDash val="solid"/>
            <a:tailEnd type="triangle"/>
          </a:ln>
        </p:spPr>
      </p:sp>
      <p:sp>
        <p:nvSpPr>
          <p:cNvPr id="20" name="Shape 16"/>
          <p:cNvSpPr/>
          <p:nvPr/>
        </p:nvSpPr>
        <p:spPr>
          <a:xfrm>
            <a:off x="5047488" y="1783080"/>
            <a:ext cx="187452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1" name="Shape 17"/>
          <p:cNvSpPr/>
          <p:nvPr/>
        </p:nvSpPr>
        <p:spPr>
          <a:xfrm>
            <a:off x="5047488" y="1783080"/>
            <a:ext cx="1874520" cy="73152"/>
          </a:xfrm>
          <a:prstGeom prst="rect">
            <a:avLst/>
          </a:prstGeom>
          <a:solidFill>
            <a:srgbClr val="FBBC04"/>
          </a:solidFill>
          <a:ln/>
        </p:spPr>
      </p:sp>
      <p:sp>
        <p:nvSpPr>
          <p:cNvPr id="22" name="Shape 18"/>
          <p:cNvSpPr/>
          <p:nvPr/>
        </p:nvSpPr>
        <p:spPr>
          <a:xfrm>
            <a:off x="5701284" y="1984248"/>
            <a:ext cx="566928" cy="566928"/>
          </a:xfrm>
          <a:prstGeom prst="ellipse">
            <a:avLst/>
          </a:prstGeom>
          <a:solidFill>
            <a:srgbClr val="FEF7E0"/>
          </a:solidFill>
          <a:ln/>
        </p:spPr>
      </p:sp>
      <p:pic>
        <p:nvPicPr>
          <p:cNvPr id="23" name="Image 2" descr="preencoded.png">    </p:cNvPr>
          <p:cNvPicPr>
            <a:picLocks noChangeAspect="1"/>
          </p:cNvPicPr>
          <p:nvPr/>
        </p:nvPicPr>
        <p:blipFill>
          <a:blip r:embed="rId3"/>
          <a:stretch>
            <a:fillRect/>
          </a:stretch>
        </p:blipFill>
        <p:spPr>
          <a:xfrm>
            <a:off x="5854355" y="2137319"/>
            <a:ext cx="260787" cy="260787"/>
          </a:xfrm>
          <a:prstGeom prst="rect">
            <a:avLst/>
          </a:prstGeom>
        </p:spPr>
      </p:pic>
      <p:sp>
        <p:nvSpPr>
          <p:cNvPr id="24" name="Text 19"/>
          <p:cNvSpPr/>
          <p:nvPr/>
        </p:nvSpPr>
        <p:spPr>
          <a:xfrm>
            <a:off x="5047488" y="2606040"/>
            <a:ext cx="1874520" cy="365760"/>
          </a:xfrm>
          <a:prstGeom prst="rect">
            <a:avLst/>
          </a:prstGeom>
          <a:noFill/>
          <a:ln/>
        </p:spPr>
        <p:txBody>
          <a:bodyPr wrap="square" rtlCol="0" anchor="ctr"/>
          <a:lstStyle/>
          <a:p>
            <a:pPr algn="ctr" indent="0" marL="0">
              <a:buNone/>
            </a:pPr>
            <a:r>
              <a:rPr lang="en-US" sz="1300" b="1" dirty="0">
                <a:solidFill>
                  <a:srgbClr val="202124"/>
                </a:solidFill>
                <a:latin typeface="Arial" pitchFamily="34" charset="0"/>
                <a:ea typeface="Arial" pitchFamily="34" charset="-122"/>
                <a:cs typeface="Arial" pitchFamily="34" charset="-120"/>
              </a:rPr>
              <a:t>Break into tasks</a:t>
            </a:r>
            <a:endParaRPr lang="en-US" sz="1300" dirty="0"/>
          </a:p>
        </p:txBody>
      </p:sp>
      <p:sp>
        <p:nvSpPr>
          <p:cNvPr id="25" name="Shape 20"/>
          <p:cNvSpPr/>
          <p:nvPr/>
        </p:nvSpPr>
        <p:spPr>
          <a:xfrm>
            <a:off x="6949440" y="2400300"/>
            <a:ext cx="274320" cy="0"/>
          </a:xfrm>
          <a:prstGeom prst="line">
            <a:avLst/>
          </a:prstGeom>
          <a:noFill/>
          <a:ln w="25400">
            <a:solidFill>
              <a:srgbClr val="5F6368"/>
            </a:solidFill>
            <a:prstDash val="solid"/>
            <a:tailEnd type="triangle"/>
          </a:ln>
        </p:spPr>
      </p:sp>
      <p:sp>
        <p:nvSpPr>
          <p:cNvPr id="26" name="Shape 21"/>
          <p:cNvSpPr/>
          <p:nvPr/>
        </p:nvSpPr>
        <p:spPr>
          <a:xfrm>
            <a:off x="7251192" y="1783080"/>
            <a:ext cx="187452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7" name="Shape 22"/>
          <p:cNvSpPr/>
          <p:nvPr/>
        </p:nvSpPr>
        <p:spPr>
          <a:xfrm>
            <a:off x="7251192" y="1783080"/>
            <a:ext cx="1874520" cy="73152"/>
          </a:xfrm>
          <a:prstGeom prst="rect">
            <a:avLst/>
          </a:prstGeom>
          <a:solidFill>
            <a:srgbClr val="34A853"/>
          </a:solidFill>
          <a:ln/>
        </p:spPr>
      </p:sp>
      <p:sp>
        <p:nvSpPr>
          <p:cNvPr id="28" name="Shape 23"/>
          <p:cNvSpPr/>
          <p:nvPr/>
        </p:nvSpPr>
        <p:spPr>
          <a:xfrm>
            <a:off x="7904988" y="1984248"/>
            <a:ext cx="566928" cy="566928"/>
          </a:xfrm>
          <a:prstGeom prst="ellipse">
            <a:avLst/>
          </a:prstGeom>
          <a:solidFill>
            <a:srgbClr val="E6F4EA"/>
          </a:solidFill>
          <a:ln/>
        </p:spPr>
      </p:sp>
      <p:pic>
        <p:nvPicPr>
          <p:cNvPr id="29" name="Image 3" descr="preencoded.png">    </p:cNvPr>
          <p:cNvPicPr>
            <a:picLocks noChangeAspect="1"/>
          </p:cNvPicPr>
          <p:nvPr/>
        </p:nvPicPr>
        <p:blipFill>
          <a:blip r:embed="rId4"/>
          <a:stretch>
            <a:fillRect/>
          </a:stretch>
        </p:blipFill>
        <p:spPr>
          <a:xfrm>
            <a:off x="8058059" y="2137319"/>
            <a:ext cx="260787" cy="260787"/>
          </a:xfrm>
          <a:prstGeom prst="rect">
            <a:avLst/>
          </a:prstGeom>
        </p:spPr>
      </p:pic>
      <p:sp>
        <p:nvSpPr>
          <p:cNvPr id="30" name="Text 24"/>
          <p:cNvSpPr/>
          <p:nvPr/>
        </p:nvSpPr>
        <p:spPr>
          <a:xfrm>
            <a:off x="7251192" y="2606040"/>
            <a:ext cx="1874520" cy="365760"/>
          </a:xfrm>
          <a:prstGeom prst="rect">
            <a:avLst/>
          </a:prstGeom>
          <a:noFill/>
          <a:ln/>
        </p:spPr>
        <p:txBody>
          <a:bodyPr wrap="square" rtlCol="0" anchor="ctr"/>
          <a:lstStyle/>
          <a:p>
            <a:pPr algn="ctr" indent="0" marL="0">
              <a:buNone/>
            </a:pPr>
            <a:r>
              <a:rPr lang="en-US" sz="1300" b="1" dirty="0">
                <a:solidFill>
                  <a:srgbClr val="202124"/>
                </a:solidFill>
                <a:latin typeface="Arial" pitchFamily="34" charset="0"/>
                <a:ea typeface="Arial" pitchFamily="34" charset="-122"/>
                <a:cs typeface="Arial" pitchFamily="34" charset="-120"/>
              </a:rPr>
              <a:t>Implement</a:t>
            </a:r>
            <a:endParaRPr lang="en-US" sz="1300" dirty="0"/>
          </a:p>
        </p:txBody>
      </p:sp>
      <p:sp>
        <p:nvSpPr>
          <p:cNvPr id="31" name="Shape 25"/>
          <p:cNvSpPr/>
          <p:nvPr/>
        </p:nvSpPr>
        <p:spPr>
          <a:xfrm>
            <a:off x="9153144" y="2400300"/>
            <a:ext cx="274320" cy="0"/>
          </a:xfrm>
          <a:prstGeom prst="line">
            <a:avLst/>
          </a:prstGeom>
          <a:noFill/>
          <a:ln w="25400">
            <a:solidFill>
              <a:srgbClr val="5F6368"/>
            </a:solidFill>
            <a:prstDash val="solid"/>
            <a:tailEnd type="triangle"/>
          </a:ln>
        </p:spPr>
      </p:sp>
      <p:sp>
        <p:nvSpPr>
          <p:cNvPr id="32" name="Shape 26"/>
          <p:cNvSpPr/>
          <p:nvPr/>
        </p:nvSpPr>
        <p:spPr>
          <a:xfrm>
            <a:off x="9454896" y="1783080"/>
            <a:ext cx="1874520" cy="1234440"/>
          </a:xfrm>
          <a:prstGeom prst="roundRect">
            <a:avLst>
              <a:gd name="adj" fmla="val 5926"/>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33" name="Shape 27"/>
          <p:cNvSpPr/>
          <p:nvPr/>
        </p:nvSpPr>
        <p:spPr>
          <a:xfrm>
            <a:off x="9454896" y="1783080"/>
            <a:ext cx="1874520" cy="73152"/>
          </a:xfrm>
          <a:prstGeom prst="rect">
            <a:avLst/>
          </a:prstGeom>
          <a:solidFill>
            <a:srgbClr val="4285F4"/>
          </a:solidFill>
          <a:ln/>
        </p:spPr>
      </p:sp>
      <p:sp>
        <p:nvSpPr>
          <p:cNvPr id="34" name="Shape 28"/>
          <p:cNvSpPr/>
          <p:nvPr/>
        </p:nvSpPr>
        <p:spPr>
          <a:xfrm>
            <a:off x="10108692" y="1984248"/>
            <a:ext cx="566928" cy="566928"/>
          </a:xfrm>
          <a:prstGeom prst="ellipse">
            <a:avLst/>
          </a:prstGeom>
          <a:solidFill>
            <a:srgbClr val="E8F0FE"/>
          </a:solidFill>
          <a:ln/>
        </p:spPr>
      </p:sp>
      <p:pic>
        <p:nvPicPr>
          <p:cNvPr id="35" name="Image 4" descr="preencoded.png">    </p:cNvPr>
          <p:cNvPicPr>
            <a:picLocks noChangeAspect="1"/>
          </p:cNvPicPr>
          <p:nvPr/>
        </p:nvPicPr>
        <p:blipFill>
          <a:blip r:embed="rId5"/>
          <a:stretch>
            <a:fillRect/>
          </a:stretch>
        </p:blipFill>
        <p:spPr>
          <a:xfrm>
            <a:off x="10261763" y="2137319"/>
            <a:ext cx="260787" cy="260787"/>
          </a:xfrm>
          <a:prstGeom prst="rect">
            <a:avLst/>
          </a:prstGeom>
        </p:spPr>
      </p:pic>
      <p:sp>
        <p:nvSpPr>
          <p:cNvPr id="36" name="Text 29"/>
          <p:cNvSpPr/>
          <p:nvPr/>
        </p:nvSpPr>
        <p:spPr>
          <a:xfrm>
            <a:off x="9454896" y="2606040"/>
            <a:ext cx="1874520" cy="365760"/>
          </a:xfrm>
          <a:prstGeom prst="rect">
            <a:avLst/>
          </a:prstGeom>
          <a:noFill/>
          <a:ln/>
        </p:spPr>
        <p:txBody>
          <a:bodyPr wrap="square" rtlCol="0" anchor="ctr"/>
          <a:lstStyle/>
          <a:p>
            <a:pPr algn="ctr" indent="0" marL="0">
              <a:buNone/>
            </a:pPr>
            <a:r>
              <a:rPr lang="en-US" sz="1300" b="1" dirty="0">
                <a:solidFill>
                  <a:srgbClr val="202124"/>
                </a:solidFill>
                <a:latin typeface="Arial" pitchFamily="34" charset="0"/>
                <a:ea typeface="Arial" pitchFamily="34" charset="-122"/>
                <a:cs typeface="Arial" pitchFamily="34" charset="-120"/>
              </a:rPr>
              <a:t>Verify</a:t>
            </a:r>
            <a:endParaRPr lang="en-US" sz="1300" dirty="0"/>
          </a:p>
        </p:txBody>
      </p:sp>
      <p:sp>
        <p:nvSpPr>
          <p:cNvPr id="37" name="Text 30"/>
          <p:cNvSpPr/>
          <p:nvPr/>
        </p:nvSpPr>
        <p:spPr>
          <a:xfrm>
            <a:off x="640080" y="3200400"/>
            <a:ext cx="10881360" cy="594360"/>
          </a:xfrm>
          <a:prstGeom prst="rect">
            <a:avLst/>
          </a:prstGeom>
          <a:noFill/>
          <a:ln/>
        </p:spPr>
        <p:txBody>
          <a:bodyPr wrap="square" rtlCol="0" anchor="ctr"/>
          <a:lstStyle/>
          <a:p>
            <a:pPr algn="ctr" indent="0" marL="0">
              <a:lnSpc>
                <a:spcPct val="105000"/>
              </a:lnSpc>
              <a:buNone/>
            </a:pPr>
            <a:r>
              <a:rPr lang="en-US" sz="1250" i="1" dirty="0">
                <a:solidFill>
                  <a:srgbClr val="5F6368"/>
                </a:solidFill>
                <a:latin typeface="Arial" pitchFamily="34" charset="0"/>
                <a:ea typeface="Arial" pitchFamily="34" charset="-122"/>
                <a:cs typeface="Arial" pitchFamily="34" charset="-120"/>
              </a:rPr>
              <a:t>Instead of a vague “build user auth,” the spec yields tasks like “create a registration endpoint that validates email format” — each with acceptance criteria the AI checks itself against.</a:t>
            </a:r>
            <a:endParaRPr lang="en-US" sz="1250" dirty="0"/>
          </a:p>
        </p:txBody>
      </p:sp>
      <p:sp>
        <p:nvSpPr>
          <p:cNvPr id="38" name="Text 31"/>
          <p:cNvSpPr/>
          <p:nvPr/>
        </p:nvSpPr>
        <p:spPr>
          <a:xfrm>
            <a:off x="640080" y="3886200"/>
            <a:ext cx="10881360" cy="274320"/>
          </a:xfrm>
          <a:prstGeom prst="rect">
            <a:avLst/>
          </a:prstGeom>
          <a:noFill/>
          <a:ln/>
        </p:spPr>
        <p:txBody>
          <a:bodyPr wrap="square" rtlCol="0" anchor="ctr"/>
          <a:lstStyle/>
          <a:p>
            <a:pPr indent="0" marL="0">
              <a:buNone/>
            </a:pPr>
            <a:r>
              <a:rPr lang="en-US" sz="1150" b="1" spc="150" kern="0" dirty="0">
                <a:solidFill>
                  <a:srgbClr val="4285F4"/>
                </a:solidFill>
                <a:latin typeface="Arial" pitchFamily="34" charset="0"/>
                <a:ea typeface="Arial" pitchFamily="34" charset="-122"/>
                <a:cs typeface="Arial" pitchFamily="34" charset="-120"/>
              </a:rPr>
              <a:t>WHY SDD IS RIGHT FOR LEGACY MODERNIZATION SPECIFICALLY</a:t>
            </a:r>
            <a:endParaRPr lang="en-US" sz="1150" dirty="0"/>
          </a:p>
        </p:txBody>
      </p:sp>
      <p:sp>
        <p:nvSpPr>
          <p:cNvPr id="39" name="Shape 32"/>
          <p:cNvSpPr/>
          <p:nvPr/>
        </p:nvSpPr>
        <p:spPr>
          <a:xfrm>
            <a:off x="640080" y="4224528"/>
            <a:ext cx="2633472" cy="1417320"/>
          </a:xfrm>
          <a:prstGeom prst="roundRect">
            <a:avLst>
              <a:gd name="adj" fmla="val 5161"/>
            </a:avLst>
          </a:prstGeom>
          <a:solidFill>
            <a:srgbClr val="F8F9FA"/>
          </a:solidFill>
          <a:ln w="12700">
            <a:solidFill>
              <a:srgbClr val="DADCE0"/>
            </a:solidFill>
            <a:prstDash val="solid"/>
          </a:ln>
        </p:spPr>
      </p:sp>
      <p:sp>
        <p:nvSpPr>
          <p:cNvPr id="40" name="Text 33"/>
          <p:cNvSpPr/>
          <p:nvPr/>
        </p:nvSpPr>
        <p:spPr>
          <a:xfrm>
            <a:off x="804672" y="4370832"/>
            <a:ext cx="2304288" cy="502920"/>
          </a:xfrm>
          <a:prstGeom prst="rect">
            <a:avLst/>
          </a:prstGeom>
          <a:noFill/>
          <a:ln/>
        </p:spPr>
        <p:txBody>
          <a:bodyPr wrap="square" rtlCol="0" anchor="t"/>
          <a:lstStyle/>
          <a:p>
            <a:pPr indent="0" marL="0">
              <a:buNone/>
            </a:pPr>
            <a:r>
              <a:rPr lang="en-US" sz="1250" b="1" dirty="0">
                <a:solidFill>
                  <a:srgbClr val="202124"/>
                </a:solidFill>
                <a:latin typeface="Arial" pitchFamily="34" charset="0"/>
                <a:ea typeface="Arial" pitchFamily="34" charset="-122"/>
                <a:cs typeface="Arial" pitchFamily="34" charset="-120"/>
              </a:rPr>
              <a:t>Pins down behavior</a:t>
            </a:r>
            <a:endParaRPr lang="en-US" sz="1250" dirty="0"/>
          </a:p>
        </p:txBody>
      </p:sp>
      <p:sp>
        <p:nvSpPr>
          <p:cNvPr id="41" name="Text 34"/>
          <p:cNvSpPr/>
          <p:nvPr/>
        </p:nvSpPr>
        <p:spPr>
          <a:xfrm>
            <a:off x="804672" y="4791456"/>
            <a:ext cx="2304288" cy="7772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Forces hidden logic to be explicit &amp; inspectable before any code is generated.</a:t>
            </a:r>
            <a:endParaRPr lang="en-US" sz="1050" dirty="0"/>
          </a:p>
        </p:txBody>
      </p:sp>
      <p:sp>
        <p:nvSpPr>
          <p:cNvPr id="42" name="Shape 35"/>
          <p:cNvSpPr/>
          <p:nvPr/>
        </p:nvSpPr>
        <p:spPr>
          <a:xfrm>
            <a:off x="3383280" y="4224528"/>
            <a:ext cx="2633472" cy="1417320"/>
          </a:xfrm>
          <a:prstGeom prst="roundRect">
            <a:avLst>
              <a:gd name="adj" fmla="val 5161"/>
            </a:avLst>
          </a:prstGeom>
          <a:solidFill>
            <a:srgbClr val="F8F9FA"/>
          </a:solidFill>
          <a:ln w="12700">
            <a:solidFill>
              <a:srgbClr val="DADCE0"/>
            </a:solidFill>
            <a:prstDash val="solid"/>
          </a:ln>
        </p:spPr>
      </p:sp>
      <p:sp>
        <p:nvSpPr>
          <p:cNvPr id="43" name="Text 36"/>
          <p:cNvSpPr/>
          <p:nvPr/>
        </p:nvSpPr>
        <p:spPr>
          <a:xfrm>
            <a:off x="3547872" y="4370832"/>
            <a:ext cx="2304288" cy="502920"/>
          </a:xfrm>
          <a:prstGeom prst="rect">
            <a:avLst/>
          </a:prstGeom>
          <a:noFill/>
          <a:ln/>
        </p:spPr>
        <p:txBody>
          <a:bodyPr wrap="square" rtlCol="0" anchor="t"/>
          <a:lstStyle/>
          <a:p>
            <a:pPr indent="0" marL="0">
              <a:buNone/>
            </a:pPr>
            <a:r>
              <a:rPr lang="en-US" sz="1250" b="1" dirty="0">
                <a:solidFill>
                  <a:srgbClr val="202124"/>
                </a:solidFill>
                <a:latin typeface="Arial" pitchFamily="34" charset="0"/>
                <a:ea typeface="Arial" pitchFamily="34" charset="-122"/>
                <a:cs typeface="Arial" pitchFamily="34" charset="-120"/>
              </a:rPr>
              <a:t>Inner compass</a:t>
            </a:r>
            <a:endParaRPr lang="en-US" sz="1250" dirty="0"/>
          </a:p>
        </p:txBody>
      </p:sp>
      <p:sp>
        <p:nvSpPr>
          <p:cNvPr id="44" name="Text 37"/>
          <p:cNvSpPr/>
          <p:nvPr/>
        </p:nvSpPr>
        <p:spPr>
          <a:xfrm>
            <a:off x="3547872" y="4791456"/>
            <a:ext cx="2304288" cy="7772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A foundation of rules that stops the agent getting lost across many iterations.</a:t>
            </a:r>
            <a:endParaRPr lang="en-US" sz="1050" dirty="0"/>
          </a:p>
        </p:txBody>
      </p:sp>
      <p:sp>
        <p:nvSpPr>
          <p:cNvPr id="45" name="Shape 38"/>
          <p:cNvSpPr/>
          <p:nvPr/>
        </p:nvSpPr>
        <p:spPr>
          <a:xfrm>
            <a:off x="6126480" y="4224528"/>
            <a:ext cx="2633472" cy="1417320"/>
          </a:xfrm>
          <a:prstGeom prst="roundRect">
            <a:avLst>
              <a:gd name="adj" fmla="val 5161"/>
            </a:avLst>
          </a:prstGeom>
          <a:solidFill>
            <a:srgbClr val="F8F9FA"/>
          </a:solidFill>
          <a:ln w="12700">
            <a:solidFill>
              <a:srgbClr val="DADCE0"/>
            </a:solidFill>
            <a:prstDash val="solid"/>
          </a:ln>
        </p:spPr>
      </p:sp>
      <p:sp>
        <p:nvSpPr>
          <p:cNvPr id="46" name="Text 39"/>
          <p:cNvSpPr/>
          <p:nvPr/>
        </p:nvSpPr>
        <p:spPr>
          <a:xfrm>
            <a:off x="6291072" y="4370832"/>
            <a:ext cx="2304288" cy="502920"/>
          </a:xfrm>
          <a:prstGeom prst="rect">
            <a:avLst/>
          </a:prstGeom>
          <a:noFill/>
          <a:ln/>
        </p:spPr>
        <p:txBody>
          <a:bodyPr wrap="square" rtlCol="0" anchor="t"/>
          <a:lstStyle/>
          <a:p>
            <a:pPr indent="0" marL="0">
              <a:buNone/>
            </a:pPr>
            <a:r>
              <a:rPr lang="en-US" sz="1250" b="1" dirty="0">
                <a:solidFill>
                  <a:srgbClr val="202124"/>
                </a:solidFill>
                <a:latin typeface="Arial" pitchFamily="34" charset="0"/>
                <a:ea typeface="Arial" pitchFamily="34" charset="-122"/>
                <a:cs typeface="Arial" pitchFamily="34" charset="-120"/>
              </a:rPr>
              <a:t>Durable artifact</a:t>
            </a:r>
            <a:endParaRPr lang="en-US" sz="1250" dirty="0"/>
          </a:p>
        </p:txBody>
      </p:sp>
      <p:sp>
        <p:nvSpPr>
          <p:cNvPr id="47" name="Text 40"/>
          <p:cNvSpPr/>
          <p:nvPr/>
        </p:nvSpPr>
        <p:spPr>
          <a:xfrm>
            <a:off x="6291072" y="4791456"/>
            <a:ext cx="2304288" cy="7772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Re-run the same spec as models improve — no re-prompting from scratch.</a:t>
            </a:r>
            <a:endParaRPr lang="en-US" sz="1050" dirty="0"/>
          </a:p>
        </p:txBody>
      </p:sp>
      <p:sp>
        <p:nvSpPr>
          <p:cNvPr id="48" name="Shape 41"/>
          <p:cNvSpPr/>
          <p:nvPr/>
        </p:nvSpPr>
        <p:spPr>
          <a:xfrm>
            <a:off x="8869680" y="4224528"/>
            <a:ext cx="2633472" cy="1417320"/>
          </a:xfrm>
          <a:prstGeom prst="roundRect">
            <a:avLst>
              <a:gd name="adj" fmla="val 5161"/>
            </a:avLst>
          </a:prstGeom>
          <a:solidFill>
            <a:srgbClr val="F8F9FA"/>
          </a:solidFill>
          <a:ln w="12700">
            <a:solidFill>
              <a:srgbClr val="DADCE0"/>
            </a:solidFill>
            <a:prstDash val="solid"/>
          </a:ln>
        </p:spPr>
      </p:sp>
      <p:sp>
        <p:nvSpPr>
          <p:cNvPr id="49" name="Text 42"/>
          <p:cNvSpPr/>
          <p:nvPr/>
        </p:nvSpPr>
        <p:spPr>
          <a:xfrm>
            <a:off x="9034272" y="4370832"/>
            <a:ext cx="2304288" cy="502920"/>
          </a:xfrm>
          <a:prstGeom prst="rect">
            <a:avLst/>
          </a:prstGeom>
          <a:noFill/>
          <a:ln/>
        </p:spPr>
        <p:txBody>
          <a:bodyPr wrap="square" rtlCol="0" anchor="t"/>
          <a:lstStyle/>
          <a:p>
            <a:pPr indent="0" marL="0">
              <a:buNone/>
            </a:pPr>
            <a:r>
              <a:rPr lang="en-US" sz="1250" b="1" dirty="0">
                <a:solidFill>
                  <a:srgbClr val="202124"/>
                </a:solidFill>
                <a:latin typeface="Arial" pitchFamily="34" charset="0"/>
                <a:ea typeface="Arial" pitchFamily="34" charset="-122"/>
                <a:cs typeface="Arial" pitchFamily="34" charset="-120"/>
              </a:rPr>
              <a:t>Proven by research</a:t>
            </a:r>
            <a:endParaRPr lang="en-US" sz="1250" dirty="0"/>
          </a:p>
        </p:txBody>
      </p:sp>
      <p:sp>
        <p:nvSpPr>
          <p:cNvPr id="50" name="Text 43"/>
          <p:cNvSpPr/>
          <p:nvPr/>
        </p:nvSpPr>
        <p:spPr>
          <a:xfrm>
            <a:off x="9034272" y="4791456"/>
            <a:ext cx="2304288" cy="7772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AgentModernize: an inspectable behavioral spec graph was key to preserving behavior.</a:t>
            </a:r>
            <a:endParaRPr lang="en-US" sz="1050" dirty="0"/>
          </a:p>
        </p:txBody>
      </p:sp>
      <p:sp>
        <p:nvSpPr>
          <p:cNvPr id="51" name="Shape 44"/>
          <p:cNvSpPr/>
          <p:nvPr/>
        </p:nvSpPr>
        <p:spPr>
          <a:xfrm>
            <a:off x="640080" y="6419088"/>
            <a:ext cx="10908792" cy="0"/>
          </a:xfrm>
          <a:prstGeom prst="line">
            <a:avLst/>
          </a:prstGeom>
          <a:noFill/>
          <a:ln w="12700">
            <a:solidFill>
              <a:srgbClr val="DADCE0"/>
            </a:solidFill>
            <a:prstDash val="solid"/>
          </a:ln>
        </p:spPr>
      </p:sp>
      <p:sp>
        <p:nvSpPr>
          <p:cNvPr id="52" name="Text 45"/>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53" name="Text 46"/>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SELF-CORRECTING LOOPS</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Let the system check its own work</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Text 6"/>
          <p:cNvSpPr/>
          <p:nvPr/>
        </p:nvSpPr>
        <p:spPr>
          <a:xfrm>
            <a:off x="640080" y="1536192"/>
            <a:ext cx="10881360" cy="640080"/>
          </a:xfrm>
          <a:prstGeom prst="rect">
            <a:avLst/>
          </a:prstGeom>
          <a:noFill/>
          <a:ln/>
        </p:spPr>
        <p:txBody>
          <a:bodyPr wrap="square" rtlCol="0" anchor="t"/>
          <a:lstStyle/>
          <a:p>
            <a:pPr indent="0" marL="0">
              <a:lnSpc>
                <a:spcPct val="110000"/>
              </a:lnSpc>
              <a:buNone/>
            </a:pPr>
            <a:r>
              <a:rPr lang="en-US" sz="1400" dirty="0">
                <a:solidFill>
                  <a:srgbClr val="5F6368"/>
                </a:solidFill>
                <a:latin typeface="Arial" pitchFamily="34" charset="0"/>
                <a:ea typeface="Arial" pitchFamily="34" charset="-122"/>
                <a:cs typeface="Arial" pitchFamily="34" charset="-120"/>
              </a:rPr>
              <a:t>In modernization you often can't trust the first answer — and you lack a human who knows the system. So the agent must verify against objective signals, not its own say-so.</a:t>
            </a:r>
            <a:endParaRPr lang="en-US" sz="1400" dirty="0"/>
          </a:p>
        </p:txBody>
      </p:sp>
      <p:sp>
        <p:nvSpPr>
          <p:cNvPr id="9" name="Shape 7"/>
          <p:cNvSpPr/>
          <p:nvPr/>
        </p:nvSpPr>
        <p:spPr>
          <a:xfrm>
            <a:off x="868680" y="2514600"/>
            <a:ext cx="2148840" cy="1188720"/>
          </a:xfrm>
          <a:prstGeom prst="roundRect">
            <a:avLst>
              <a:gd name="adj" fmla="val 615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0" name="Shape 8"/>
          <p:cNvSpPr/>
          <p:nvPr/>
        </p:nvSpPr>
        <p:spPr>
          <a:xfrm>
            <a:off x="1069848" y="2825496"/>
            <a:ext cx="566928" cy="566928"/>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1222919" y="2978567"/>
            <a:ext cx="260787" cy="260787"/>
          </a:xfrm>
          <a:prstGeom prst="rect">
            <a:avLst/>
          </a:prstGeom>
        </p:spPr>
      </p:pic>
      <p:sp>
        <p:nvSpPr>
          <p:cNvPr id="12" name="Text 9"/>
          <p:cNvSpPr/>
          <p:nvPr/>
        </p:nvSpPr>
        <p:spPr>
          <a:xfrm>
            <a:off x="1709928" y="2514600"/>
            <a:ext cx="1234440" cy="1188720"/>
          </a:xfrm>
          <a:prstGeom prst="rect">
            <a:avLst/>
          </a:prstGeom>
          <a:noFill/>
          <a:ln/>
        </p:spPr>
        <p:txBody>
          <a:bodyPr wrap="square" rtlCol="0" anchor="ctr"/>
          <a:lstStyle/>
          <a:p>
            <a:pPr indent="0" marL="0">
              <a:buNone/>
            </a:pPr>
            <a:r>
              <a:rPr lang="en-US" sz="1350" b="1" dirty="0">
                <a:solidFill>
                  <a:srgbClr val="202124"/>
                </a:solidFill>
                <a:latin typeface="Arial" pitchFamily="34" charset="0"/>
                <a:ea typeface="Arial" pitchFamily="34" charset="-122"/>
                <a:cs typeface="Arial" pitchFamily="34" charset="-120"/>
              </a:rPr>
              <a:t>Generate</a:t>
            </a:r>
            <a:endParaRPr lang="en-US" sz="1350" dirty="0"/>
          </a:p>
        </p:txBody>
      </p:sp>
      <p:sp>
        <p:nvSpPr>
          <p:cNvPr id="13" name="Shape 10"/>
          <p:cNvSpPr/>
          <p:nvPr/>
        </p:nvSpPr>
        <p:spPr>
          <a:xfrm>
            <a:off x="3054096" y="3108960"/>
            <a:ext cx="429768" cy="0"/>
          </a:xfrm>
          <a:prstGeom prst="line">
            <a:avLst/>
          </a:prstGeom>
          <a:noFill/>
          <a:ln w="31750">
            <a:solidFill>
              <a:srgbClr val="5F6368"/>
            </a:solidFill>
            <a:prstDash val="solid"/>
            <a:tailEnd type="triangle"/>
          </a:ln>
        </p:spPr>
      </p:sp>
      <p:sp>
        <p:nvSpPr>
          <p:cNvPr id="14" name="Shape 11"/>
          <p:cNvSpPr/>
          <p:nvPr/>
        </p:nvSpPr>
        <p:spPr>
          <a:xfrm>
            <a:off x="3520440" y="2514600"/>
            <a:ext cx="2148840" cy="1188720"/>
          </a:xfrm>
          <a:prstGeom prst="roundRect">
            <a:avLst>
              <a:gd name="adj" fmla="val 615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5" name="Shape 12"/>
          <p:cNvSpPr/>
          <p:nvPr/>
        </p:nvSpPr>
        <p:spPr>
          <a:xfrm>
            <a:off x="3721608" y="2825496"/>
            <a:ext cx="566928" cy="566928"/>
          </a:xfrm>
          <a:prstGeom prst="ellipse">
            <a:avLst/>
          </a:prstGeom>
          <a:solidFill>
            <a:srgbClr val="FFFFFF"/>
          </a:solidFill>
          <a:ln/>
        </p:spPr>
      </p:sp>
      <p:pic>
        <p:nvPicPr>
          <p:cNvPr id="16" name="Image 1" descr="preencoded.png">    </p:cNvPr>
          <p:cNvPicPr>
            <a:picLocks noChangeAspect="1"/>
          </p:cNvPicPr>
          <p:nvPr/>
        </p:nvPicPr>
        <p:blipFill>
          <a:blip r:embed="rId2"/>
          <a:stretch>
            <a:fillRect/>
          </a:stretch>
        </p:blipFill>
        <p:spPr>
          <a:xfrm>
            <a:off x="3874679" y="2978567"/>
            <a:ext cx="260787" cy="260787"/>
          </a:xfrm>
          <a:prstGeom prst="rect">
            <a:avLst/>
          </a:prstGeom>
        </p:spPr>
      </p:pic>
      <p:sp>
        <p:nvSpPr>
          <p:cNvPr id="17" name="Text 13"/>
          <p:cNvSpPr/>
          <p:nvPr/>
        </p:nvSpPr>
        <p:spPr>
          <a:xfrm>
            <a:off x="4361688" y="2514600"/>
            <a:ext cx="1234440" cy="1188720"/>
          </a:xfrm>
          <a:prstGeom prst="rect">
            <a:avLst/>
          </a:prstGeom>
          <a:noFill/>
          <a:ln/>
        </p:spPr>
        <p:txBody>
          <a:bodyPr wrap="square" rtlCol="0" anchor="ctr"/>
          <a:lstStyle/>
          <a:p>
            <a:pPr indent="0" marL="0">
              <a:buNone/>
            </a:pPr>
            <a:r>
              <a:rPr lang="en-US" sz="1350" b="1" dirty="0">
                <a:solidFill>
                  <a:srgbClr val="202124"/>
                </a:solidFill>
                <a:latin typeface="Arial" pitchFamily="34" charset="0"/>
                <a:ea typeface="Arial" pitchFamily="34" charset="-122"/>
                <a:cs typeface="Arial" pitchFamily="34" charset="-120"/>
              </a:rPr>
              <a:t>Run / Verify</a:t>
            </a:r>
            <a:endParaRPr lang="en-US" sz="1350" dirty="0"/>
          </a:p>
        </p:txBody>
      </p:sp>
      <p:sp>
        <p:nvSpPr>
          <p:cNvPr id="18" name="Shape 14"/>
          <p:cNvSpPr/>
          <p:nvPr/>
        </p:nvSpPr>
        <p:spPr>
          <a:xfrm>
            <a:off x="5705856" y="3108960"/>
            <a:ext cx="429768" cy="0"/>
          </a:xfrm>
          <a:prstGeom prst="line">
            <a:avLst/>
          </a:prstGeom>
          <a:noFill/>
          <a:ln w="31750">
            <a:solidFill>
              <a:srgbClr val="5F6368"/>
            </a:solidFill>
            <a:prstDash val="solid"/>
            <a:tailEnd type="triangle"/>
          </a:ln>
        </p:spPr>
      </p:sp>
      <p:sp>
        <p:nvSpPr>
          <p:cNvPr id="19" name="Shape 15"/>
          <p:cNvSpPr/>
          <p:nvPr/>
        </p:nvSpPr>
        <p:spPr>
          <a:xfrm>
            <a:off x="6172200" y="2514600"/>
            <a:ext cx="2148840" cy="1188720"/>
          </a:xfrm>
          <a:prstGeom prst="roundRect">
            <a:avLst>
              <a:gd name="adj" fmla="val 615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0" name="Shape 16"/>
          <p:cNvSpPr/>
          <p:nvPr/>
        </p:nvSpPr>
        <p:spPr>
          <a:xfrm>
            <a:off x="6373368" y="2825496"/>
            <a:ext cx="566928" cy="566928"/>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6526439" y="2978567"/>
            <a:ext cx="260787" cy="260787"/>
          </a:xfrm>
          <a:prstGeom prst="rect">
            <a:avLst/>
          </a:prstGeom>
        </p:spPr>
      </p:pic>
      <p:sp>
        <p:nvSpPr>
          <p:cNvPr id="22" name="Text 17"/>
          <p:cNvSpPr/>
          <p:nvPr/>
        </p:nvSpPr>
        <p:spPr>
          <a:xfrm>
            <a:off x="7013448" y="2514600"/>
            <a:ext cx="1234440" cy="1188720"/>
          </a:xfrm>
          <a:prstGeom prst="rect">
            <a:avLst/>
          </a:prstGeom>
          <a:noFill/>
          <a:ln/>
        </p:spPr>
        <p:txBody>
          <a:bodyPr wrap="square" rtlCol="0" anchor="ctr"/>
          <a:lstStyle/>
          <a:p>
            <a:pPr indent="0" marL="0">
              <a:buNone/>
            </a:pPr>
            <a:r>
              <a:rPr lang="en-US" sz="1350" b="1" dirty="0">
                <a:solidFill>
                  <a:srgbClr val="202124"/>
                </a:solidFill>
                <a:latin typeface="Arial" pitchFamily="34" charset="0"/>
                <a:ea typeface="Arial" pitchFamily="34" charset="-122"/>
                <a:cs typeface="Arial" pitchFamily="34" charset="-120"/>
              </a:rPr>
              <a:t>Read failure</a:t>
            </a:r>
            <a:endParaRPr lang="en-US" sz="1350" dirty="0"/>
          </a:p>
        </p:txBody>
      </p:sp>
      <p:sp>
        <p:nvSpPr>
          <p:cNvPr id="23" name="Shape 18"/>
          <p:cNvSpPr/>
          <p:nvPr/>
        </p:nvSpPr>
        <p:spPr>
          <a:xfrm>
            <a:off x="8357616" y="3108960"/>
            <a:ext cx="429768" cy="0"/>
          </a:xfrm>
          <a:prstGeom prst="line">
            <a:avLst/>
          </a:prstGeom>
          <a:noFill/>
          <a:ln w="31750">
            <a:solidFill>
              <a:srgbClr val="5F6368"/>
            </a:solidFill>
            <a:prstDash val="solid"/>
            <a:tailEnd type="triangle"/>
          </a:ln>
        </p:spPr>
      </p:sp>
      <p:sp>
        <p:nvSpPr>
          <p:cNvPr id="24" name="Shape 19"/>
          <p:cNvSpPr/>
          <p:nvPr/>
        </p:nvSpPr>
        <p:spPr>
          <a:xfrm>
            <a:off x="8823960" y="2514600"/>
            <a:ext cx="2148840" cy="1188720"/>
          </a:xfrm>
          <a:prstGeom prst="roundRect">
            <a:avLst>
              <a:gd name="adj" fmla="val 615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5" name="Shape 20"/>
          <p:cNvSpPr/>
          <p:nvPr/>
        </p:nvSpPr>
        <p:spPr>
          <a:xfrm>
            <a:off x="9025128" y="2825496"/>
            <a:ext cx="566928" cy="566928"/>
          </a:xfrm>
          <a:prstGeom prst="ellipse">
            <a:avLst/>
          </a:prstGeom>
          <a:solidFill>
            <a:srgbClr val="FFFFFF"/>
          </a:solidFill>
          <a:ln/>
        </p:spPr>
      </p:sp>
      <p:pic>
        <p:nvPicPr>
          <p:cNvPr id="26" name="Image 3" descr="preencoded.png">    </p:cNvPr>
          <p:cNvPicPr>
            <a:picLocks noChangeAspect="1"/>
          </p:cNvPicPr>
          <p:nvPr/>
        </p:nvPicPr>
        <p:blipFill>
          <a:blip r:embed="rId4"/>
          <a:stretch>
            <a:fillRect/>
          </a:stretch>
        </p:blipFill>
        <p:spPr>
          <a:xfrm>
            <a:off x="9178199" y="2978567"/>
            <a:ext cx="260787" cy="260787"/>
          </a:xfrm>
          <a:prstGeom prst="rect">
            <a:avLst/>
          </a:prstGeom>
        </p:spPr>
      </p:pic>
      <p:sp>
        <p:nvSpPr>
          <p:cNvPr id="27" name="Text 21"/>
          <p:cNvSpPr/>
          <p:nvPr/>
        </p:nvSpPr>
        <p:spPr>
          <a:xfrm>
            <a:off x="9665208" y="2514600"/>
            <a:ext cx="1234440" cy="1188720"/>
          </a:xfrm>
          <a:prstGeom prst="rect">
            <a:avLst/>
          </a:prstGeom>
          <a:noFill/>
          <a:ln/>
        </p:spPr>
        <p:txBody>
          <a:bodyPr wrap="square" rtlCol="0" anchor="ctr"/>
          <a:lstStyle/>
          <a:p>
            <a:pPr indent="0" marL="0">
              <a:buNone/>
            </a:pPr>
            <a:r>
              <a:rPr lang="en-US" sz="1350" b="1" dirty="0">
                <a:solidFill>
                  <a:srgbClr val="202124"/>
                </a:solidFill>
                <a:latin typeface="Arial" pitchFamily="34" charset="0"/>
                <a:ea typeface="Arial" pitchFamily="34" charset="-122"/>
                <a:cs typeface="Arial" pitchFamily="34" charset="-120"/>
              </a:rPr>
              <a:t>Fix</a:t>
            </a:r>
            <a:endParaRPr lang="en-US" sz="1350" dirty="0"/>
          </a:p>
        </p:txBody>
      </p:sp>
      <p:sp>
        <p:nvSpPr>
          <p:cNvPr id="28" name="Shape 22"/>
          <p:cNvSpPr/>
          <p:nvPr/>
        </p:nvSpPr>
        <p:spPr>
          <a:xfrm>
            <a:off x="9898380" y="3703320"/>
            <a:ext cx="0" cy="502920"/>
          </a:xfrm>
          <a:prstGeom prst="line">
            <a:avLst/>
          </a:prstGeom>
          <a:noFill/>
          <a:ln w="31750">
            <a:solidFill>
              <a:srgbClr val="4285F4"/>
            </a:solidFill>
            <a:prstDash val="solid"/>
          </a:ln>
        </p:spPr>
      </p:sp>
      <p:sp>
        <p:nvSpPr>
          <p:cNvPr id="29" name="Shape 23"/>
          <p:cNvSpPr/>
          <p:nvPr/>
        </p:nvSpPr>
        <p:spPr>
          <a:xfrm>
            <a:off x="1943100" y="4206240"/>
            <a:ext cx="7955280" cy="0"/>
          </a:xfrm>
          <a:prstGeom prst="line">
            <a:avLst/>
          </a:prstGeom>
          <a:noFill/>
          <a:ln w="31750">
            <a:solidFill>
              <a:srgbClr val="4285F4"/>
            </a:solidFill>
            <a:prstDash val="solid"/>
          </a:ln>
        </p:spPr>
      </p:sp>
      <p:sp>
        <p:nvSpPr>
          <p:cNvPr id="30" name="Shape 24"/>
          <p:cNvSpPr/>
          <p:nvPr/>
        </p:nvSpPr>
        <p:spPr>
          <a:xfrm>
            <a:off x="1943100" y="3721608"/>
            <a:ext cx="0" cy="484632"/>
          </a:xfrm>
          <a:prstGeom prst="line">
            <a:avLst/>
          </a:prstGeom>
          <a:noFill/>
          <a:ln w="31750">
            <a:solidFill>
              <a:srgbClr val="4285F4"/>
            </a:solidFill>
            <a:prstDash val="solid"/>
            <a:headEnd type="triangle"/>
          </a:ln>
        </p:spPr>
      </p:sp>
      <p:sp>
        <p:nvSpPr>
          <p:cNvPr id="31" name="Text 25"/>
          <p:cNvSpPr/>
          <p:nvPr/>
        </p:nvSpPr>
        <p:spPr>
          <a:xfrm>
            <a:off x="1943100" y="4251960"/>
            <a:ext cx="7955280" cy="292608"/>
          </a:xfrm>
          <a:prstGeom prst="rect">
            <a:avLst/>
          </a:prstGeom>
          <a:noFill/>
          <a:ln/>
        </p:spPr>
        <p:txBody>
          <a:bodyPr wrap="square" rtlCol="0" anchor="ctr"/>
          <a:lstStyle/>
          <a:p>
            <a:pPr algn="ctr" indent="0" marL="0">
              <a:buNone/>
            </a:pPr>
            <a:r>
              <a:rPr lang="en-US" sz="1100" i="1" dirty="0">
                <a:solidFill>
                  <a:srgbClr val="4285F4"/>
                </a:solidFill>
                <a:latin typeface="Arial" pitchFamily="34" charset="0"/>
                <a:ea typeface="Arial" pitchFamily="34" charset="-122"/>
                <a:cs typeface="Arial" pitchFamily="34" charset="-120"/>
              </a:rPr>
              <a:t>repeat until tests pass — or budget is hit</a:t>
            </a:r>
            <a:endParaRPr lang="en-US" sz="1100" dirty="0"/>
          </a:p>
        </p:txBody>
      </p:sp>
      <p:sp>
        <p:nvSpPr>
          <p:cNvPr id="32" name="Shape 26"/>
          <p:cNvSpPr/>
          <p:nvPr/>
        </p:nvSpPr>
        <p:spPr>
          <a:xfrm>
            <a:off x="10058400" y="2514600"/>
            <a:ext cx="1463040" cy="1188720"/>
          </a:xfrm>
          <a:prstGeom prst="roundRect">
            <a:avLst>
              <a:gd name="adj" fmla="val 6154"/>
            </a:avLst>
          </a:prstGeom>
          <a:solidFill>
            <a:srgbClr val="E6F4EA"/>
          </a:solidFill>
          <a:ln w="12700">
            <a:solidFill>
              <a:srgbClr val="34A853"/>
            </a:solidFill>
            <a:prstDash val="solid"/>
          </a:ln>
        </p:spPr>
      </p:sp>
      <p:sp>
        <p:nvSpPr>
          <p:cNvPr id="33" name="Text 27"/>
          <p:cNvSpPr/>
          <p:nvPr/>
        </p:nvSpPr>
        <p:spPr>
          <a:xfrm>
            <a:off x="10058400" y="2697480"/>
            <a:ext cx="1463040" cy="365760"/>
          </a:xfrm>
          <a:prstGeom prst="rect">
            <a:avLst/>
          </a:prstGeom>
          <a:noFill/>
          <a:ln/>
        </p:spPr>
        <p:txBody>
          <a:bodyPr wrap="square" rtlCol="0" anchor="ctr"/>
          <a:lstStyle/>
          <a:p>
            <a:pPr algn="ctr" indent="0" marL="0">
              <a:buNone/>
            </a:pPr>
            <a:r>
              <a:rPr lang="en-US" sz="1400" b="1" dirty="0">
                <a:solidFill>
                  <a:srgbClr val="34A853"/>
                </a:solidFill>
                <a:latin typeface="Arial" pitchFamily="34" charset="0"/>
                <a:ea typeface="Arial" pitchFamily="34" charset="-122"/>
                <a:cs typeface="Arial" pitchFamily="34" charset="-120"/>
              </a:rPr>
              <a:t>✓ PASS</a:t>
            </a:r>
            <a:endParaRPr lang="en-US" sz="1400" dirty="0"/>
          </a:p>
        </p:txBody>
      </p:sp>
      <p:sp>
        <p:nvSpPr>
          <p:cNvPr id="34" name="Text 28"/>
          <p:cNvSpPr/>
          <p:nvPr/>
        </p:nvSpPr>
        <p:spPr>
          <a:xfrm>
            <a:off x="10058400" y="3118104"/>
            <a:ext cx="1463040" cy="365760"/>
          </a:xfrm>
          <a:prstGeom prst="rect">
            <a:avLst/>
          </a:prstGeom>
          <a:noFill/>
          <a:ln/>
        </p:spPr>
        <p:txBody>
          <a:bodyPr wrap="square" rtlCol="0" anchor="ctr"/>
          <a:lstStyle/>
          <a:p>
            <a:pPr algn="ctr" indent="0" marL="0">
              <a:buNone/>
            </a:pPr>
            <a:r>
              <a:rPr lang="en-US" sz="1050" dirty="0">
                <a:solidFill>
                  <a:srgbClr val="1E4620"/>
                </a:solidFill>
                <a:latin typeface="Arial" pitchFamily="34" charset="0"/>
                <a:ea typeface="Arial" pitchFamily="34" charset="-122"/>
                <a:cs typeface="Arial" pitchFamily="34" charset="-120"/>
              </a:rPr>
              <a:t>ship the slice</a:t>
            </a:r>
            <a:endParaRPr lang="en-US" sz="1050" dirty="0"/>
          </a:p>
        </p:txBody>
      </p:sp>
      <p:sp>
        <p:nvSpPr>
          <p:cNvPr id="35" name="Shape 29"/>
          <p:cNvSpPr/>
          <p:nvPr/>
        </p:nvSpPr>
        <p:spPr>
          <a:xfrm>
            <a:off x="640080" y="4617720"/>
            <a:ext cx="10881360" cy="960120"/>
          </a:xfrm>
          <a:prstGeom prst="roundRect">
            <a:avLst>
              <a:gd name="adj" fmla="val 7619"/>
            </a:avLst>
          </a:prstGeom>
          <a:solidFill>
            <a:srgbClr val="E8F0FE"/>
          </a:solidFill>
          <a:ln w="12700">
            <a:solidFill>
              <a:srgbClr val="E8F0FE"/>
            </a:solidFill>
            <a:prstDash val="solid"/>
          </a:ln>
        </p:spPr>
      </p:sp>
      <p:sp>
        <p:nvSpPr>
          <p:cNvPr id="36" name="Text 30"/>
          <p:cNvSpPr/>
          <p:nvPr/>
        </p:nvSpPr>
        <p:spPr>
          <a:xfrm>
            <a:off x="868680" y="4709160"/>
            <a:ext cx="10424160" cy="777240"/>
          </a:xfrm>
          <a:prstGeom prst="rect">
            <a:avLst/>
          </a:prstGeom>
          <a:noFill/>
          <a:ln/>
        </p:spPr>
        <p:txBody>
          <a:bodyPr wrap="square" rtlCol="0" anchor="ctr"/>
          <a:lstStyle/>
          <a:p>
            <a:pPr indent="0" marL="0">
              <a:lnSpc>
                <a:spcPct val="110000"/>
              </a:lnSpc>
              <a:buNone/>
            </a:pPr>
            <a:r>
              <a:rPr lang="en-US" sz="1250" b="1" dirty="0">
                <a:solidFill>
                  <a:srgbClr val="202124"/>
                </a:solidFill>
                <a:latin typeface="Arial" pitchFamily="34" charset="0"/>
                <a:ea typeface="Arial" pitchFamily="34" charset="-122"/>
                <a:cs typeface="Arial" pitchFamily="34" charset="-120"/>
              </a:rPr>
              <a:t>Tests, builds, type-checkers and linters are first-class citizens of the loop. </a:t>
            </a:r>
            <a:pPr indent="0" marL="0">
              <a:lnSpc>
                <a:spcPct val="110000"/>
              </a:lnSpc>
              <a:buNone/>
            </a:pPr>
            <a:r>
              <a:rPr lang="en-US" sz="1250" dirty="0">
                <a:solidFill>
                  <a:srgbClr val="5F6368"/>
                </a:solidFill>
                <a:latin typeface="Arial" pitchFamily="34" charset="0"/>
                <a:ea typeface="Arial" pitchFamily="34" charset="-122"/>
                <a:cs typeface="Arial" pitchFamily="34" charset="-120"/>
              </a:rPr>
              <a:t>Under-tested legacy code means objective signals are the only ground truth — characterization tests become the loop's success criteria, directly attacking silent behavior change. One architect ran ~22 agents to full parity with 86% test coverage in two weeks.</a:t>
            </a:r>
            <a:endParaRPr lang="en-US" sz="1250" dirty="0"/>
          </a:p>
        </p:txBody>
      </p:sp>
      <p:sp>
        <p:nvSpPr>
          <p:cNvPr id="37" name="Shape 31"/>
          <p:cNvSpPr/>
          <p:nvPr/>
        </p:nvSpPr>
        <p:spPr>
          <a:xfrm>
            <a:off x="640080" y="6419088"/>
            <a:ext cx="10908792" cy="0"/>
          </a:xfrm>
          <a:prstGeom prst="line">
            <a:avLst/>
          </a:prstGeom>
          <a:noFill/>
          <a:ln w="12700">
            <a:solidFill>
              <a:srgbClr val="DADCE0"/>
            </a:solidFill>
            <a:prstDash val="solid"/>
          </a:ln>
        </p:spPr>
      </p:sp>
      <p:sp>
        <p:nvSpPr>
          <p:cNvPr id="38" name="Text 32"/>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39" name="Text 33"/>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SELF-CORRECTING LOOPS</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Failure modes — and how to engineer them out</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Text 6"/>
          <p:cNvSpPr/>
          <p:nvPr/>
        </p:nvSpPr>
        <p:spPr>
          <a:xfrm>
            <a:off x="640080" y="1536192"/>
            <a:ext cx="10881360" cy="365760"/>
          </a:xfrm>
          <a:prstGeom prst="rect">
            <a:avLst/>
          </a:prstGeom>
          <a:noFill/>
          <a:ln/>
        </p:spPr>
        <p:txBody>
          <a:bodyPr wrap="square" rtlCol="0" anchor="ctr"/>
          <a:lstStyle/>
          <a:p>
            <a:pPr indent="0" marL="0">
              <a:buNone/>
            </a:pPr>
            <a:r>
              <a:rPr lang="en-US" sz="1350" dirty="0">
                <a:solidFill>
                  <a:srgbClr val="5F6368"/>
                </a:solidFill>
                <a:latin typeface="Arial" pitchFamily="34" charset="0"/>
                <a:ea typeface="Arial" pitchFamily="34" charset="-122"/>
                <a:cs typeface="Arial" pitchFamily="34" charset="-120"/>
              </a:rPr>
              <a:t>Self-correction is an engineered feedback loop, not a vibe. Naive loops fail in specific, nasty ways:</a:t>
            </a:r>
            <a:endParaRPr lang="en-US" sz="1350" dirty="0"/>
          </a:p>
        </p:txBody>
      </p:sp>
      <p:sp>
        <p:nvSpPr>
          <p:cNvPr id="9" name="Shape 7"/>
          <p:cNvSpPr/>
          <p:nvPr/>
        </p:nvSpPr>
        <p:spPr>
          <a:xfrm>
            <a:off x="640080" y="2057400"/>
            <a:ext cx="3520440" cy="1627632"/>
          </a:xfrm>
          <a:prstGeom prst="roundRect">
            <a:avLst>
              <a:gd name="adj" fmla="val 449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0" name="Shape 8"/>
          <p:cNvSpPr/>
          <p:nvPr/>
        </p:nvSpPr>
        <p:spPr>
          <a:xfrm>
            <a:off x="822960" y="2240280"/>
            <a:ext cx="457200" cy="457200"/>
          </a:xfrm>
          <a:prstGeom prst="ellipse">
            <a:avLst/>
          </a:prstGeom>
          <a:solidFill>
            <a:srgbClr val="FCE8E6"/>
          </a:solidFill>
          <a:ln/>
        </p:spPr>
      </p:sp>
      <p:pic>
        <p:nvPicPr>
          <p:cNvPr id="11" name="Image 0" descr="preencoded.png">    </p:cNvPr>
          <p:cNvPicPr>
            <a:picLocks noChangeAspect="1"/>
          </p:cNvPicPr>
          <p:nvPr/>
        </p:nvPicPr>
        <p:blipFill>
          <a:blip r:embed="rId1"/>
          <a:stretch>
            <a:fillRect/>
          </a:stretch>
        </p:blipFill>
        <p:spPr>
          <a:xfrm>
            <a:off x="946404" y="2363724"/>
            <a:ext cx="210312" cy="210312"/>
          </a:xfrm>
          <a:prstGeom prst="rect">
            <a:avLst/>
          </a:prstGeom>
        </p:spPr>
      </p:pic>
      <p:sp>
        <p:nvSpPr>
          <p:cNvPr id="12" name="Text 9"/>
          <p:cNvSpPr/>
          <p:nvPr/>
        </p:nvSpPr>
        <p:spPr>
          <a:xfrm>
            <a:off x="1389888" y="2221992"/>
            <a:ext cx="2606040" cy="475488"/>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Hallucinated verification</a:t>
            </a:r>
            <a:endParaRPr lang="en-US" sz="1250" dirty="0"/>
          </a:p>
        </p:txBody>
      </p:sp>
      <p:sp>
        <p:nvSpPr>
          <p:cNvPr id="13" name="Text 10"/>
          <p:cNvSpPr/>
          <p:nvPr/>
        </p:nvSpPr>
        <p:spPr>
          <a:xfrm>
            <a:off x="841248" y="2770632"/>
            <a:ext cx="3136392" cy="384048"/>
          </a:xfrm>
          <a:prstGeom prst="rect">
            <a:avLst/>
          </a:prstGeom>
          <a:noFill/>
          <a:ln/>
        </p:spPr>
        <p:txBody>
          <a:bodyPr wrap="square" rtlCol="0" anchor="t"/>
          <a:lstStyle/>
          <a:p>
            <a:pPr indent="0" marL="0">
              <a:buNone/>
            </a:pPr>
            <a:r>
              <a:rPr lang="en-US" sz="1050" i="1" dirty="0">
                <a:solidFill>
                  <a:srgbClr val="5F6368"/>
                </a:solidFill>
                <a:latin typeface="Arial" pitchFamily="34" charset="0"/>
                <a:ea typeface="Arial" pitchFamily="34" charset="-122"/>
                <a:cs typeface="Arial" pitchFamily="34" charset="-120"/>
              </a:rPr>
              <a:t>“Believes” it succeeded with no real check.</a:t>
            </a:r>
            <a:endParaRPr lang="en-US" sz="1050" dirty="0"/>
          </a:p>
        </p:txBody>
      </p:sp>
      <p:sp>
        <p:nvSpPr>
          <p:cNvPr id="14" name="Text 11"/>
          <p:cNvSpPr/>
          <p:nvPr/>
        </p:nvSpPr>
        <p:spPr>
          <a:xfrm>
            <a:off x="841248" y="3136392"/>
            <a:ext cx="3136392" cy="475488"/>
          </a:xfrm>
          <a:prstGeom prst="rect">
            <a:avLst/>
          </a:prstGeom>
          <a:noFill/>
          <a:ln/>
        </p:spPr>
        <p:txBody>
          <a:bodyPr wrap="square" rtlCol="0" anchor="t"/>
          <a:lstStyle/>
          <a:p>
            <a:pPr indent="0" marL="0">
              <a:lnSpc>
                <a:spcPct val="105000"/>
              </a:lnSpc>
              <a:buNone/>
            </a:pPr>
            <a:r>
              <a:rPr lang="en-US" sz="1050" b="1" dirty="0">
                <a:solidFill>
                  <a:srgbClr val="34A853"/>
                </a:solidFill>
                <a:latin typeface="Arial" pitchFamily="34" charset="0"/>
                <a:ea typeface="Arial" pitchFamily="34" charset="-122"/>
                <a:cs typeface="Arial" pitchFamily="34" charset="-120"/>
              </a:rPr>
              <a:t>Fix:  </a:t>
            </a:r>
            <a:pPr indent="0" marL="0">
              <a:lnSpc>
                <a:spcPct val="105000"/>
              </a:lnSpc>
              <a:buNone/>
            </a:pPr>
            <a:r>
              <a:rPr lang="en-US" sz="1050" dirty="0">
                <a:solidFill>
                  <a:srgbClr val="202124"/>
                </a:solidFill>
                <a:latin typeface="Arial" pitchFamily="34" charset="0"/>
                <a:ea typeface="Arial" pitchFamily="34" charset="-122"/>
                <a:cs typeface="Arial" pitchFamily="34" charset="-120"/>
              </a:rPr>
              <a:t>Verify against external, executable signals — tests &amp; builds.</a:t>
            </a:r>
            <a:endParaRPr lang="en-US" sz="1050" dirty="0"/>
          </a:p>
        </p:txBody>
      </p:sp>
      <p:sp>
        <p:nvSpPr>
          <p:cNvPr id="15" name="Shape 12"/>
          <p:cNvSpPr/>
          <p:nvPr/>
        </p:nvSpPr>
        <p:spPr>
          <a:xfrm>
            <a:off x="4325112" y="2057400"/>
            <a:ext cx="3520440" cy="1627632"/>
          </a:xfrm>
          <a:prstGeom prst="roundRect">
            <a:avLst>
              <a:gd name="adj" fmla="val 449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6" name="Shape 13"/>
          <p:cNvSpPr/>
          <p:nvPr/>
        </p:nvSpPr>
        <p:spPr>
          <a:xfrm>
            <a:off x="4507992" y="2240280"/>
            <a:ext cx="457200" cy="457200"/>
          </a:xfrm>
          <a:prstGeom prst="ellipse">
            <a:avLst/>
          </a:prstGeom>
          <a:solidFill>
            <a:srgbClr val="FCE8E6"/>
          </a:solidFill>
          <a:ln/>
        </p:spPr>
      </p:sp>
      <p:pic>
        <p:nvPicPr>
          <p:cNvPr id="17" name="Image 1" descr="preencoded.png">    </p:cNvPr>
          <p:cNvPicPr>
            <a:picLocks noChangeAspect="1"/>
          </p:cNvPicPr>
          <p:nvPr/>
        </p:nvPicPr>
        <p:blipFill>
          <a:blip r:embed="rId2"/>
          <a:stretch>
            <a:fillRect/>
          </a:stretch>
        </p:blipFill>
        <p:spPr>
          <a:xfrm>
            <a:off x="4631436" y="2363724"/>
            <a:ext cx="210312" cy="210312"/>
          </a:xfrm>
          <a:prstGeom prst="rect">
            <a:avLst/>
          </a:prstGeom>
        </p:spPr>
      </p:pic>
      <p:sp>
        <p:nvSpPr>
          <p:cNvPr id="18" name="Text 14"/>
          <p:cNvSpPr/>
          <p:nvPr/>
        </p:nvSpPr>
        <p:spPr>
          <a:xfrm>
            <a:off x="5074920" y="2221992"/>
            <a:ext cx="2606040" cy="475488"/>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Sycophantic / judge bias</a:t>
            </a:r>
            <a:endParaRPr lang="en-US" sz="1250" dirty="0"/>
          </a:p>
        </p:txBody>
      </p:sp>
      <p:sp>
        <p:nvSpPr>
          <p:cNvPr id="19" name="Text 15"/>
          <p:cNvSpPr/>
          <p:nvPr/>
        </p:nvSpPr>
        <p:spPr>
          <a:xfrm>
            <a:off x="4526280" y="2770632"/>
            <a:ext cx="3136392" cy="384048"/>
          </a:xfrm>
          <a:prstGeom prst="rect">
            <a:avLst/>
          </a:prstGeom>
          <a:noFill/>
          <a:ln/>
        </p:spPr>
        <p:txBody>
          <a:bodyPr wrap="square" rtlCol="0" anchor="t"/>
          <a:lstStyle/>
          <a:p>
            <a:pPr indent="0" marL="0">
              <a:buNone/>
            </a:pPr>
            <a:r>
              <a:rPr lang="en-US" sz="1050" i="1" dirty="0">
                <a:solidFill>
                  <a:srgbClr val="5F6368"/>
                </a:solidFill>
                <a:latin typeface="Arial" pitchFamily="34" charset="0"/>
                <a:ea typeface="Arial" pitchFamily="34" charset="-122"/>
                <a:cs typeface="Arial" pitchFamily="34" charset="-120"/>
              </a:rPr>
              <a:t>An LLM critiquing its own work is unreliable.</a:t>
            </a:r>
            <a:endParaRPr lang="en-US" sz="1050" dirty="0"/>
          </a:p>
        </p:txBody>
      </p:sp>
      <p:sp>
        <p:nvSpPr>
          <p:cNvPr id="20" name="Text 16"/>
          <p:cNvSpPr/>
          <p:nvPr/>
        </p:nvSpPr>
        <p:spPr>
          <a:xfrm>
            <a:off x="4526280" y="3136392"/>
            <a:ext cx="3136392" cy="475488"/>
          </a:xfrm>
          <a:prstGeom prst="rect">
            <a:avLst/>
          </a:prstGeom>
          <a:noFill/>
          <a:ln/>
        </p:spPr>
        <p:txBody>
          <a:bodyPr wrap="square" rtlCol="0" anchor="t"/>
          <a:lstStyle/>
          <a:p>
            <a:pPr indent="0" marL="0">
              <a:lnSpc>
                <a:spcPct val="105000"/>
              </a:lnSpc>
              <a:buNone/>
            </a:pPr>
            <a:r>
              <a:rPr lang="en-US" sz="1050" b="1" dirty="0">
                <a:solidFill>
                  <a:srgbClr val="34A853"/>
                </a:solidFill>
                <a:latin typeface="Arial" pitchFamily="34" charset="0"/>
                <a:ea typeface="Arial" pitchFamily="34" charset="-122"/>
                <a:cs typeface="Arial" pitchFamily="34" charset="-120"/>
              </a:rPr>
              <a:t>Fix:  </a:t>
            </a:r>
            <a:pPr indent="0" marL="0">
              <a:lnSpc>
                <a:spcPct val="105000"/>
              </a:lnSpc>
              <a:buNone/>
            </a:pPr>
            <a:r>
              <a:rPr lang="en-US" sz="1050" dirty="0">
                <a:solidFill>
                  <a:srgbClr val="202124"/>
                </a:solidFill>
                <a:latin typeface="Arial" pitchFamily="34" charset="0"/>
                <a:ea typeface="Arial" pitchFamily="34" charset="-122"/>
                <a:cs typeface="Arial" pitchFamily="34" charset="-120"/>
              </a:rPr>
              <a:t>Prefer empirical tests; use a separate critic only with clear criteria.</a:t>
            </a:r>
            <a:endParaRPr lang="en-US" sz="1050" dirty="0"/>
          </a:p>
        </p:txBody>
      </p:sp>
      <p:sp>
        <p:nvSpPr>
          <p:cNvPr id="21" name="Shape 17"/>
          <p:cNvSpPr/>
          <p:nvPr/>
        </p:nvSpPr>
        <p:spPr>
          <a:xfrm>
            <a:off x="8010144" y="2057400"/>
            <a:ext cx="3520440" cy="1627632"/>
          </a:xfrm>
          <a:prstGeom prst="roundRect">
            <a:avLst>
              <a:gd name="adj" fmla="val 449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2" name="Shape 18"/>
          <p:cNvSpPr/>
          <p:nvPr/>
        </p:nvSpPr>
        <p:spPr>
          <a:xfrm>
            <a:off x="8193024" y="2240280"/>
            <a:ext cx="457200" cy="457200"/>
          </a:xfrm>
          <a:prstGeom prst="ellipse">
            <a:avLst/>
          </a:prstGeom>
          <a:solidFill>
            <a:srgbClr val="FCE8E6"/>
          </a:solidFill>
          <a:ln/>
        </p:spPr>
      </p:sp>
      <p:pic>
        <p:nvPicPr>
          <p:cNvPr id="23" name="Image 2" descr="preencoded.png">    </p:cNvPr>
          <p:cNvPicPr>
            <a:picLocks noChangeAspect="1"/>
          </p:cNvPicPr>
          <p:nvPr/>
        </p:nvPicPr>
        <p:blipFill>
          <a:blip r:embed="rId3"/>
          <a:stretch>
            <a:fillRect/>
          </a:stretch>
        </p:blipFill>
        <p:spPr>
          <a:xfrm>
            <a:off x="8316468" y="2363724"/>
            <a:ext cx="210312" cy="210312"/>
          </a:xfrm>
          <a:prstGeom prst="rect">
            <a:avLst/>
          </a:prstGeom>
        </p:spPr>
      </p:pic>
      <p:sp>
        <p:nvSpPr>
          <p:cNvPr id="24" name="Text 19"/>
          <p:cNvSpPr/>
          <p:nvPr/>
        </p:nvSpPr>
        <p:spPr>
          <a:xfrm>
            <a:off x="8759952" y="2221992"/>
            <a:ext cx="2606040" cy="475488"/>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Infinite loops / cost sinks</a:t>
            </a:r>
            <a:endParaRPr lang="en-US" sz="1250" dirty="0"/>
          </a:p>
        </p:txBody>
      </p:sp>
      <p:sp>
        <p:nvSpPr>
          <p:cNvPr id="25" name="Text 20"/>
          <p:cNvSpPr/>
          <p:nvPr/>
        </p:nvSpPr>
        <p:spPr>
          <a:xfrm>
            <a:off x="8211312" y="2770632"/>
            <a:ext cx="3136392" cy="384048"/>
          </a:xfrm>
          <a:prstGeom prst="rect">
            <a:avLst/>
          </a:prstGeom>
          <a:noFill/>
          <a:ln/>
        </p:spPr>
        <p:txBody>
          <a:bodyPr wrap="square" rtlCol="0" anchor="t"/>
          <a:lstStyle/>
          <a:p>
            <a:pPr indent="0" marL="0">
              <a:buNone/>
            </a:pPr>
            <a:r>
              <a:rPr lang="en-US" sz="1050" i="1" dirty="0">
                <a:solidFill>
                  <a:srgbClr val="5F6368"/>
                </a:solidFill>
                <a:latin typeface="Arial" pitchFamily="34" charset="0"/>
                <a:ea typeface="Arial" pitchFamily="34" charset="-122"/>
                <a:cs typeface="Arial" pitchFamily="34" charset="-120"/>
              </a:rPr>
              <a:t>The agent spins forever, burning budget.</a:t>
            </a:r>
            <a:endParaRPr lang="en-US" sz="1050" dirty="0"/>
          </a:p>
        </p:txBody>
      </p:sp>
      <p:sp>
        <p:nvSpPr>
          <p:cNvPr id="26" name="Text 21"/>
          <p:cNvSpPr/>
          <p:nvPr/>
        </p:nvSpPr>
        <p:spPr>
          <a:xfrm>
            <a:off x="8211312" y="3136392"/>
            <a:ext cx="3136392" cy="475488"/>
          </a:xfrm>
          <a:prstGeom prst="rect">
            <a:avLst/>
          </a:prstGeom>
          <a:noFill/>
          <a:ln/>
        </p:spPr>
        <p:txBody>
          <a:bodyPr wrap="square" rtlCol="0" anchor="t"/>
          <a:lstStyle/>
          <a:p>
            <a:pPr indent="0" marL="0">
              <a:lnSpc>
                <a:spcPct val="105000"/>
              </a:lnSpc>
              <a:buNone/>
            </a:pPr>
            <a:r>
              <a:rPr lang="en-US" sz="1050" b="1" dirty="0">
                <a:solidFill>
                  <a:srgbClr val="34A853"/>
                </a:solidFill>
                <a:latin typeface="Arial" pitchFamily="34" charset="0"/>
                <a:ea typeface="Arial" pitchFamily="34" charset="-122"/>
                <a:cs typeface="Arial" pitchFamily="34" charset="-120"/>
              </a:rPr>
              <a:t>Fix:  </a:t>
            </a:r>
            <a:pPr indent="0" marL="0">
              <a:lnSpc>
                <a:spcPct val="105000"/>
              </a:lnSpc>
              <a:buNone/>
            </a:pPr>
            <a:r>
              <a:rPr lang="en-US" sz="1050" dirty="0">
                <a:solidFill>
                  <a:srgbClr val="202124"/>
                </a:solidFill>
                <a:latin typeface="Arial" pitchFamily="34" charset="0"/>
                <a:ea typeface="Arial" pitchFamily="34" charset="-122"/>
                <a:cs typeface="Arial" pitchFamily="34" charset="-120"/>
              </a:rPr>
              <a:t>Explicit budgets — tokens, tool calls, time — and bounded retries.</a:t>
            </a:r>
            <a:endParaRPr lang="en-US" sz="1050" dirty="0"/>
          </a:p>
        </p:txBody>
      </p:sp>
      <p:sp>
        <p:nvSpPr>
          <p:cNvPr id="27" name="Shape 22"/>
          <p:cNvSpPr/>
          <p:nvPr/>
        </p:nvSpPr>
        <p:spPr>
          <a:xfrm>
            <a:off x="640080" y="3849624"/>
            <a:ext cx="3520440" cy="1627632"/>
          </a:xfrm>
          <a:prstGeom prst="roundRect">
            <a:avLst>
              <a:gd name="adj" fmla="val 449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8" name="Shape 23"/>
          <p:cNvSpPr/>
          <p:nvPr/>
        </p:nvSpPr>
        <p:spPr>
          <a:xfrm>
            <a:off x="822960" y="4032504"/>
            <a:ext cx="457200" cy="457200"/>
          </a:xfrm>
          <a:prstGeom prst="ellipse">
            <a:avLst/>
          </a:prstGeom>
          <a:solidFill>
            <a:srgbClr val="FCE8E6"/>
          </a:solidFill>
          <a:ln/>
        </p:spPr>
      </p:sp>
      <p:pic>
        <p:nvPicPr>
          <p:cNvPr id="29" name="Image 3" descr="preencoded.png">    </p:cNvPr>
          <p:cNvPicPr>
            <a:picLocks noChangeAspect="1"/>
          </p:cNvPicPr>
          <p:nvPr/>
        </p:nvPicPr>
        <p:blipFill>
          <a:blip r:embed="rId4"/>
          <a:stretch>
            <a:fillRect/>
          </a:stretch>
        </p:blipFill>
        <p:spPr>
          <a:xfrm>
            <a:off x="946404" y="4155948"/>
            <a:ext cx="210312" cy="210312"/>
          </a:xfrm>
          <a:prstGeom prst="rect">
            <a:avLst/>
          </a:prstGeom>
        </p:spPr>
      </p:pic>
      <p:sp>
        <p:nvSpPr>
          <p:cNvPr id="30" name="Text 24"/>
          <p:cNvSpPr/>
          <p:nvPr/>
        </p:nvSpPr>
        <p:spPr>
          <a:xfrm>
            <a:off x="1389888" y="4014216"/>
            <a:ext cx="2606040" cy="475488"/>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Repeating the same mistake</a:t>
            </a:r>
            <a:endParaRPr lang="en-US" sz="1250" dirty="0"/>
          </a:p>
        </p:txBody>
      </p:sp>
      <p:sp>
        <p:nvSpPr>
          <p:cNvPr id="31" name="Text 25"/>
          <p:cNvSpPr/>
          <p:nvPr/>
        </p:nvSpPr>
        <p:spPr>
          <a:xfrm>
            <a:off x="841248" y="4562856"/>
            <a:ext cx="3136392" cy="384048"/>
          </a:xfrm>
          <a:prstGeom prst="rect">
            <a:avLst/>
          </a:prstGeom>
          <a:noFill/>
          <a:ln/>
        </p:spPr>
        <p:txBody>
          <a:bodyPr wrap="square" rtlCol="0" anchor="t"/>
          <a:lstStyle/>
          <a:p>
            <a:pPr indent="0" marL="0">
              <a:buNone/>
            </a:pPr>
            <a:r>
              <a:rPr lang="en-US" sz="1050" i="1" dirty="0">
                <a:solidFill>
                  <a:srgbClr val="5F6368"/>
                </a:solidFill>
                <a:latin typeface="Arial" pitchFamily="34" charset="0"/>
                <a:ea typeface="Arial" pitchFamily="34" charset="-122"/>
                <a:cs typeface="Arial" pitchFamily="34" charset="-120"/>
              </a:rPr>
              <a:t>No memory of what already failed.</a:t>
            </a:r>
            <a:endParaRPr lang="en-US" sz="1050" dirty="0"/>
          </a:p>
        </p:txBody>
      </p:sp>
      <p:sp>
        <p:nvSpPr>
          <p:cNvPr id="32" name="Text 26"/>
          <p:cNvSpPr/>
          <p:nvPr/>
        </p:nvSpPr>
        <p:spPr>
          <a:xfrm>
            <a:off x="841248" y="4928616"/>
            <a:ext cx="3136392" cy="475488"/>
          </a:xfrm>
          <a:prstGeom prst="rect">
            <a:avLst/>
          </a:prstGeom>
          <a:noFill/>
          <a:ln/>
        </p:spPr>
        <p:txBody>
          <a:bodyPr wrap="square" rtlCol="0" anchor="t"/>
          <a:lstStyle/>
          <a:p>
            <a:pPr indent="0" marL="0">
              <a:lnSpc>
                <a:spcPct val="105000"/>
              </a:lnSpc>
              <a:buNone/>
            </a:pPr>
            <a:r>
              <a:rPr lang="en-US" sz="1050" b="1" dirty="0">
                <a:solidFill>
                  <a:srgbClr val="34A853"/>
                </a:solidFill>
                <a:latin typeface="Arial" pitchFamily="34" charset="0"/>
                <a:ea typeface="Arial" pitchFamily="34" charset="-122"/>
                <a:cs typeface="Arial" pitchFamily="34" charset="-120"/>
              </a:rPr>
              <a:t>Fix:  </a:t>
            </a:r>
            <a:pPr indent="0" marL="0">
              <a:lnSpc>
                <a:spcPct val="105000"/>
              </a:lnSpc>
              <a:buNone/>
            </a:pPr>
            <a:r>
              <a:rPr lang="en-US" sz="1050" dirty="0">
                <a:solidFill>
                  <a:srgbClr val="202124"/>
                </a:solidFill>
                <a:latin typeface="Arial" pitchFamily="34" charset="0"/>
                <a:ea typeface="Arial" pitchFamily="34" charset="-122"/>
                <a:cs typeface="Arial" pitchFamily="34" charset="-120"/>
              </a:rPr>
              <a:t>Feed prior failures forward so it won't re-try a broken path.</a:t>
            </a:r>
            <a:endParaRPr lang="en-US" sz="1050" dirty="0"/>
          </a:p>
        </p:txBody>
      </p:sp>
      <p:sp>
        <p:nvSpPr>
          <p:cNvPr id="33" name="Shape 27"/>
          <p:cNvSpPr/>
          <p:nvPr/>
        </p:nvSpPr>
        <p:spPr>
          <a:xfrm>
            <a:off x="4325112" y="3849624"/>
            <a:ext cx="3520440" cy="1627632"/>
          </a:xfrm>
          <a:prstGeom prst="roundRect">
            <a:avLst>
              <a:gd name="adj" fmla="val 449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34" name="Shape 28"/>
          <p:cNvSpPr/>
          <p:nvPr/>
        </p:nvSpPr>
        <p:spPr>
          <a:xfrm>
            <a:off x="4507992" y="4032504"/>
            <a:ext cx="457200" cy="457200"/>
          </a:xfrm>
          <a:prstGeom prst="ellipse">
            <a:avLst/>
          </a:prstGeom>
          <a:solidFill>
            <a:srgbClr val="FCE8E6"/>
          </a:solidFill>
          <a:ln/>
        </p:spPr>
      </p:sp>
      <p:pic>
        <p:nvPicPr>
          <p:cNvPr id="35" name="Image 4" descr="preencoded.png">    </p:cNvPr>
          <p:cNvPicPr>
            <a:picLocks noChangeAspect="1"/>
          </p:cNvPicPr>
          <p:nvPr/>
        </p:nvPicPr>
        <p:blipFill>
          <a:blip r:embed="rId5"/>
          <a:stretch>
            <a:fillRect/>
          </a:stretch>
        </p:blipFill>
        <p:spPr>
          <a:xfrm>
            <a:off x="4631436" y="4155948"/>
            <a:ext cx="210312" cy="210312"/>
          </a:xfrm>
          <a:prstGeom prst="rect">
            <a:avLst/>
          </a:prstGeom>
        </p:spPr>
      </p:pic>
      <p:sp>
        <p:nvSpPr>
          <p:cNvPr id="36" name="Text 29"/>
          <p:cNvSpPr/>
          <p:nvPr/>
        </p:nvSpPr>
        <p:spPr>
          <a:xfrm>
            <a:off x="5074920" y="4014216"/>
            <a:ext cx="2606040" cy="475488"/>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Vague criteria</a:t>
            </a:r>
            <a:endParaRPr lang="en-US" sz="1250" dirty="0"/>
          </a:p>
        </p:txBody>
      </p:sp>
      <p:sp>
        <p:nvSpPr>
          <p:cNvPr id="37" name="Text 30"/>
          <p:cNvSpPr/>
          <p:nvPr/>
        </p:nvSpPr>
        <p:spPr>
          <a:xfrm>
            <a:off x="4526280" y="4562856"/>
            <a:ext cx="3136392" cy="384048"/>
          </a:xfrm>
          <a:prstGeom prst="rect">
            <a:avLst/>
          </a:prstGeom>
          <a:noFill/>
          <a:ln/>
        </p:spPr>
        <p:txBody>
          <a:bodyPr wrap="square" rtlCol="0" anchor="t"/>
          <a:lstStyle/>
          <a:p>
            <a:pPr indent="0" marL="0">
              <a:buNone/>
            </a:pPr>
            <a:r>
              <a:rPr lang="en-US" sz="1050" i="1" dirty="0">
                <a:solidFill>
                  <a:srgbClr val="5F6368"/>
                </a:solidFill>
                <a:latin typeface="Arial" pitchFamily="34" charset="0"/>
                <a:ea typeface="Arial" pitchFamily="34" charset="-122"/>
                <a:cs typeface="Arial" pitchFamily="34" charset="-120"/>
              </a:rPr>
              <a:t>Verifier can't articulate why it failed.</a:t>
            </a:r>
            <a:endParaRPr lang="en-US" sz="1050" dirty="0"/>
          </a:p>
        </p:txBody>
      </p:sp>
      <p:sp>
        <p:nvSpPr>
          <p:cNvPr id="38" name="Text 31"/>
          <p:cNvSpPr/>
          <p:nvPr/>
        </p:nvSpPr>
        <p:spPr>
          <a:xfrm>
            <a:off x="4526280" y="4928616"/>
            <a:ext cx="3136392" cy="475488"/>
          </a:xfrm>
          <a:prstGeom prst="rect">
            <a:avLst/>
          </a:prstGeom>
          <a:noFill/>
          <a:ln/>
        </p:spPr>
        <p:txBody>
          <a:bodyPr wrap="square" rtlCol="0" anchor="t"/>
          <a:lstStyle/>
          <a:p>
            <a:pPr indent="0" marL="0">
              <a:lnSpc>
                <a:spcPct val="105000"/>
              </a:lnSpc>
              <a:buNone/>
            </a:pPr>
            <a:r>
              <a:rPr lang="en-US" sz="1050" b="1" dirty="0">
                <a:solidFill>
                  <a:srgbClr val="34A853"/>
                </a:solidFill>
                <a:latin typeface="Arial" pitchFamily="34" charset="0"/>
                <a:ea typeface="Arial" pitchFamily="34" charset="-122"/>
                <a:cs typeface="Arial" pitchFamily="34" charset="-120"/>
              </a:rPr>
              <a:t>Fix:  </a:t>
            </a:r>
            <a:pPr indent="0" marL="0">
              <a:lnSpc>
                <a:spcPct val="105000"/>
              </a:lnSpc>
              <a:buNone/>
            </a:pPr>
            <a:r>
              <a:rPr lang="en-US" sz="1050" dirty="0">
                <a:solidFill>
                  <a:srgbClr val="202124"/>
                </a:solidFill>
                <a:latin typeface="Arial" pitchFamily="34" charset="0"/>
                <a:ea typeface="Arial" pitchFamily="34" charset="-122"/>
                <a:cs typeface="Arial" pitchFamily="34" charset="-120"/>
              </a:rPr>
              <a:t>Precise, checkable acceptance criteria — the spec pays off again.</a:t>
            </a:r>
            <a:endParaRPr lang="en-US" sz="1050" dirty="0"/>
          </a:p>
        </p:txBody>
      </p:sp>
      <p:sp>
        <p:nvSpPr>
          <p:cNvPr id="39" name="Shape 32"/>
          <p:cNvSpPr/>
          <p:nvPr/>
        </p:nvSpPr>
        <p:spPr>
          <a:xfrm>
            <a:off x="8010144" y="3849624"/>
            <a:ext cx="3520440" cy="1627632"/>
          </a:xfrm>
          <a:prstGeom prst="roundRect">
            <a:avLst>
              <a:gd name="adj" fmla="val 449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40" name="Shape 33"/>
          <p:cNvSpPr/>
          <p:nvPr/>
        </p:nvSpPr>
        <p:spPr>
          <a:xfrm>
            <a:off x="8193024" y="4032504"/>
            <a:ext cx="457200" cy="457200"/>
          </a:xfrm>
          <a:prstGeom prst="ellipse">
            <a:avLst/>
          </a:prstGeom>
          <a:solidFill>
            <a:srgbClr val="FCE8E6"/>
          </a:solidFill>
          <a:ln/>
        </p:spPr>
      </p:sp>
      <p:pic>
        <p:nvPicPr>
          <p:cNvPr id="41" name="Image 5" descr="preencoded.png">    </p:cNvPr>
          <p:cNvPicPr>
            <a:picLocks noChangeAspect="1"/>
          </p:cNvPicPr>
          <p:nvPr/>
        </p:nvPicPr>
        <p:blipFill>
          <a:blip r:embed="rId6"/>
          <a:stretch>
            <a:fillRect/>
          </a:stretch>
        </p:blipFill>
        <p:spPr>
          <a:xfrm>
            <a:off x="8316468" y="4155948"/>
            <a:ext cx="210312" cy="210312"/>
          </a:xfrm>
          <a:prstGeom prst="rect">
            <a:avLst/>
          </a:prstGeom>
        </p:spPr>
      </p:pic>
      <p:sp>
        <p:nvSpPr>
          <p:cNvPr id="42" name="Text 34"/>
          <p:cNvSpPr/>
          <p:nvPr/>
        </p:nvSpPr>
        <p:spPr>
          <a:xfrm>
            <a:off x="8759952" y="4014216"/>
            <a:ext cx="2606040" cy="475488"/>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No exit ramp</a:t>
            </a:r>
            <a:endParaRPr lang="en-US" sz="1250" dirty="0"/>
          </a:p>
        </p:txBody>
      </p:sp>
      <p:sp>
        <p:nvSpPr>
          <p:cNvPr id="43" name="Text 35"/>
          <p:cNvSpPr/>
          <p:nvPr/>
        </p:nvSpPr>
        <p:spPr>
          <a:xfrm>
            <a:off x="8211312" y="4562856"/>
            <a:ext cx="3136392" cy="384048"/>
          </a:xfrm>
          <a:prstGeom prst="rect">
            <a:avLst/>
          </a:prstGeom>
          <a:noFill/>
          <a:ln/>
        </p:spPr>
        <p:txBody>
          <a:bodyPr wrap="square" rtlCol="0" anchor="t"/>
          <a:lstStyle/>
          <a:p>
            <a:pPr indent="0" marL="0">
              <a:buNone/>
            </a:pPr>
            <a:r>
              <a:rPr lang="en-US" sz="1050" i="1" dirty="0">
                <a:solidFill>
                  <a:srgbClr val="5F6368"/>
                </a:solidFill>
                <a:latin typeface="Arial" pitchFamily="34" charset="0"/>
                <a:ea typeface="Arial" pitchFamily="34" charset="-122"/>
                <a:cs typeface="Arial" pitchFamily="34" charset="-120"/>
              </a:rPr>
              <a:t>Loop can't converge and never stops.</a:t>
            </a:r>
            <a:endParaRPr lang="en-US" sz="1050" dirty="0"/>
          </a:p>
        </p:txBody>
      </p:sp>
      <p:sp>
        <p:nvSpPr>
          <p:cNvPr id="44" name="Text 36"/>
          <p:cNvSpPr/>
          <p:nvPr/>
        </p:nvSpPr>
        <p:spPr>
          <a:xfrm>
            <a:off x="8211312" y="4928616"/>
            <a:ext cx="3136392" cy="475488"/>
          </a:xfrm>
          <a:prstGeom prst="rect">
            <a:avLst/>
          </a:prstGeom>
          <a:noFill/>
          <a:ln/>
        </p:spPr>
        <p:txBody>
          <a:bodyPr wrap="square" rtlCol="0" anchor="t"/>
          <a:lstStyle/>
          <a:p>
            <a:pPr indent="0" marL="0">
              <a:lnSpc>
                <a:spcPct val="105000"/>
              </a:lnSpc>
              <a:buNone/>
            </a:pPr>
            <a:r>
              <a:rPr lang="en-US" sz="1050" b="1" dirty="0">
                <a:solidFill>
                  <a:srgbClr val="34A853"/>
                </a:solidFill>
                <a:latin typeface="Arial" pitchFamily="34" charset="0"/>
                <a:ea typeface="Arial" pitchFamily="34" charset="-122"/>
                <a:cs typeface="Arial" pitchFamily="34" charset="-120"/>
              </a:rPr>
              <a:t>Fix:  </a:t>
            </a:r>
            <a:pPr indent="0" marL="0">
              <a:lnSpc>
                <a:spcPct val="105000"/>
              </a:lnSpc>
              <a:buNone/>
            </a:pPr>
            <a:r>
              <a:rPr lang="en-US" sz="1050" dirty="0">
                <a:solidFill>
                  <a:srgbClr val="202124"/>
                </a:solidFill>
                <a:latin typeface="Arial" pitchFamily="34" charset="0"/>
                <a:ea typeface="Arial" pitchFamily="34" charset="-122"/>
                <a:cs typeface="Arial" pitchFamily="34" charset="-120"/>
              </a:rPr>
              <a:t>A clear escalation path to a human-in-the-loop.</a:t>
            </a:r>
            <a:endParaRPr lang="en-US" sz="1050" dirty="0"/>
          </a:p>
        </p:txBody>
      </p:sp>
      <p:sp>
        <p:nvSpPr>
          <p:cNvPr id="45" name="Shape 37"/>
          <p:cNvSpPr/>
          <p:nvPr/>
        </p:nvSpPr>
        <p:spPr>
          <a:xfrm>
            <a:off x="640080" y="5650992"/>
            <a:ext cx="10881360" cy="548640"/>
          </a:xfrm>
          <a:prstGeom prst="roundRect">
            <a:avLst>
              <a:gd name="adj" fmla="val 13333"/>
            </a:avLst>
          </a:prstGeom>
          <a:solidFill>
            <a:srgbClr val="202124"/>
          </a:solidFill>
          <a:ln w="12700">
            <a:solidFill>
              <a:srgbClr val="202124"/>
            </a:solidFill>
            <a:prstDash val="solid"/>
          </a:ln>
        </p:spPr>
      </p:sp>
      <p:sp>
        <p:nvSpPr>
          <p:cNvPr id="46" name="Text 38"/>
          <p:cNvSpPr/>
          <p:nvPr/>
        </p:nvSpPr>
        <p:spPr>
          <a:xfrm>
            <a:off x="640080" y="5650992"/>
            <a:ext cx="10881360" cy="548640"/>
          </a:xfrm>
          <a:prstGeom prst="rect">
            <a:avLst/>
          </a:prstGeom>
          <a:noFill/>
          <a:ln/>
        </p:spPr>
        <p:txBody>
          <a:bodyPr wrap="square" rtlCol="0" anchor="ctr"/>
          <a:lstStyle/>
          <a:p>
            <a:pPr algn="ctr" indent="0" marL="0">
              <a:buNone/>
            </a:pPr>
            <a:r>
              <a:rPr lang="en-US" sz="1400" b="1" dirty="0">
                <a:solidFill>
                  <a:srgbClr val="FBBC04"/>
                </a:solidFill>
                <a:latin typeface="Arial" pitchFamily="34" charset="0"/>
                <a:ea typeface="Arial" pitchFamily="34" charset="-122"/>
                <a:cs typeface="Arial" pitchFamily="34" charset="-120"/>
              </a:rPr>
              <a:t>A self-correcting loop is only as good as the objective signal it corrects against.  No tests = no loop.</a:t>
            </a:r>
            <a:endParaRPr lang="en-US" sz="1400" dirty="0"/>
          </a:p>
        </p:txBody>
      </p:sp>
      <p:sp>
        <p:nvSpPr>
          <p:cNvPr id="47" name="Shape 39"/>
          <p:cNvSpPr/>
          <p:nvPr/>
        </p:nvSpPr>
        <p:spPr>
          <a:xfrm>
            <a:off x="640080" y="6419088"/>
            <a:ext cx="10908792" cy="0"/>
          </a:xfrm>
          <a:prstGeom prst="line">
            <a:avLst/>
          </a:prstGeom>
          <a:noFill/>
          <a:ln w="12700">
            <a:solidFill>
              <a:srgbClr val="DADCE0"/>
            </a:solidFill>
            <a:prstDash val="solid"/>
          </a:ln>
        </p:spPr>
      </p:sp>
      <p:sp>
        <p:nvSpPr>
          <p:cNvPr id="48" name="Text 40"/>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49" name="Text 41"/>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THE TECHNIQUE TOOLBOX</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Classic methods that matter more in the AI era</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27632"/>
          <a:ext cx="10908792" cy="914400"/>
        </p:xfrm>
        <a:graphic>
          <a:graphicData uri="http://schemas.openxmlformats.org/drawingml/2006/table">
            <a:tbl>
              <a:tblPr/>
              <a:tblGrid>
                <a:gridCol w="2606040"/>
                <a:gridCol w="4069080"/>
                <a:gridCol w="4233672"/>
              </a:tblGrid>
              <a:tr h="36576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Technique</a:t>
                      </a:r>
                      <a:endParaRPr lang="en-US" sz="115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20212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What it does</a:t>
                      </a:r>
                      <a:endParaRPr lang="en-US" sz="115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202124"/>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Where AI helps</a:t>
                      </a:r>
                      <a:endParaRPr lang="en-US" sz="115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202124"/>
                    </a:solidFill>
                  </a:tcPr>
                </a:tc>
              </a:tr>
              <a:tr h="502920">
                <a:tc>
                  <a:txBody>
                    <a:bodyPr/>
                    <a:lstStyle/>
                    <a:p>
                      <a:pPr algn="l" indent="0" marL="0">
                        <a:buNone/>
                      </a:pPr>
                      <a:r>
                        <a:rPr lang="en-US" sz="1080" b="1" dirty="0">
                          <a:solidFill>
                            <a:srgbClr val="4285F4"/>
                          </a:solidFill>
                          <a:latin typeface="Arial" pitchFamily="34" charset="0"/>
                          <a:ea typeface="Arial" pitchFamily="34" charset="-122"/>
                          <a:cs typeface="Arial" pitchFamily="34" charset="-120"/>
                        </a:rPr>
                        <a:t>Characterization tests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02124"/>
                          </a:solidFill>
                          <a:latin typeface="Arial" pitchFamily="34" charset="0"/>
                          <a:ea typeface="Arial" pitchFamily="34" charset="-122"/>
                          <a:cs typeface="Arial" pitchFamily="34" charset="-120"/>
                        </a:rPr>
                        <a:t>Lock in actual current behavior before touching anything</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5F6368"/>
                          </a:solidFill>
                          <a:latin typeface="Arial" pitchFamily="34" charset="0"/>
                          <a:ea typeface="Arial" pitchFamily="34" charset="-122"/>
                          <a:cs typeface="Arial" pitchFamily="34" charset="-120"/>
                        </a:rPr>
                        <a:t>Drafts tests fast — humans confirm they capture correct behavior</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457200">
                <a:tc>
                  <a:txBody>
                    <a:bodyPr/>
                    <a:lstStyle/>
                    <a:p>
                      <a:pPr algn="l" indent="0" marL="0">
                        <a:buNone/>
                      </a:pPr>
                      <a:r>
                        <a:rPr lang="en-US" sz="1080" b="1" dirty="0">
                          <a:solidFill>
                            <a:srgbClr val="4285F4"/>
                          </a:solidFill>
                          <a:latin typeface="Arial" pitchFamily="34" charset="0"/>
                          <a:ea typeface="Arial" pitchFamily="34" charset="-122"/>
                          <a:cs typeface="Arial" pitchFamily="34" charset="-120"/>
                        </a:rPr>
                        <a:t>Seams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1080" dirty="0">
                          <a:solidFill>
                            <a:srgbClr val="202124"/>
                          </a:solidFill>
                          <a:latin typeface="Arial" pitchFamily="34" charset="0"/>
                          <a:ea typeface="Arial" pitchFamily="34" charset="-122"/>
                          <a:cs typeface="Arial" pitchFamily="34" charset="-120"/>
                        </a:rPr>
                        <a:t>Safe insertion points to isolate &amp; replace slices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1080" dirty="0">
                          <a:solidFill>
                            <a:srgbClr val="5F6368"/>
                          </a:solidFill>
                          <a:latin typeface="Arial" pitchFamily="34" charset="0"/>
                          <a:ea typeface="Arial" pitchFamily="34" charset="-122"/>
                          <a:cs typeface="Arial" pitchFamily="34" charset="-120"/>
                        </a:rPr>
                        <a:t>Maps dependencies, suggests seam candidates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457200">
                <a:tc>
                  <a:txBody>
                    <a:bodyPr/>
                    <a:lstStyle/>
                    <a:p>
                      <a:pPr algn="l" indent="0" marL="0">
                        <a:buNone/>
                      </a:pPr>
                      <a:r>
                        <a:rPr lang="en-US" sz="1080" b="1" dirty="0">
                          <a:solidFill>
                            <a:srgbClr val="4285F4"/>
                          </a:solidFill>
                          <a:latin typeface="Arial" pitchFamily="34" charset="0"/>
                          <a:ea typeface="Arial" pitchFamily="34" charset="-122"/>
                          <a:cs typeface="Arial" pitchFamily="34" charset="-120"/>
                        </a:rPr>
                        <a:t>Strangler fig</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02124"/>
                          </a:solidFill>
                          <a:latin typeface="Arial" pitchFamily="34" charset="0"/>
                          <a:ea typeface="Arial" pitchFamily="34" charset="-122"/>
                          <a:cs typeface="Arial" pitchFamily="34" charset="-120"/>
                        </a:rPr>
                        <a:t>Replace the old system slice-by-slice while it runs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5F6368"/>
                          </a:solidFill>
                          <a:latin typeface="Arial" pitchFamily="34" charset="0"/>
                          <a:ea typeface="Arial" pitchFamily="34" charset="-122"/>
                          <a:cs typeface="Arial" pitchFamily="34" charset="-120"/>
                        </a:rPr>
                        <a:t>Handles mechanical migration; keeps blast radius small</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02920">
                <a:tc>
                  <a:txBody>
                    <a:bodyPr/>
                    <a:lstStyle/>
                    <a:p>
                      <a:pPr algn="l" indent="0" marL="0">
                        <a:buNone/>
                      </a:pPr>
                      <a:r>
                        <a:rPr lang="en-US" sz="1080" b="1" dirty="0">
                          <a:solidFill>
                            <a:srgbClr val="4285F4"/>
                          </a:solidFill>
                          <a:latin typeface="Arial" pitchFamily="34" charset="0"/>
                          <a:ea typeface="Arial" pitchFamily="34" charset="-122"/>
                          <a:cs typeface="Arial" pitchFamily="34" charset="-120"/>
                        </a:rPr>
                        <a:t>Dependency / domain mapping</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1080" dirty="0">
                          <a:solidFill>
                            <a:srgbClr val="202124"/>
                          </a:solidFill>
                          <a:latin typeface="Arial" pitchFamily="34" charset="0"/>
                          <a:ea typeface="Arial" pitchFamily="34" charset="-122"/>
                          <a:cs typeface="Arial" pitchFamily="34" charset="-120"/>
                        </a:rPr>
                        <a:t>A true picture of how modules &amp; data connect</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1080" dirty="0">
                          <a:solidFill>
                            <a:srgbClr val="5F6368"/>
                          </a:solidFill>
                          <a:latin typeface="Arial" pitchFamily="34" charset="0"/>
                          <a:ea typeface="Arial" pitchFamily="34" charset="-122"/>
                          <a:cs typeface="Arial" pitchFamily="34" charset="-120"/>
                        </a:rPr>
                        <a:t>Fastest win — graph context cut hallucination 40–50%</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502920">
                <a:tc>
                  <a:txBody>
                    <a:bodyPr/>
                    <a:lstStyle/>
                    <a:p>
                      <a:pPr algn="l" indent="0" marL="0">
                        <a:buNone/>
                      </a:pPr>
                      <a:r>
                        <a:rPr lang="en-US" sz="1080" b="1" dirty="0">
                          <a:solidFill>
                            <a:srgbClr val="4285F4"/>
                          </a:solidFill>
                          <a:latin typeface="Arial" pitchFamily="34" charset="0"/>
                          <a:ea typeface="Arial" pitchFamily="34" charset="-122"/>
                          <a:cs typeface="Arial" pitchFamily="34" charset="-120"/>
                        </a:rPr>
                        <a:t>Business-rule extraction</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02124"/>
                          </a:solidFill>
                          <a:latin typeface="Arial" pitchFamily="34" charset="0"/>
                          <a:ea typeface="Arial" pitchFamily="34" charset="-122"/>
                          <a:cs typeface="Arial" pitchFamily="34" charset="-120"/>
                        </a:rPr>
                        <a:t>Turn embedded logic into explicit requirements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5F6368"/>
                          </a:solidFill>
                          <a:latin typeface="Arial" pitchFamily="34" charset="0"/>
                          <a:ea typeface="Arial" pitchFamily="34" charset="-122"/>
                          <a:cs typeface="Arial" pitchFamily="34" charset="-120"/>
                        </a:rPr>
                        <a:t>Identifies undocumented purpose at ~83% — a first pass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457200">
                <a:tc>
                  <a:txBody>
                    <a:bodyPr/>
                    <a:lstStyle/>
                    <a:p>
                      <a:pPr algn="l" indent="0" marL="0">
                        <a:buNone/>
                      </a:pPr>
                      <a:r>
                        <a:rPr lang="en-US" sz="1080" b="1" dirty="0">
                          <a:solidFill>
                            <a:srgbClr val="4285F4"/>
                          </a:solidFill>
                          <a:latin typeface="Arial" pitchFamily="34" charset="0"/>
                          <a:ea typeface="Arial" pitchFamily="34" charset="-122"/>
                          <a:cs typeface="Arial" pitchFamily="34" charset="-120"/>
                        </a:rPr>
                        <a:t>Fitness functions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1080" dirty="0">
                          <a:solidFill>
                            <a:srgbClr val="202124"/>
                          </a:solidFill>
                          <a:latin typeface="Arial" pitchFamily="34" charset="0"/>
                          <a:ea typeface="Arial" pitchFamily="34" charset="-122"/>
                          <a:cs typeface="Arial" pitchFamily="34" charset="-120"/>
                        </a:rPr>
                        <a:t>Automated architecture / quality guardrails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1080" dirty="0">
                          <a:solidFill>
                            <a:srgbClr val="5F6368"/>
                          </a:solidFill>
                          <a:latin typeface="Arial" pitchFamily="34" charset="0"/>
                          <a:ea typeface="Arial" pitchFamily="34" charset="-122"/>
                          <a:cs typeface="Arial" pitchFamily="34" charset="-120"/>
                        </a:rPr>
                        <a:t>Become success signals inside the self-correcting loop</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457200">
                <a:tc>
                  <a:txBody>
                    <a:bodyPr/>
                    <a:lstStyle/>
                    <a:p>
                      <a:pPr algn="l" indent="0" marL="0">
                        <a:buNone/>
                      </a:pPr>
                      <a:r>
                        <a:rPr lang="en-US" sz="1080" b="1" dirty="0">
                          <a:solidFill>
                            <a:srgbClr val="4285F4"/>
                          </a:solidFill>
                          <a:latin typeface="Arial" pitchFamily="34" charset="0"/>
                          <a:ea typeface="Arial" pitchFamily="34" charset="-122"/>
                          <a:cs typeface="Arial" pitchFamily="34" charset="-120"/>
                        </a:rPr>
                        <a:t>AI agent “wrapper”</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202124"/>
                          </a:solidFill>
                          <a:latin typeface="Arial" pitchFamily="34" charset="0"/>
                          <a:ea typeface="Arial" pitchFamily="34" charset="-122"/>
                          <a:cs typeface="Arial" pitchFamily="34" charset="-120"/>
                        </a:rPr>
                        <a:t>Keep the legacy core; add modern APIs around it</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5F6368"/>
                          </a:solidFill>
                          <a:latin typeface="Arial" pitchFamily="34" charset="0"/>
                          <a:ea typeface="Arial" pitchFamily="34" charset="-122"/>
                          <a:cs typeface="Arial" pitchFamily="34" charset="-120"/>
                        </a:rPr>
                        <a:t>Fastest 2026 path when a rewrite is too risky</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457200">
                <a:tc>
                  <a:txBody>
                    <a:bodyPr/>
                    <a:lstStyle/>
                    <a:p>
                      <a:pPr algn="l" indent="0" marL="0">
                        <a:buNone/>
                      </a:pPr>
                      <a:r>
                        <a:rPr lang="en-US" sz="1080" b="1" dirty="0">
                          <a:solidFill>
                            <a:srgbClr val="4285F4"/>
                          </a:solidFill>
                          <a:latin typeface="Arial" pitchFamily="34" charset="0"/>
                          <a:ea typeface="Arial" pitchFamily="34" charset="-122"/>
                          <a:cs typeface="Arial" pitchFamily="34" charset="-120"/>
                        </a:rPr>
                        <a:t>Phased approach</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1080" dirty="0">
                          <a:solidFill>
                            <a:srgbClr val="202124"/>
                          </a:solidFill>
                          <a:latin typeface="Arial" pitchFamily="34" charset="0"/>
                          <a:ea typeface="Arial" pitchFamily="34" charset="-122"/>
                          <a:cs typeface="Arial" pitchFamily="34" charset="-120"/>
                        </a:rPr>
                        <a:t>Analyze → prioritize → modernize in waves</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1080" dirty="0">
                          <a:solidFill>
                            <a:srgbClr val="5F6368"/>
                          </a:solidFill>
                          <a:latin typeface="Arial" pitchFamily="34" charset="0"/>
                          <a:ea typeface="Arial" pitchFamily="34" charset="-122"/>
                          <a:cs typeface="Arial" pitchFamily="34" charset="-120"/>
                        </a:rPr>
                        <a:t>Reads the system, maps deps, ranks modules by risk</a:t>
                      </a:r>
                      <a:endParaRPr lang="en-US" sz="1080" dirty="0">
                        <a:latin typeface="Arial" charset="0"/>
                        <a:ea typeface="Arial" charset="0"/>
                        <a:cs typeface="Arial" charset="0"/>
                      </a:endParaRPr>
                    </a:p>
                  </a:txBody>
                  <a:tcPr marL="76200" marR="76200" marT="38100" marB="3810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bl>
          </a:graphicData>
        </a:graphic>
      </p:graphicFrame>
      <p:sp>
        <p:nvSpPr>
          <p:cNvPr id="9" name="Shape 6"/>
          <p:cNvSpPr/>
          <p:nvPr/>
        </p:nvSpPr>
        <p:spPr>
          <a:xfrm>
            <a:off x="640080" y="6419088"/>
            <a:ext cx="10908792" cy="0"/>
          </a:xfrm>
          <a:prstGeom prst="line">
            <a:avLst/>
          </a:prstGeom>
          <a:noFill/>
          <a:ln w="12700">
            <a:solidFill>
              <a:srgbClr val="DADCE0"/>
            </a:solidFill>
            <a:prstDash val="solid"/>
          </a:ln>
        </p:spPr>
      </p:sp>
      <p:sp>
        <p:nvSpPr>
          <p:cNvPr id="10" name="Text 7"/>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11" name="Text 8"/>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DECISION FRAMING</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Rewrite vs. wrap — and the wrong comparison</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Shape 6"/>
          <p:cNvSpPr/>
          <p:nvPr/>
        </p:nvSpPr>
        <p:spPr>
          <a:xfrm>
            <a:off x="640080" y="1691640"/>
            <a:ext cx="5257800" cy="2148840"/>
          </a:xfrm>
          <a:prstGeom prst="roundRect">
            <a:avLst>
              <a:gd name="adj" fmla="val 340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9" name="Shape 7"/>
          <p:cNvSpPr/>
          <p:nvPr/>
        </p:nvSpPr>
        <p:spPr>
          <a:xfrm>
            <a:off x="640080" y="1691640"/>
            <a:ext cx="5257800" cy="73152"/>
          </a:xfrm>
          <a:prstGeom prst="rect">
            <a:avLst/>
          </a:prstGeom>
          <a:solidFill>
            <a:srgbClr val="34A853"/>
          </a:solidFill>
          <a:ln/>
        </p:spPr>
      </p:sp>
      <p:sp>
        <p:nvSpPr>
          <p:cNvPr id="10" name="Shape 8"/>
          <p:cNvSpPr/>
          <p:nvPr/>
        </p:nvSpPr>
        <p:spPr>
          <a:xfrm>
            <a:off x="868680" y="1947672"/>
            <a:ext cx="548640" cy="548640"/>
          </a:xfrm>
          <a:prstGeom prst="ellipse">
            <a:avLst/>
          </a:prstGeom>
          <a:solidFill>
            <a:srgbClr val="E6F4EA"/>
          </a:solidFill>
          <a:ln/>
        </p:spPr>
      </p:sp>
      <p:pic>
        <p:nvPicPr>
          <p:cNvPr id="11" name="Image 0" descr="preencoded.png">    </p:cNvPr>
          <p:cNvPicPr>
            <a:picLocks noChangeAspect="1"/>
          </p:cNvPicPr>
          <p:nvPr/>
        </p:nvPicPr>
        <p:blipFill>
          <a:blip r:embed="rId1"/>
          <a:stretch>
            <a:fillRect/>
          </a:stretch>
        </p:blipFill>
        <p:spPr>
          <a:xfrm>
            <a:off x="1016813" y="2095805"/>
            <a:ext cx="252374" cy="252374"/>
          </a:xfrm>
          <a:prstGeom prst="rect">
            <a:avLst/>
          </a:prstGeom>
        </p:spPr>
      </p:pic>
      <p:sp>
        <p:nvSpPr>
          <p:cNvPr id="12" name="Text 9"/>
          <p:cNvSpPr/>
          <p:nvPr/>
        </p:nvSpPr>
        <p:spPr>
          <a:xfrm>
            <a:off x="1554480" y="1965960"/>
            <a:ext cx="4206240" cy="502920"/>
          </a:xfrm>
          <a:prstGeom prst="rect">
            <a:avLst/>
          </a:prstGeom>
          <a:noFill/>
          <a:ln/>
        </p:spPr>
        <p:txBody>
          <a:bodyPr wrap="square" rtlCol="0" anchor="ctr"/>
          <a:lstStyle/>
          <a:p>
            <a:pPr indent="0" marL="0">
              <a:buNone/>
            </a:pPr>
            <a:r>
              <a:rPr lang="en-US" sz="1550" b="1" dirty="0">
                <a:solidFill>
                  <a:srgbClr val="202124"/>
                </a:solidFill>
                <a:latin typeface="Arial" pitchFamily="34" charset="0"/>
                <a:ea typeface="Arial" pitchFamily="34" charset="-122"/>
                <a:cs typeface="Arial" pitchFamily="34" charset="-120"/>
              </a:rPr>
              <a:t>Wrap (modernize around)</a:t>
            </a:r>
            <a:endParaRPr lang="en-US" sz="1550" dirty="0"/>
          </a:p>
        </p:txBody>
      </p:sp>
      <p:sp>
        <p:nvSpPr>
          <p:cNvPr id="13" name="Text 10"/>
          <p:cNvSpPr/>
          <p:nvPr/>
        </p:nvSpPr>
        <p:spPr>
          <a:xfrm>
            <a:off x="896112" y="2606040"/>
            <a:ext cx="4846320" cy="1143000"/>
          </a:xfrm>
          <a:prstGeom prst="rect">
            <a:avLst/>
          </a:prstGeom>
          <a:noFill/>
          <a:ln/>
        </p:spPr>
        <p:txBody>
          <a:bodyPr wrap="square" rtlCol="0" anchor="t"/>
          <a:lstStyle/>
          <a:p>
            <a:pPr indent="0" marL="0">
              <a:lnSpc>
                <a:spcPct val="110000"/>
              </a:lnSpc>
              <a:spcAft>
                <a:spcPts val="400"/>
              </a:spcAft>
              <a:buNone/>
            </a:pPr>
            <a:r>
              <a:rPr lang="en-US" sz="1200" dirty="0">
                <a:solidFill>
                  <a:srgbClr val="5F6368"/>
                </a:solidFill>
                <a:latin typeface="Arial" pitchFamily="34" charset="0"/>
                <a:ea typeface="Arial" pitchFamily="34" charset="-122"/>
                <a:cs typeface="Arial" pitchFamily="34" charset="-120"/>
              </a:rPr>
              <a:t>Keep the legacy core running; add modern interfaces &amp; APIs.</a:t>
            </a:r>
            <a:endParaRPr lang="en-US" sz="1200" dirty="0"/>
          </a:p>
          <a:p>
            <a:pPr marL="342900" indent="-342900">
              <a:lnSpc>
                <a:spcPct val="110000"/>
              </a:lnSpc>
              <a:spcAft>
                <a:spcPts val="400"/>
              </a:spcAft>
              <a:buSzPct val="100000"/>
              <a:buChar char="•"/>
            </a:pPr>
            <a:r>
              <a:rPr lang="en-US" sz="1200" dirty="0">
                <a:solidFill>
                  <a:srgbClr val="5F6368"/>
                </a:solidFill>
                <a:latin typeface="Arial" pitchFamily="34" charset="0"/>
                <a:ea typeface="Arial" pitchFamily="34" charset="-122"/>
                <a:cs typeface="Arial" pitchFamily="34" charset="-120"/>
              </a:rPr>
              <a:t>Smallest blast radius — modernize in waves.</a:t>
            </a:r>
            <a:endParaRPr lang="en-US" sz="1200" dirty="0"/>
          </a:p>
          <a:p>
            <a:pPr marL="342900" indent="-342900">
              <a:lnSpc>
                <a:spcPct val="110000"/>
              </a:lnSpc>
              <a:spcAft>
                <a:spcPts val="400"/>
              </a:spcAft>
              <a:buSzPct val="100000"/>
              <a:buChar char="•"/>
            </a:pPr>
            <a:r>
              <a:rPr lang="en-US" sz="1200" dirty="0">
                <a:solidFill>
                  <a:srgbClr val="5F6368"/>
                </a:solidFill>
                <a:latin typeface="Arial" pitchFamily="34" charset="0"/>
                <a:ea typeface="Arial" pitchFamily="34" charset="-122"/>
                <a:cs typeface="Arial" pitchFamily="34" charset="-120"/>
              </a:rPr>
              <a:t>Fastest 2026 path when a rewrite is too risky.</a:t>
            </a:r>
            <a:endParaRPr lang="en-US" sz="1200" dirty="0"/>
          </a:p>
          <a:p>
            <a:pPr marL="342900" indent="-342900">
              <a:lnSpc>
                <a:spcPct val="110000"/>
              </a:lnSpc>
              <a:spcAft>
                <a:spcPts val="400"/>
              </a:spcAft>
              <a:buSzPct val="100000"/>
              <a:buChar char="•"/>
            </a:pPr>
            <a:r>
              <a:rPr lang="en-US" sz="1200" dirty="0">
                <a:solidFill>
                  <a:srgbClr val="5F6368"/>
                </a:solidFill>
                <a:latin typeface="Arial" pitchFamily="34" charset="0"/>
                <a:ea typeface="Arial" pitchFamily="34" charset="-122"/>
                <a:cs typeface="Arial" pitchFamily="34" charset="-120"/>
              </a:rPr>
              <a:t>Legacy stays live throughout.</a:t>
            </a:r>
            <a:endParaRPr lang="en-US" sz="1200" dirty="0"/>
          </a:p>
        </p:txBody>
      </p:sp>
      <p:sp>
        <p:nvSpPr>
          <p:cNvPr id="14" name="Shape 11"/>
          <p:cNvSpPr/>
          <p:nvPr/>
        </p:nvSpPr>
        <p:spPr>
          <a:xfrm>
            <a:off x="6263640" y="1691640"/>
            <a:ext cx="5257800" cy="2148840"/>
          </a:xfrm>
          <a:prstGeom prst="roundRect">
            <a:avLst>
              <a:gd name="adj" fmla="val 3404"/>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5" name="Shape 12"/>
          <p:cNvSpPr/>
          <p:nvPr/>
        </p:nvSpPr>
        <p:spPr>
          <a:xfrm>
            <a:off x="6263640" y="1691640"/>
            <a:ext cx="5257800" cy="73152"/>
          </a:xfrm>
          <a:prstGeom prst="rect">
            <a:avLst/>
          </a:prstGeom>
          <a:solidFill>
            <a:srgbClr val="EA4335"/>
          </a:solidFill>
          <a:ln/>
        </p:spPr>
      </p:sp>
      <p:sp>
        <p:nvSpPr>
          <p:cNvPr id="16" name="Shape 13"/>
          <p:cNvSpPr/>
          <p:nvPr/>
        </p:nvSpPr>
        <p:spPr>
          <a:xfrm>
            <a:off x="6492240" y="1947672"/>
            <a:ext cx="548640" cy="548640"/>
          </a:xfrm>
          <a:prstGeom prst="ellipse">
            <a:avLst/>
          </a:prstGeom>
          <a:solidFill>
            <a:srgbClr val="FCE8E6"/>
          </a:solidFill>
          <a:ln/>
        </p:spPr>
      </p:sp>
      <p:pic>
        <p:nvPicPr>
          <p:cNvPr id="17" name="Image 1" descr="preencoded.png">    </p:cNvPr>
          <p:cNvPicPr>
            <a:picLocks noChangeAspect="1"/>
          </p:cNvPicPr>
          <p:nvPr/>
        </p:nvPicPr>
        <p:blipFill>
          <a:blip r:embed="rId2"/>
          <a:stretch>
            <a:fillRect/>
          </a:stretch>
        </p:blipFill>
        <p:spPr>
          <a:xfrm>
            <a:off x="6640373" y="2095805"/>
            <a:ext cx="252374" cy="252374"/>
          </a:xfrm>
          <a:prstGeom prst="rect">
            <a:avLst/>
          </a:prstGeom>
        </p:spPr>
      </p:pic>
      <p:sp>
        <p:nvSpPr>
          <p:cNvPr id="18" name="Text 14"/>
          <p:cNvSpPr/>
          <p:nvPr/>
        </p:nvSpPr>
        <p:spPr>
          <a:xfrm>
            <a:off x="7178040" y="1965960"/>
            <a:ext cx="4206240" cy="502920"/>
          </a:xfrm>
          <a:prstGeom prst="rect">
            <a:avLst/>
          </a:prstGeom>
          <a:noFill/>
          <a:ln/>
        </p:spPr>
        <p:txBody>
          <a:bodyPr wrap="square" rtlCol="0" anchor="ctr"/>
          <a:lstStyle/>
          <a:p>
            <a:pPr indent="0" marL="0">
              <a:buNone/>
            </a:pPr>
            <a:r>
              <a:rPr lang="en-US" sz="1550" b="1" dirty="0">
                <a:solidFill>
                  <a:srgbClr val="202124"/>
                </a:solidFill>
                <a:latin typeface="Arial" pitchFamily="34" charset="0"/>
                <a:ea typeface="Arial" pitchFamily="34" charset="-122"/>
                <a:cs typeface="Arial" pitchFamily="34" charset="-120"/>
              </a:rPr>
              <a:t>Full rewrite</a:t>
            </a:r>
            <a:endParaRPr lang="en-US" sz="1550" dirty="0"/>
          </a:p>
        </p:txBody>
      </p:sp>
      <p:sp>
        <p:nvSpPr>
          <p:cNvPr id="19" name="Text 15"/>
          <p:cNvSpPr/>
          <p:nvPr/>
        </p:nvSpPr>
        <p:spPr>
          <a:xfrm>
            <a:off x="6519672" y="2606040"/>
            <a:ext cx="4846320" cy="1143000"/>
          </a:xfrm>
          <a:prstGeom prst="rect">
            <a:avLst/>
          </a:prstGeom>
          <a:noFill/>
          <a:ln/>
        </p:spPr>
        <p:txBody>
          <a:bodyPr wrap="square" rtlCol="0" anchor="t"/>
          <a:lstStyle/>
          <a:p>
            <a:pPr indent="0" marL="0">
              <a:lnSpc>
                <a:spcPct val="110000"/>
              </a:lnSpc>
              <a:spcAft>
                <a:spcPts val="400"/>
              </a:spcAft>
              <a:buNone/>
            </a:pPr>
            <a:r>
              <a:rPr lang="en-US" sz="1200" dirty="0">
                <a:solidFill>
                  <a:srgbClr val="5F6368"/>
                </a:solidFill>
                <a:latin typeface="Arial" pitchFamily="34" charset="0"/>
                <a:ea typeface="Arial" pitchFamily="34" charset="-122"/>
                <a:cs typeface="Arial" pitchFamily="34" charset="-120"/>
              </a:rPr>
              <a:t>Justified only when the architecture is fundamentally broken.</a:t>
            </a:r>
            <a:endParaRPr lang="en-US" sz="1200" dirty="0"/>
          </a:p>
          <a:p>
            <a:pPr marL="342900" indent="-342900">
              <a:lnSpc>
                <a:spcPct val="110000"/>
              </a:lnSpc>
              <a:spcAft>
                <a:spcPts val="400"/>
              </a:spcAft>
              <a:buSzPct val="100000"/>
              <a:buChar char="•"/>
            </a:pPr>
            <a:r>
              <a:rPr lang="en-US" sz="1200" dirty="0">
                <a:solidFill>
                  <a:srgbClr val="5F6368"/>
                </a:solidFill>
                <a:latin typeface="Arial" pitchFamily="34" charset="0"/>
                <a:ea typeface="Arial" pitchFamily="34" charset="-122"/>
                <a:cs typeface="Arial" pitchFamily="34" charset="-120"/>
              </a:rPr>
              <a:t>Big-bang rewrites tend to become multi-year programs.</a:t>
            </a:r>
            <a:endParaRPr lang="en-US" sz="1200" dirty="0"/>
          </a:p>
          <a:p>
            <a:pPr marL="342900" indent="-342900">
              <a:lnSpc>
                <a:spcPct val="110000"/>
              </a:lnSpc>
              <a:spcAft>
                <a:spcPts val="400"/>
              </a:spcAft>
              <a:buSzPct val="100000"/>
              <a:buChar char="•"/>
            </a:pPr>
            <a:r>
              <a:rPr lang="en-US" sz="1200" dirty="0">
                <a:solidFill>
                  <a:srgbClr val="5F6368"/>
                </a:solidFill>
                <a:latin typeface="Arial" pitchFamily="34" charset="0"/>
                <a:ea typeface="Arial" pitchFamily="34" charset="-122"/>
                <a:cs typeface="Arial" pitchFamily="34" charset="-120"/>
              </a:rPr>
              <a:t>They lose stakeholder confidence before reaching production.</a:t>
            </a:r>
            <a:endParaRPr lang="en-US" sz="1200" dirty="0"/>
          </a:p>
          <a:p>
            <a:pPr marL="342900" indent="-342900">
              <a:lnSpc>
                <a:spcPct val="110000"/>
              </a:lnSpc>
              <a:spcAft>
                <a:spcPts val="400"/>
              </a:spcAft>
              <a:buSzPct val="100000"/>
              <a:buChar char="•"/>
            </a:pPr>
            <a:r>
              <a:rPr lang="en-US" sz="1200" dirty="0">
                <a:solidFill>
                  <a:srgbClr val="5F6368"/>
                </a:solidFill>
                <a:latin typeface="Arial" pitchFamily="34" charset="0"/>
                <a:ea typeface="Arial" pitchFamily="34" charset="-122"/>
                <a:cs typeface="Arial" pitchFamily="34" charset="-120"/>
              </a:rPr>
              <a:t>Evaluate against the 7 Rs, not instinct.</a:t>
            </a:r>
            <a:endParaRPr lang="en-US" sz="1200" dirty="0"/>
          </a:p>
        </p:txBody>
      </p:sp>
      <p:sp>
        <p:nvSpPr>
          <p:cNvPr id="20" name="Shape 16"/>
          <p:cNvSpPr/>
          <p:nvPr/>
        </p:nvSpPr>
        <p:spPr>
          <a:xfrm>
            <a:off x="640080" y="4114800"/>
            <a:ext cx="10881360" cy="1417320"/>
          </a:xfrm>
          <a:prstGeom prst="roundRect">
            <a:avLst>
              <a:gd name="adj" fmla="val 5161"/>
            </a:avLst>
          </a:prstGeom>
          <a:solidFill>
            <a:srgbClr val="FEF7E0"/>
          </a:solidFill>
          <a:ln w="12700">
            <a:solidFill>
              <a:srgbClr val="FBBC04"/>
            </a:solidFill>
            <a:prstDash val="solid"/>
          </a:ln>
        </p:spPr>
      </p:sp>
      <p:sp>
        <p:nvSpPr>
          <p:cNvPr id="21" name="Shape 17"/>
          <p:cNvSpPr/>
          <p:nvPr/>
        </p:nvSpPr>
        <p:spPr>
          <a:xfrm>
            <a:off x="914400" y="4526280"/>
            <a:ext cx="603504" cy="603504"/>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1077346" y="4689226"/>
            <a:ext cx="277612" cy="277612"/>
          </a:xfrm>
          <a:prstGeom prst="rect">
            <a:avLst/>
          </a:prstGeom>
        </p:spPr>
      </p:pic>
      <p:sp>
        <p:nvSpPr>
          <p:cNvPr id="23" name="Text 18"/>
          <p:cNvSpPr/>
          <p:nvPr/>
        </p:nvSpPr>
        <p:spPr>
          <a:xfrm>
            <a:off x="1783080" y="4261104"/>
            <a:ext cx="9509760" cy="365760"/>
          </a:xfrm>
          <a:prstGeom prst="rect">
            <a:avLst/>
          </a:prstGeom>
          <a:noFill/>
          <a:ln/>
        </p:spPr>
        <p:txBody>
          <a:bodyPr wrap="square" rtlCol="0" anchor="ctr"/>
          <a:lstStyle/>
          <a:p>
            <a:pPr indent="0" marL="0">
              <a:buNone/>
            </a:pPr>
            <a:r>
              <a:rPr lang="en-US" sz="1500" b="1" dirty="0">
                <a:solidFill>
                  <a:srgbClr val="8A6D00"/>
                </a:solidFill>
                <a:latin typeface="Arial" pitchFamily="34" charset="0"/>
                <a:ea typeface="Arial" pitchFamily="34" charset="-122"/>
                <a:cs typeface="Arial" pitchFamily="34" charset="-120"/>
              </a:rPr>
              <a:t>The common leadership mistake</a:t>
            </a:r>
            <a:endParaRPr lang="en-US" sz="1500" dirty="0"/>
          </a:p>
        </p:txBody>
      </p:sp>
      <p:sp>
        <p:nvSpPr>
          <p:cNvPr id="24" name="Text 19"/>
          <p:cNvSpPr/>
          <p:nvPr/>
        </p:nvSpPr>
        <p:spPr>
          <a:xfrm>
            <a:off x="1783080" y="4663440"/>
            <a:ext cx="9555480" cy="777240"/>
          </a:xfrm>
          <a:prstGeom prst="rect">
            <a:avLst/>
          </a:prstGeom>
          <a:noFill/>
          <a:ln/>
        </p:spPr>
        <p:txBody>
          <a:bodyPr wrap="square" rtlCol="0" anchor="t"/>
          <a:lstStyle/>
          <a:p>
            <a:pPr indent="0" marL="0">
              <a:lnSpc>
                <a:spcPct val="112000"/>
              </a:lnSpc>
              <a:buNone/>
            </a:pPr>
            <a:r>
              <a:rPr lang="en-US" sz="1300" dirty="0">
                <a:solidFill>
                  <a:srgbClr val="202124"/>
                </a:solidFill>
                <a:latin typeface="Arial" pitchFamily="34" charset="0"/>
                <a:ea typeface="Arial" pitchFamily="34" charset="-122"/>
                <a:cs typeface="Arial" pitchFamily="34" charset="-120"/>
              </a:rPr>
              <a:t>Evaluating AI-augmented modernization against the cost of a traditional rewrite. That's the wrong baseline — AI changes which options are economically viable in the first place.</a:t>
            </a:r>
            <a:endParaRPr lang="en-US" sz="1300" dirty="0"/>
          </a:p>
        </p:txBody>
      </p:sp>
      <p:sp>
        <p:nvSpPr>
          <p:cNvPr id="25" name="Shape 20"/>
          <p:cNvSpPr/>
          <p:nvPr/>
        </p:nvSpPr>
        <p:spPr>
          <a:xfrm>
            <a:off x="640080" y="6419088"/>
            <a:ext cx="10908792" cy="0"/>
          </a:xfrm>
          <a:prstGeom prst="line">
            <a:avLst/>
          </a:prstGeom>
          <a:noFill/>
          <a:ln w="12700">
            <a:solidFill>
              <a:srgbClr val="DADCE0"/>
            </a:solidFill>
            <a:prstDash val="solid"/>
          </a:ln>
        </p:spPr>
      </p:sp>
      <p:sp>
        <p:nvSpPr>
          <p:cNvPr id="26" name="Text 21"/>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27" name="Text 22"/>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BEST PRACTICES</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How disciplined teams run it</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Shape 6"/>
          <p:cNvSpPr/>
          <p:nvPr/>
        </p:nvSpPr>
        <p:spPr>
          <a:xfrm>
            <a:off x="640080" y="1600200"/>
            <a:ext cx="5394960" cy="1078992"/>
          </a:xfrm>
          <a:prstGeom prst="roundRect">
            <a:avLst>
              <a:gd name="adj" fmla="val 6780"/>
            </a:avLst>
          </a:prstGeom>
          <a:solidFill>
            <a:srgbClr val="FFFFFF"/>
          </a:solidFill>
          <a:ln w="12700">
            <a:solidFill>
              <a:srgbClr val="DADCE0"/>
            </a:solidFill>
            <a:prstDash val="solid"/>
          </a:ln>
        </p:spPr>
      </p:sp>
      <p:sp>
        <p:nvSpPr>
          <p:cNvPr id="9" name="Shape 7"/>
          <p:cNvSpPr/>
          <p:nvPr/>
        </p:nvSpPr>
        <p:spPr>
          <a:xfrm>
            <a:off x="822960" y="1847088"/>
            <a:ext cx="566928" cy="566928"/>
          </a:xfrm>
          <a:prstGeom prst="ellipse">
            <a:avLst/>
          </a:prstGeom>
          <a:solidFill>
            <a:srgbClr val="4285F4"/>
          </a:solidFill>
          <a:ln/>
        </p:spPr>
      </p:sp>
      <p:sp>
        <p:nvSpPr>
          <p:cNvPr id="10" name="Text 8"/>
          <p:cNvSpPr/>
          <p:nvPr/>
        </p:nvSpPr>
        <p:spPr>
          <a:xfrm>
            <a:off x="822960" y="1847088"/>
            <a:ext cx="566928" cy="566928"/>
          </a:xfrm>
          <a:prstGeom prst="rect">
            <a:avLst/>
          </a:prstGeom>
          <a:noFill/>
          <a:ln/>
        </p:spPr>
        <p:txBody>
          <a:bodyPr wrap="square"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11" name="Text 9"/>
          <p:cNvSpPr/>
          <p:nvPr/>
        </p:nvSpPr>
        <p:spPr>
          <a:xfrm>
            <a:off x="1554480" y="1746504"/>
            <a:ext cx="4315968" cy="384048"/>
          </a:xfrm>
          <a:prstGeom prst="rect">
            <a:avLst/>
          </a:prstGeom>
          <a:noFill/>
          <a:ln/>
        </p:spPr>
        <p:txBody>
          <a:bodyPr wrap="square" rtlCol="0" anchor="ctr"/>
          <a:lstStyle/>
          <a:p>
            <a:pPr indent="0" marL="0">
              <a:buNone/>
            </a:pPr>
            <a:r>
              <a:rPr lang="en-US" sz="1300" b="1" dirty="0">
                <a:solidFill>
                  <a:srgbClr val="202124"/>
                </a:solidFill>
                <a:latin typeface="Arial" pitchFamily="34" charset="0"/>
                <a:ea typeface="Arial" pitchFamily="34" charset="-122"/>
                <a:cs typeface="Arial" pitchFamily="34" charset="-120"/>
              </a:rPr>
              <a:t>Baseline behavior first</a:t>
            </a:r>
            <a:endParaRPr lang="en-US" sz="1300" dirty="0"/>
          </a:p>
        </p:txBody>
      </p:sp>
      <p:sp>
        <p:nvSpPr>
          <p:cNvPr id="12" name="Text 10"/>
          <p:cNvSpPr/>
          <p:nvPr/>
        </p:nvSpPr>
        <p:spPr>
          <a:xfrm>
            <a:off x="1554480" y="2103120"/>
            <a:ext cx="4315968" cy="502920"/>
          </a:xfrm>
          <a:prstGeom prst="rect">
            <a:avLst/>
          </a:prstGeom>
          <a:noFill/>
          <a:ln/>
        </p:spPr>
        <p:txBody>
          <a:bodyPr wrap="square" rtlCol="0" anchor="t"/>
          <a:lstStyle/>
          <a:p>
            <a:pPr indent="0" marL="0">
              <a:lnSpc>
                <a:spcPct val="105000"/>
              </a:lnSpc>
              <a:buNone/>
            </a:pPr>
            <a:r>
              <a:rPr lang="en-US" sz="1050" dirty="0">
                <a:solidFill>
                  <a:srgbClr val="5F6368"/>
                </a:solidFill>
                <a:latin typeface="Arial" pitchFamily="34" charset="0"/>
                <a:ea typeface="Arial" pitchFamily="34" charset="-122"/>
                <a:cs typeface="Arial" pitchFamily="34" charset="-120"/>
              </a:rPr>
              <a:t>Characterization tests before any refactor. Refactoring without tests is “rearranging dynamite.”</a:t>
            </a:r>
            <a:endParaRPr lang="en-US" sz="1050" dirty="0"/>
          </a:p>
        </p:txBody>
      </p:sp>
      <p:sp>
        <p:nvSpPr>
          <p:cNvPr id="13" name="Shape 11"/>
          <p:cNvSpPr/>
          <p:nvPr/>
        </p:nvSpPr>
        <p:spPr>
          <a:xfrm>
            <a:off x="6153912" y="1600200"/>
            <a:ext cx="5394960" cy="1078992"/>
          </a:xfrm>
          <a:prstGeom prst="roundRect">
            <a:avLst>
              <a:gd name="adj" fmla="val 6780"/>
            </a:avLst>
          </a:prstGeom>
          <a:solidFill>
            <a:srgbClr val="FFFFFF"/>
          </a:solidFill>
          <a:ln w="12700">
            <a:solidFill>
              <a:srgbClr val="DADCE0"/>
            </a:solidFill>
            <a:prstDash val="solid"/>
          </a:ln>
        </p:spPr>
      </p:sp>
      <p:sp>
        <p:nvSpPr>
          <p:cNvPr id="14" name="Shape 12"/>
          <p:cNvSpPr/>
          <p:nvPr/>
        </p:nvSpPr>
        <p:spPr>
          <a:xfrm>
            <a:off x="6336792" y="1847088"/>
            <a:ext cx="566928" cy="566928"/>
          </a:xfrm>
          <a:prstGeom prst="ellipse">
            <a:avLst/>
          </a:prstGeom>
          <a:solidFill>
            <a:srgbClr val="EA4335"/>
          </a:solidFill>
          <a:ln/>
        </p:spPr>
      </p:sp>
      <p:sp>
        <p:nvSpPr>
          <p:cNvPr id="15" name="Text 13"/>
          <p:cNvSpPr/>
          <p:nvPr/>
        </p:nvSpPr>
        <p:spPr>
          <a:xfrm>
            <a:off x="6336792" y="1847088"/>
            <a:ext cx="566928" cy="566928"/>
          </a:xfrm>
          <a:prstGeom prst="rect">
            <a:avLst/>
          </a:prstGeom>
          <a:noFill/>
          <a:ln/>
        </p:spPr>
        <p:txBody>
          <a:bodyPr wrap="square"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6" name="Text 14"/>
          <p:cNvSpPr/>
          <p:nvPr/>
        </p:nvSpPr>
        <p:spPr>
          <a:xfrm>
            <a:off x="7068312" y="1746504"/>
            <a:ext cx="4315968" cy="384048"/>
          </a:xfrm>
          <a:prstGeom prst="rect">
            <a:avLst/>
          </a:prstGeom>
          <a:noFill/>
          <a:ln/>
        </p:spPr>
        <p:txBody>
          <a:bodyPr wrap="square" rtlCol="0" anchor="ctr"/>
          <a:lstStyle/>
          <a:p>
            <a:pPr indent="0" marL="0">
              <a:buNone/>
            </a:pPr>
            <a:r>
              <a:rPr lang="en-US" sz="1300" b="1" dirty="0">
                <a:solidFill>
                  <a:srgbClr val="202124"/>
                </a:solidFill>
                <a:latin typeface="Arial" pitchFamily="34" charset="0"/>
                <a:ea typeface="Arial" pitchFamily="34" charset="-122"/>
                <a:cs typeface="Arial" pitchFamily="34" charset="-120"/>
              </a:rPr>
              <a:t>Logic extraction = a migration gate</a:t>
            </a:r>
            <a:endParaRPr lang="en-US" sz="1300" dirty="0"/>
          </a:p>
        </p:txBody>
      </p:sp>
      <p:sp>
        <p:nvSpPr>
          <p:cNvPr id="17" name="Text 15"/>
          <p:cNvSpPr/>
          <p:nvPr/>
        </p:nvSpPr>
        <p:spPr>
          <a:xfrm>
            <a:off x="7068312" y="2103120"/>
            <a:ext cx="4315968" cy="502920"/>
          </a:xfrm>
          <a:prstGeom prst="rect">
            <a:avLst/>
          </a:prstGeom>
          <a:noFill/>
          <a:ln/>
        </p:spPr>
        <p:txBody>
          <a:bodyPr wrap="square" rtlCol="0" anchor="t"/>
          <a:lstStyle/>
          <a:p>
            <a:pPr indent="0" marL="0">
              <a:lnSpc>
                <a:spcPct val="105000"/>
              </a:lnSpc>
              <a:buNone/>
            </a:pPr>
            <a:r>
              <a:rPr lang="en-US" sz="1050" dirty="0">
                <a:solidFill>
                  <a:srgbClr val="5F6368"/>
                </a:solidFill>
                <a:latin typeface="Arial" pitchFamily="34" charset="0"/>
                <a:ea typeface="Arial" pitchFamily="34" charset="-122"/>
                <a:cs typeface="Arial" pitchFamily="34" charset="-120"/>
              </a:rPr>
              <a:t>No module modernizes until its critical paths are covered &amp; documented to an agreed threshold.</a:t>
            </a:r>
            <a:endParaRPr lang="en-US" sz="1050" dirty="0"/>
          </a:p>
        </p:txBody>
      </p:sp>
      <p:sp>
        <p:nvSpPr>
          <p:cNvPr id="18" name="Shape 16"/>
          <p:cNvSpPr/>
          <p:nvPr/>
        </p:nvSpPr>
        <p:spPr>
          <a:xfrm>
            <a:off x="640080" y="2798064"/>
            <a:ext cx="5394960" cy="1078992"/>
          </a:xfrm>
          <a:prstGeom prst="roundRect">
            <a:avLst>
              <a:gd name="adj" fmla="val 6780"/>
            </a:avLst>
          </a:prstGeom>
          <a:solidFill>
            <a:srgbClr val="FFFFFF"/>
          </a:solidFill>
          <a:ln w="12700">
            <a:solidFill>
              <a:srgbClr val="DADCE0"/>
            </a:solidFill>
            <a:prstDash val="solid"/>
          </a:ln>
        </p:spPr>
      </p:sp>
      <p:sp>
        <p:nvSpPr>
          <p:cNvPr id="19" name="Shape 17"/>
          <p:cNvSpPr/>
          <p:nvPr/>
        </p:nvSpPr>
        <p:spPr>
          <a:xfrm>
            <a:off x="822960" y="3044952"/>
            <a:ext cx="566928" cy="566928"/>
          </a:xfrm>
          <a:prstGeom prst="ellipse">
            <a:avLst/>
          </a:prstGeom>
          <a:solidFill>
            <a:srgbClr val="FBBC04"/>
          </a:solidFill>
          <a:ln/>
        </p:spPr>
      </p:sp>
      <p:sp>
        <p:nvSpPr>
          <p:cNvPr id="20" name="Text 18"/>
          <p:cNvSpPr/>
          <p:nvPr/>
        </p:nvSpPr>
        <p:spPr>
          <a:xfrm>
            <a:off x="822960" y="3044952"/>
            <a:ext cx="566928" cy="566928"/>
          </a:xfrm>
          <a:prstGeom prst="rect">
            <a:avLst/>
          </a:prstGeom>
          <a:noFill/>
          <a:ln/>
        </p:spPr>
        <p:txBody>
          <a:bodyPr wrap="square"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21" name="Text 19"/>
          <p:cNvSpPr/>
          <p:nvPr/>
        </p:nvSpPr>
        <p:spPr>
          <a:xfrm>
            <a:off x="1554480" y="2944368"/>
            <a:ext cx="4315968" cy="384048"/>
          </a:xfrm>
          <a:prstGeom prst="rect">
            <a:avLst/>
          </a:prstGeom>
          <a:noFill/>
          <a:ln/>
        </p:spPr>
        <p:txBody>
          <a:bodyPr wrap="square" rtlCol="0" anchor="ctr"/>
          <a:lstStyle/>
          <a:p>
            <a:pPr indent="0" marL="0">
              <a:buNone/>
            </a:pPr>
            <a:r>
              <a:rPr lang="en-US" sz="1300" b="1" dirty="0">
                <a:solidFill>
                  <a:srgbClr val="202124"/>
                </a:solidFill>
                <a:latin typeface="Arial" pitchFamily="34" charset="0"/>
                <a:ea typeface="Arial" pitchFamily="34" charset="-122"/>
                <a:cs typeface="Arial" pitchFamily="34" charset="-120"/>
              </a:rPr>
              <a:t>Sequence the extraction</a:t>
            </a:r>
            <a:endParaRPr lang="en-US" sz="1300" dirty="0"/>
          </a:p>
        </p:txBody>
      </p:sp>
      <p:sp>
        <p:nvSpPr>
          <p:cNvPr id="22" name="Text 20"/>
          <p:cNvSpPr/>
          <p:nvPr/>
        </p:nvSpPr>
        <p:spPr>
          <a:xfrm>
            <a:off x="1554480" y="3300984"/>
            <a:ext cx="4315968" cy="502920"/>
          </a:xfrm>
          <a:prstGeom prst="rect">
            <a:avLst/>
          </a:prstGeom>
          <a:noFill/>
          <a:ln/>
        </p:spPr>
        <p:txBody>
          <a:bodyPr wrap="square" rtlCol="0" anchor="t"/>
          <a:lstStyle/>
          <a:p>
            <a:pPr indent="0" marL="0">
              <a:lnSpc>
                <a:spcPct val="105000"/>
              </a:lnSpc>
              <a:buNone/>
            </a:pPr>
            <a:r>
              <a:rPr lang="en-US" sz="1050" dirty="0">
                <a:solidFill>
                  <a:srgbClr val="5F6368"/>
                </a:solidFill>
                <a:latin typeface="Arial" pitchFamily="34" charset="0"/>
                <a:ea typeface="Arial" pitchFamily="34" charset="-122"/>
                <a:cs typeface="Arial" pitchFamily="34" charset="-120"/>
              </a:rPr>
              <a:t>Tests → expert interviews (on exceptions, not happy paths) → AI fills gaps. Output is a gate, not a suggestion.</a:t>
            </a:r>
            <a:endParaRPr lang="en-US" sz="1050" dirty="0"/>
          </a:p>
        </p:txBody>
      </p:sp>
      <p:sp>
        <p:nvSpPr>
          <p:cNvPr id="23" name="Shape 21"/>
          <p:cNvSpPr/>
          <p:nvPr/>
        </p:nvSpPr>
        <p:spPr>
          <a:xfrm>
            <a:off x="6153912" y="2798064"/>
            <a:ext cx="5394960" cy="1078992"/>
          </a:xfrm>
          <a:prstGeom prst="roundRect">
            <a:avLst>
              <a:gd name="adj" fmla="val 6780"/>
            </a:avLst>
          </a:prstGeom>
          <a:solidFill>
            <a:srgbClr val="FFFFFF"/>
          </a:solidFill>
          <a:ln w="12700">
            <a:solidFill>
              <a:srgbClr val="DADCE0"/>
            </a:solidFill>
            <a:prstDash val="solid"/>
          </a:ln>
        </p:spPr>
      </p:sp>
      <p:sp>
        <p:nvSpPr>
          <p:cNvPr id="24" name="Shape 22"/>
          <p:cNvSpPr/>
          <p:nvPr/>
        </p:nvSpPr>
        <p:spPr>
          <a:xfrm>
            <a:off x="6336792" y="3044952"/>
            <a:ext cx="566928" cy="566928"/>
          </a:xfrm>
          <a:prstGeom prst="ellipse">
            <a:avLst/>
          </a:prstGeom>
          <a:solidFill>
            <a:srgbClr val="34A853"/>
          </a:solidFill>
          <a:ln/>
        </p:spPr>
      </p:sp>
      <p:sp>
        <p:nvSpPr>
          <p:cNvPr id="25" name="Text 23"/>
          <p:cNvSpPr/>
          <p:nvPr/>
        </p:nvSpPr>
        <p:spPr>
          <a:xfrm>
            <a:off x="6336792" y="3044952"/>
            <a:ext cx="566928" cy="566928"/>
          </a:xfrm>
          <a:prstGeom prst="rect">
            <a:avLst/>
          </a:prstGeom>
          <a:noFill/>
          <a:ln/>
        </p:spPr>
        <p:txBody>
          <a:bodyPr wrap="square"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a:t>
            </a:r>
            <a:endParaRPr lang="en-US" sz="1900" dirty="0"/>
          </a:p>
        </p:txBody>
      </p:sp>
      <p:sp>
        <p:nvSpPr>
          <p:cNvPr id="26" name="Text 24"/>
          <p:cNvSpPr/>
          <p:nvPr/>
        </p:nvSpPr>
        <p:spPr>
          <a:xfrm>
            <a:off x="7068312" y="2944368"/>
            <a:ext cx="4315968" cy="384048"/>
          </a:xfrm>
          <a:prstGeom prst="rect">
            <a:avLst/>
          </a:prstGeom>
          <a:noFill/>
          <a:ln/>
        </p:spPr>
        <p:txBody>
          <a:bodyPr wrap="square" rtlCol="0" anchor="ctr"/>
          <a:lstStyle/>
          <a:p>
            <a:pPr indent="0" marL="0">
              <a:buNone/>
            </a:pPr>
            <a:r>
              <a:rPr lang="en-US" sz="1300" b="1" dirty="0">
                <a:solidFill>
                  <a:srgbClr val="202124"/>
                </a:solidFill>
                <a:latin typeface="Arial" pitchFamily="34" charset="0"/>
                <a:ea typeface="Arial" pitchFamily="34" charset="-122"/>
                <a:cs typeface="Arial" pitchFamily="34" charset="-120"/>
              </a:rPr>
              <a:t>One PR = one intent</a:t>
            </a:r>
            <a:endParaRPr lang="en-US" sz="1300" dirty="0"/>
          </a:p>
        </p:txBody>
      </p:sp>
      <p:sp>
        <p:nvSpPr>
          <p:cNvPr id="27" name="Text 25"/>
          <p:cNvSpPr/>
          <p:nvPr/>
        </p:nvSpPr>
        <p:spPr>
          <a:xfrm>
            <a:off x="7068312" y="3300984"/>
            <a:ext cx="4315968" cy="502920"/>
          </a:xfrm>
          <a:prstGeom prst="rect">
            <a:avLst/>
          </a:prstGeom>
          <a:noFill/>
          <a:ln/>
        </p:spPr>
        <p:txBody>
          <a:bodyPr wrap="square" rtlCol="0" anchor="t"/>
          <a:lstStyle/>
          <a:p>
            <a:pPr indent="0" marL="0">
              <a:lnSpc>
                <a:spcPct val="105000"/>
              </a:lnSpc>
              <a:buNone/>
            </a:pPr>
            <a:r>
              <a:rPr lang="en-US" sz="1050" dirty="0">
                <a:solidFill>
                  <a:srgbClr val="5F6368"/>
                </a:solidFill>
                <a:latin typeface="Arial" pitchFamily="34" charset="0"/>
                <a:ea typeface="Arial" pitchFamily="34" charset="-122"/>
                <a:cs typeface="Arial" pitchFamily="34" charset="-120"/>
              </a:rPr>
              <a:t>Small, reviewable batches with CI regression gates.</a:t>
            </a:r>
            <a:endParaRPr lang="en-US" sz="1050" dirty="0"/>
          </a:p>
        </p:txBody>
      </p:sp>
      <p:sp>
        <p:nvSpPr>
          <p:cNvPr id="28" name="Shape 26"/>
          <p:cNvSpPr/>
          <p:nvPr/>
        </p:nvSpPr>
        <p:spPr>
          <a:xfrm>
            <a:off x="640080" y="3995928"/>
            <a:ext cx="5394960" cy="1078992"/>
          </a:xfrm>
          <a:prstGeom prst="roundRect">
            <a:avLst>
              <a:gd name="adj" fmla="val 6780"/>
            </a:avLst>
          </a:prstGeom>
          <a:solidFill>
            <a:srgbClr val="FFFFFF"/>
          </a:solidFill>
          <a:ln w="12700">
            <a:solidFill>
              <a:srgbClr val="DADCE0"/>
            </a:solidFill>
            <a:prstDash val="solid"/>
          </a:ln>
        </p:spPr>
      </p:sp>
      <p:sp>
        <p:nvSpPr>
          <p:cNvPr id="29" name="Shape 27"/>
          <p:cNvSpPr/>
          <p:nvPr/>
        </p:nvSpPr>
        <p:spPr>
          <a:xfrm>
            <a:off x="822960" y="4242816"/>
            <a:ext cx="566928" cy="566928"/>
          </a:xfrm>
          <a:prstGeom prst="ellipse">
            <a:avLst/>
          </a:prstGeom>
          <a:solidFill>
            <a:srgbClr val="4285F4"/>
          </a:solidFill>
          <a:ln/>
        </p:spPr>
      </p:sp>
      <p:sp>
        <p:nvSpPr>
          <p:cNvPr id="30" name="Text 28"/>
          <p:cNvSpPr/>
          <p:nvPr/>
        </p:nvSpPr>
        <p:spPr>
          <a:xfrm>
            <a:off x="822960" y="4242816"/>
            <a:ext cx="566928" cy="566928"/>
          </a:xfrm>
          <a:prstGeom prst="rect">
            <a:avLst/>
          </a:prstGeom>
          <a:noFill/>
          <a:ln/>
        </p:spPr>
        <p:txBody>
          <a:bodyPr wrap="square"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5</a:t>
            </a:r>
            <a:endParaRPr lang="en-US" sz="1900" dirty="0"/>
          </a:p>
        </p:txBody>
      </p:sp>
      <p:sp>
        <p:nvSpPr>
          <p:cNvPr id="31" name="Text 29"/>
          <p:cNvSpPr/>
          <p:nvPr/>
        </p:nvSpPr>
        <p:spPr>
          <a:xfrm>
            <a:off x="1554480" y="4142232"/>
            <a:ext cx="4315968" cy="384048"/>
          </a:xfrm>
          <a:prstGeom prst="rect">
            <a:avLst/>
          </a:prstGeom>
          <a:noFill/>
          <a:ln/>
        </p:spPr>
        <p:txBody>
          <a:bodyPr wrap="square" rtlCol="0" anchor="ctr"/>
          <a:lstStyle/>
          <a:p>
            <a:pPr indent="0" marL="0">
              <a:buNone/>
            </a:pPr>
            <a:r>
              <a:rPr lang="en-US" sz="1300" b="1" dirty="0">
                <a:solidFill>
                  <a:srgbClr val="202124"/>
                </a:solidFill>
                <a:latin typeface="Arial" pitchFamily="34" charset="0"/>
                <a:ea typeface="Arial" pitchFamily="34" charset="-122"/>
                <a:cs typeface="Arial" pitchFamily="34" charset="-120"/>
              </a:rPr>
              <a:t>Define “done” before you start</a:t>
            </a:r>
            <a:endParaRPr lang="en-US" sz="1300" dirty="0"/>
          </a:p>
        </p:txBody>
      </p:sp>
      <p:sp>
        <p:nvSpPr>
          <p:cNvPr id="32" name="Text 30"/>
          <p:cNvSpPr/>
          <p:nvPr/>
        </p:nvSpPr>
        <p:spPr>
          <a:xfrm>
            <a:off x="1554480" y="4498848"/>
            <a:ext cx="4315968" cy="502920"/>
          </a:xfrm>
          <a:prstGeom prst="rect">
            <a:avLst/>
          </a:prstGeom>
          <a:noFill/>
          <a:ln/>
        </p:spPr>
        <p:txBody>
          <a:bodyPr wrap="square" rtlCol="0" anchor="t"/>
          <a:lstStyle/>
          <a:p>
            <a:pPr indent="0" marL="0">
              <a:lnSpc>
                <a:spcPct val="105000"/>
              </a:lnSpc>
              <a:buNone/>
            </a:pPr>
            <a:r>
              <a:rPr lang="en-US" sz="1050" dirty="0">
                <a:solidFill>
                  <a:srgbClr val="5F6368"/>
                </a:solidFill>
                <a:latin typeface="Arial" pitchFamily="34" charset="0"/>
                <a:ea typeface="Arial" pitchFamily="34" charset="-122"/>
                <a:cs typeface="Arial" pitchFamily="34" charset="-120"/>
              </a:rPr>
              <a:t>Functional-parity baseline (N critical paths) plus performance benchmarks.</a:t>
            </a:r>
            <a:endParaRPr lang="en-US" sz="1050" dirty="0"/>
          </a:p>
        </p:txBody>
      </p:sp>
      <p:sp>
        <p:nvSpPr>
          <p:cNvPr id="33" name="Shape 31"/>
          <p:cNvSpPr/>
          <p:nvPr/>
        </p:nvSpPr>
        <p:spPr>
          <a:xfrm>
            <a:off x="6153912" y="3995928"/>
            <a:ext cx="5394960" cy="1078992"/>
          </a:xfrm>
          <a:prstGeom prst="roundRect">
            <a:avLst>
              <a:gd name="adj" fmla="val 6780"/>
            </a:avLst>
          </a:prstGeom>
          <a:solidFill>
            <a:srgbClr val="FFFFFF"/>
          </a:solidFill>
          <a:ln w="12700">
            <a:solidFill>
              <a:srgbClr val="DADCE0"/>
            </a:solidFill>
            <a:prstDash val="solid"/>
          </a:ln>
        </p:spPr>
      </p:sp>
      <p:sp>
        <p:nvSpPr>
          <p:cNvPr id="34" name="Shape 32"/>
          <p:cNvSpPr/>
          <p:nvPr/>
        </p:nvSpPr>
        <p:spPr>
          <a:xfrm>
            <a:off x="6336792" y="4242816"/>
            <a:ext cx="566928" cy="566928"/>
          </a:xfrm>
          <a:prstGeom prst="ellipse">
            <a:avLst/>
          </a:prstGeom>
          <a:solidFill>
            <a:srgbClr val="EA4335"/>
          </a:solidFill>
          <a:ln/>
        </p:spPr>
      </p:sp>
      <p:sp>
        <p:nvSpPr>
          <p:cNvPr id="35" name="Text 33"/>
          <p:cNvSpPr/>
          <p:nvPr/>
        </p:nvSpPr>
        <p:spPr>
          <a:xfrm>
            <a:off x="6336792" y="4242816"/>
            <a:ext cx="566928" cy="566928"/>
          </a:xfrm>
          <a:prstGeom prst="rect">
            <a:avLst/>
          </a:prstGeom>
          <a:noFill/>
          <a:ln/>
        </p:spPr>
        <p:txBody>
          <a:bodyPr wrap="square"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6</a:t>
            </a:r>
            <a:endParaRPr lang="en-US" sz="1900" dirty="0"/>
          </a:p>
        </p:txBody>
      </p:sp>
      <p:sp>
        <p:nvSpPr>
          <p:cNvPr id="36" name="Text 34"/>
          <p:cNvSpPr/>
          <p:nvPr/>
        </p:nvSpPr>
        <p:spPr>
          <a:xfrm>
            <a:off x="7068312" y="4142232"/>
            <a:ext cx="4315968" cy="384048"/>
          </a:xfrm>
          <a:prstGeom prst="rect">
            <a:avLst/>
          </a:prstGeom>
          <a:noFill/>
          <a:ln/>
        </p:spPr>
        <p:txBody>
          <a:bodyPr wrap="square" rtlCol="0" anchor="ctr"/>
          <a:lstStyle/>
          <a:p>
            <a:pPr indent="0" marL="0">
              <a:buNone/>
            </a:pPr>
            <a:r>
              <a:rPr lang="en-US" sz="1300" b="1" dirty="0">
                <a:solidFill>
                  <a:srgbClr val="202124"/>
                </a:solidFill>
                <a:latin typeface="Arial" pitchFamily="34" charset="0"/>
                <a:ea typeface="Arial" pitchFamily="34" charset="-122"/>
                <a:cs typeface="Arial" pitchFamily="34" charset="-120"/>
              </a:rPr>
              <a:t>Security as a separate loop</a:t>
            </a:r>
            <a:endParaRPr lang="en-US" sz="1300" dirty="0"/>
          </a:p>
        </p:txBody>
      </p:sp>
      <p:sp>
        <p:nvSpPr>
          <p:cNvPr id="37" name="Text 35"/>
          <p:cNvSpPr/>
          <p:nvPr/>
        </p:nvSpPr>
        <p:spPr>
          <a:xfrm>
            <a:off x="7068312" y="4498848"/>
            <a:ext cx="4315968" cy="502920"/>
          </a:xfrm>
          <a:prstGeom prst="rect">
            <a:avLst/>
          </a:prstGeom>
          <a:noFill/>
          <a:ln/>
        </p:spPr>
        <p:txBody>
          <a:bodyPr wrap="square" rtlCol="0" anchor="t"/>
          <a:lstStyle/>
          <a:p>
            <a:pPr indent="0" marL="0">
              <a:lnSpc>
                <a:spcPct val="105000"/>
              </a:lnSpc>
              <a:buNone/>
            </a:pPr>
            <a:r>
              <a:rPr lang="en-US" sz="1050" dirty="0">
                <a:solidFill>
                  <a:srgbClr val="5F6368"/>
                </a:solidFill>
                <a:latin typeface="Arial" pitchFamily="34" charset="0"/>
                <a:ea typeface="Arial" pitchFamily="34" charset="-122"/>
                <a:cs typeface="Arial" pitchFamily="34" charset="-120"/>
              </a:rPr>
              <a:t>SAST, dependency &amp; secrets scans. “Looks fine” is not a security check.</a:t>
            </a:r>
            <a:endParaRPr lang="en-US" sz="1050" dirty="0"/>
          </a:p>
        </p:txBody>
      </p:sp>
      <p:sp>
        <p:nvSpPr>
          <p:cNvPr id="38" name="Shape 36"/>
          <p:cNvSpPr/>
          <p:nvPr/>
        </p:nvSpPr>
        <p:spPr>
          <a:xfrm>
            <a:off x="640080" y="5193792"/>
            <a:ext cx="5394960" cy="1078992"/>
          </a:xfrm>
          <a:prstGeom prst="roundRect">
            <a:avLst>
              <a:gd name="adj" fmla="val 6780"/>
            </a:avLst>
          </a:prstGeom>
          <a:solidFill>
            <a:srgbClr val="FFFFFF"/>
          </a:solidFill>
          <a:ln w="12700">
            <a:solidFill>
              <a:srgbClr val="DADCE0"/>
            </a:solidFill>
            <a:prstDash val="solid"/>
          </a:ln>
        </p:spPr>
      </p:sp>
      <p:sp>
        <p:nvSpPr>
          <p:cNvPr id="39" name="Shape 37"/>
          <p:cNvSpPr/>
          <p:nvPr/>
        </p:nvSpPr>
        <p:spPr>
          <a:xfrm>
            <a:off x="822960" y="5440680"/>
            <a:ext cx="566928" cy="566928"/>
          </a:xfrm>
          <a:prstGeom prst="ellipse">
            <a:avLst/>
          </a:prstGeom>
          <a:solidFill>
            <a:srgbClr val="FBBC04"/>
          </a:solidFill>
          <a:ln/>
        </p:spPr>
      </p:sp>
      <p:sp>
        <p:nvSpPr>
          <p:cNvPr id="40" name="Text 38"/>
          <p:cNvSpPr/>
          <p:nvPr/>
        </p:nvSpPr>
        <p:spPr>
          <a:xfrm>
            <a:off x="822960" y="5440680"/>
            <a:ext cx="566928" cy="566928"/>
          </a:xfrm>
          <a:prstGeom prst="rect">
            <a:avLst/>
          </a:prstGeom>
          <a:noFill/>
          <a:ln/>
        </p:spPr>
        <p:txBody>
          <a:bodyPr wrap="square"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7</a:t>
            </a:r>
            <a:endParaRPr lang="en-US" sz="1900" dirty="0"/>
          </a:p>
        </p:txBody>
      </p:sp>
      <p:sp>
        <p:nvSpPr>
          <p:cNvPr id="41" name="Text 39"/>
          <p:cNvSpPr/>
          <p:nvPr/>
        </p:nvSpPr>
        <p:spPr>
          <a:xfrm>
            <a:off x="1554480" y="5340096"/>
            <a:ext cx="4315968" cy="384048"/>
          </a:xfrm>
          <a:prstGeom prst="rect">
            <a:avLst/>
          </a:prstGeom>
          <a:noFill/>
          <a:ln/>
        </p:spPr>
        <p:txBody>
          <a:bodyPr wrap="square" rtlCol="0" anchor="ctr"/>
          <a:lstStyle/>
          <a:p>
            <a:pPr indent="0" marL="0">
              <a:buNone/>
            </a:pPr>
            <a:r>
              <a:rPr lang="en-US" sz="1300" b="1" dirty="0">
                <a:solidFill>
                  <a:srgbClr val="202124"/>
                </a:solidFill>
                <a:latin typeface="Arial" pitchFamily="34" charset="0"/>
                <a:ea typeface="Arial" pitchFamily="34" charset="-122"/>
                <a:cs typeface="Arial" pitchFamily="34" charset="-120"/>
              </a:rPr>
              <a:t>Release safely</a:t>
            </a:r>
            <a:endParaRPr lang="en-US" sz="1300" dirty="0"/>
          </a:p>
        </p:txBody>
      </p:sp>
      <p:sp>
        <p:nvSpPr>
          <p:cNvPr id="42" name="Text 40"/>
          <p:cNvSpPr/>
          <p:nvPr/>
        </p:nvSpPr>
        <p:spPr>
          <a:xfrm>
            <a:off x="1554480" y="5696712"/>
            <a:ext cx="4315968" cy="502920"/>
          </a:xfrm>
          <a:prstGeom prst="rect">
            <a:avLst/>
          </a:prstGeom>
          <a:noFill/>
          <a:ln/>
        </p:spPr>
        <p:txBody>
          <a:bodyPr wrap="square" rtlCol="0" anchor="t"/>
          <a:lstStyle/>
          <a:p>
            <a:pPr indent="0" marL="0">
              <a:lnSpc>
                <a:spcPct val="105000"/>
              </a:lnSpc>
              <a:buNone/>
            </a:pPr>
            <a:r>
              <a:rPr lang="en-US" sz="1050" dirty="0">
                <a:solidFill>
                  <a:srgbClr val="5F6368"/>
                </a:solidFill>
                <a:latin typeface="Arial" pitchFamily="34" charset="0"/>
                <a:ea typeface="Arial" pitchFamily="34" charset="-122"/>
                <a:cs typeface="Arial" pitchFamily="34" charset="-120"/>
              </a:rPr>
              <a:t>Canary / shadow rollouts with a real rollback plan — never big-bang cutovers.</a:t>
            </a:r>
            <a:endParaRPr lang="en-US" sz="1050" dirty="0"/>
          </a:p>
        </p:txBody>
      </p:sp>
      <p:sp>
        <p:nvSpPr>
          <p:cNvPr id="43" name="Shape 41"/>
          <p:cNvSpPr/>
          <p:nvPr/>
        </p:nvSpPr>
        <p:spPr>
          <a:xfrm>
            <a:off x="6153912" y="5193792"/>
            <a:ext cx="5394960" cy="1078992"/>
          </a:xfrm>
          <a:prstGeom prst="roundRect">
            <a:avLst>
              <a:gd name="adj" fmla="val 6780"/>
            </a:avLst>
          </a:prstGeom>
          <a:solidFill>
            <a:srgbClr val="FFFFFF"/>
          </a:solidFill>
          <a:ln w="12700">
            <a:solidFill>
              <a:srgbClr val="DADCE0"/>
            </a:solidFill>
            <a:prstDash val="solid"/>
          </a:ln>
        </p:spPr>
      </p:sp>
      <p:sp>
        <p:nvSpPr>
          <p:cNvPr id="44" name="Shape 42"/>
          <p:cNvSpPr/>
          <p:nvPr/>
        </p:nvSpPr>
        <p:spPr>
          <a:xfrm>
            <a:off x="6336792" y="5440680"/>
            <a:ext cx="566928" cy="566928"/>
          </a:xfrm>
          <a:prstGeom prst="ellipse">
            <a:avLst/>
          </a:prstGeom>
          <a:solidFill>
            <a:srgbClr val="34A853"/>
          </a:solidFill>
          <a:ln/>
        </p:spPr>
      </p:sp>
      <p:sp>
        <p:nvSpPr>
          <p:cNvPr id="45" name="Text 43"/>
          <p:cNvSpPr/>
          <p:nvPr/>
        </p:nvSpPr>
        <p:spPr>
          <a:xfrm>
            <a:off x="6336792" y="5440680"/>
            <a:ext cx="566928" cy="566928"/>
          </a:xfrm>
          <a:prstGeom prst="rect">
            <a:avLst/>
          </a:prstGeom>
          <a:noFill/>
          <a:ln/>
        </p:spPr>
        <p:txBody>
          <a:bodyPr wrap="square"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8</a:t>
            </a:r>
            <a:endParaRPr lang="en-US" sz="1900" dirty="0"/>
          </a:p>
        </p:txBody>
      </p:sp>
      <p:sp>
        <p:nvSpPr>
          <p:cNvPr id="46" name="Text 44"/>
          <p:cNvSpPr/>
          <p:nvPr/>
        </p:nvSpPr>
        <p:spPr>
          <a:xfrm>
            <a:off x="7068312" y="5340096"/>
            <a:ext cx="4315968" cy="384048"/>
          </a:xfrm>
          <a:prstGeom prst="rect">
            <a:avLst/>
          </a:prstGeom>
          <a:noFill/>
          <a:ln/>
        </p:spPr>
        <p:txBody>
          <a:bodyPr wrap="square" rtlCol="0" anchor="ctr"/>
          <a:lstStyle/>
          <a:p>
            <a:pPr indent="0" marL="0">
              <a:buNone/>
            </a:pPr>
            <a:r>
              <a:rPr lang="en-US" sz="1300" b="1" dirty="0">
                <a:solidFill>
                  <a:srgbClr val="202124"/>
                </a:solidFill>
                <a:latin typeface="Arial" pitchFamily="34" charset="0"/>
                <a:ea typeface="Arial" pitchFamily="34" charset="-122"/>
                <a:cs typeface="Arial" pitchFamily="34" charset="-120"/>
              </a:rPr>
              <a:t>Humans are the final gate</a:t>
            </a:r>
            <a:endParaRPr lang="en-US" sz="1300" dirty="0"/>
          </a:p>
        </p:txBody>
      </p:sp>
      <p:sp>
        <p:nvSpPr>
          <p:cNvPr id="47" name="Text 45"/>
          <p:cNvSpPr/>
          <p:nvPr/>
        </p:nvSpPr>
        <p:spPr>
          <a:xfrm>
            <a:off x="7068312" y="5696712"/>
            <a:ext cx="4315968" cy="502920"/>
          </a:xfrm>
          <a:prstGeom prst="rect">
            <a:avLst/>
          </a:prstGeom>
          <a:noFill/>
          <a:ln/>
        </p:spPr>
        <p:txBody>
          <a:bodyPr wrap="square" rtlCol="0" anchor="t"/>
          <a:lstStyle/>
          <a:p>
            <a:pPr indent="0" marL="0">
              <a:lnSpc>
                <a:spcPct val="105000"/>
              </a:lnSpc>
              <a:buNone/>
            </a:pPr>
            <a:r>
              <a:rPr lang="en-US" sz="1050" dirty="0">
                <a:solidFill>
                  <a:srgbClr val="5F6368"/>
                </a:solidFill>
                <a:latin typeface="Arial" pitchFamily="34" charset="0"/>
                <a:ea typeface="Arial" pitchFamily="34" charset="-122"/>
                <a:cs typeface="Arial" pitchFamily="34" charset="-120"/>
              </a:rPr>
              <a:t>AI is an accelerant; SMEs validate that extracted rules reflect correct business behavior.</a:t>
            </a:r>
            <a:endParaRPr lang="en-US" sz="1050" dirty="0"/>
          </a:p>
        </p:txBody>
      </p:sp>
      <p:sp>
        <p:nvSpPr>
          <p:cNvPr id="48" name="Shape 46"/>
          <p:cNvSpPr/>
          <p:nvPr/>
        </p:nvSpPr>
        <p:spPr>
          <a:xfrm>
            <a:off x="640080" y="6419088"/>
            <a:ext cx="10908792" cy="0"/>
          </a:xfrm>
          <a:prstGeom prst="line">
            <a:avLst/>
          </a:prstGeom>
          <a:noFill/>
          <a:ln w="12700">
            <a:solidFill>
              <a:srgbClr val="DADCE0"/>
            </a:solidFill>
            <a:prstDash val="solid"/>
          </a:ln>
        </p:spPr>
      </p:sp>
      <p:sp>
        <p:nvSpPr>
          <p:cNvPr id="49" name="Text 47"/>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50" name="Text 48"/>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DO'S &amp; DON'TS</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The short list to hand your team</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Shape 6"/>
          <p:cNvSpPr/>
          <p:nvPr/>
        </p:nvSpPr>
        <p:spPr>
          <a:xfrm>
            <a:off x="640080" y="1600200"/>
            <a:ext cx="5394960" cy="4526280"/>
          </a:xfrm>
          <a:prstGeom prst="roundRect">
            <a:avLst>
              <a:gd name="adj" fmla="val 1616"/>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9" name="Shape 7"/>
          <p:cNvSpPr/>
          <p:nvPr/>
        </p:nvSpPr>
        <p:spPr>
          <a:xfrm>
            <a:off x="640080" y="1600200"/>
            <a:ext cx="5394960" cy="594360"/>
          </a:xfrm>
          <a:prstGeom prst="rect">
            <a:avLst/>
          </a:prstGeom>
          <a:solidFill>
            <a:srgbClr val="E6F4EA"/>
          </a:solidFill>
          <a:ln/>
        </p:spPr>
      </p:sp>
      <p:sp>
        <p:nvSpPr>
          <p:cNvPr id="10" name="Shape 8"/>
          <p:cNvSpPr/>
          <p:nvPr/>
        </p:nvSpPr>
        <p:spPr>
          <a:xfrm>
            <a:off x="841248" y="1700784"/>
            <a:ext cx="393192" cy="393192"/>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947410" y="1806946"/>
            <a:ext cx="180868" cy="180868"/>
          </a:xfrm>
          <a:prstGeom prst="rect">
            <a:avLst/>
          </a:prstGeom>
        </p:spPr>
      </p:pic>
      <p:sp>
        <p:nvSpPr>
          <p:cNvPr id="12" name="Text 9"/>
          <p:cNvSpPr/>
          <p:nvPr/>
        </p:nvSpPr>
        <p:spPr>
          <a:xfrm>
            <a:off x="1325880" y="1600200"/>
            <a:ext cx="4389120" cy="594360"/>
          </a:xfrm>
          <a:prstGeom prst="rect">
            <a:avLst/>
          </a:prstGeom>
          <a:noFill/>
          <a:ln/>
        </p:spPr>
        <p:txBody>
          <a:bodyPr wrap="square" rtlCol="0" anchor="ctr"/>
          <a:lstStyle/>
          <a:p>
            <a:pPr indent="0" marL="0">
              <a:buNone/>
            </a:pPr>
            <a:r>
              <a:rPr lang="en-US" sz="1700" b="1" dirty="0">
                <a:solidFill>
                  <a:srgbClr val="34A853"/>
                </a:solidFill>
                <a:latin typeface="Arial" pitchFamily="34" charset="0"/>
                <a:ea typeface="Arial" pitchFamily="34" charset="-122"/>
                <a:cs typeface="Arial" pitchFamily="34" charset="-120"/>
              </a:rPr>
              <a:t>DO</a:t>
            </a:r>
            <a:endParaRPr lang="en-US" sz="1700" dirty="0"/>
          </a:p>
        </p:txBody>
      </p:sp>
      <p:sp>
        <p:nvSpPr>
          <p:cNvPr id="13" name="Text 10"/>
          <p:cNvSpPr/>
          <p:nvPr/>
        </p:nvSpPr>
        <p:spPr>
          <a:xfrm>
            <a:off x="896112" y="2377440"/>
            <a:ext cx="4937760" cy="3611880"/>
          </a:xfrm>
          <a:prstGeom prst="rect">
            <a:avLst/>
          </a:prstGeom>
          <a:noFill/>
          <a:ln/>
        </p:spPr>
        <p:txBody>
          <a:bodyPr wrap="square" rtlCol="0" anchor="t"/>
          <a:lstStyle/>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Lock in behavior with characterization tests before refactoring.</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Make business logic explicit &amp; inspectable before generating code.</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Give loops real, executable success criteria (tests / builds).</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Set explicit budgets and a human-escalation path per loop.</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Keep the legacy system running — modernize in waves.</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Involve domain experts on exception &amp; edge-case behavior.</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Generate human-readable specs to preserve institutional knowledge.</a:t>
            </a:r>
            <a:endParaRPr lang="en-US" sz="1200" dirty="0"/>
          </a:p>
        </p:txBody>
      </p:sp>
      <p:sp>
        <p:nvSpPr>
          <p:cNvPr id="14" name="Shape 11"/>
          <p:cNvSpPr/>
          <p:nvPr/>
        </p:nvSpPr>
        <p:spPr>
          <a:xfrm>
            <a:off x="6172200" y="1600200"/>
            <a:ext cx="5376672" cy="4526280"/>
          </a:xfrm>
          <a:prstGeom prst="roundRect">
            <a:avLst>
              <a:gd name="adj" fmla="val 1616"/>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5" name="Shape 12"/>
          <p:cNvSpPr/>
          <p:nvPr/>
        </p:nvSpPr>
        <p:spPr>
          <a:xfrm>
            <a:off x="6172200" y="1600200"/>
            <a:ext cx="5376672" cy="594360"/>
          </a:xfrm>
          <a:prstGeom prst="rect">
            <a:avLst/>
          </a:prstGeom>
          <a:solidFill>
            <a:srgbClr val="FCE8E6"/>
          </a:solidFill>
          <a:ln/>
        </p:spPr>
      </p:sp>
      <p:sp>
        <p:nvSpPr>
          <p:cNvPr id="16" name="Shape 13"/>
          <p:cNvSpPr/>
          <p:nvPr/>
        </p:nvSpPr>
        <p:spPr>
          <a:xfrm>
            <a:off x="6373368" y="1700784"/>
            <a:ext cx="393192" cy="393192"/>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6479530" y="1806946"/>
            <a:ext cx="180868" cy="180868"/>
          </a:xfrm>
          <a:prstGeom prst="rect">
            <a:avLst/>
          </a:prstGeom>
        </p:spPr>
      </p:pic>
      <p:sp>
        <p:nvSpPr>
          <p:cNvPr id="18" name="Text 14"/>
          <p:cNvSpPr/>
          <p:nvPr/>
        </p:nvSpPr>
        <p:spPr>
          <a:xfrm>
            <a:off x="6858000" y="1600200"/>
            <a:ext cx="4389120" cy="594360"/>
          </a:xfrm>
          <a:prstGeom prst="rect">
            <a:avLst/>
          </a:prstGeom>
          <a:noFill/>
          <a:ln/>
        </p:spPr>
        <p:txBody>
          <a:bodyPr wrap="square" rtlCol="0" anchor="ctr"/>
          <a:lstStyle/>
          <a:p>
            <a:pPr indent="0" marL="0">
              <a:buNone/>
            </a:pPr>
            <a:r>
              <a:rPr lang="en-US" sz="1700" b="1" dirty="0">
                <a:solidFill>
                  <a:srgbClr val="EA4335"/>
                </a:solidFill>
                <a:latin typeface="Arial" pitchFamily="34" charset="0"/>
                <a:ea typeface="Arial" pitchFamily="34" charset="-122"/>
                <a:cs typeface="Arial" pitchFamily="34" charset="-120"/>
              </a:rPr>
              <a:t>DON'T</a:t>
            </a:r>
            <a:endParaRPr lang="en-US" sz="1700" dirty="0"/>
          </a:p>
        </p:txBody>
      </p:sp>
      <p:sp>
        <p:nvSpPr>
          <p:cNvPr id="19" name="Text 15"/>
          <p:cNvSpPr/>
          <p:nvPr/>
        </p:nvSpPr>
        <p:spPr>
          <a:xfrm>
            <a:off x="6428232" y="2377440"/>
            <a:ext cx="4937760" cy="3611880"/>
          </a:xfrm>
          <a:prstGeom prst="rect">
            <a:avLst/>
          </a:prstGeom>
          <a:noFill/>
          <a:ln/>
        </p:spPr>
        <p:txBody>
          <a:bodyPr wrap="square" rtlCol="0" anchor="t"/>
          <a:lstStyle/>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Treat AI as autopilot — it amplifies bad process too.</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Treat modernization as mere syntax translation.</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Let AI-written tests lock in existing bugs — validate intent.</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Trust the model's self-assessment as verification.</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Fall for “while we're in here” scope creep.</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Depend on a single hero team — bake patterns into tooling.</a:t>
            </a:r>
            <a:endParaRPr lang="en-US" sz="1200" dirty="0"/>
          </a:p>
          <a:p>
            <a:pPr marL="177800" indent="-177800">
              <a:lnSpc>
                <a:spcPct val="105000"/>
              </a:lnSpc>
              <a:spcAft>
                <a:spcPts val="900"/>
              </a:spcAft>
              <a:buSzPct val="100000"/>
              <a:buChar char="•"/>
            </a:pPr>
            <a:r>
              <a:rPr lang="en-US" sz="1200" dirty="0">
                <a:solidFill>
                  <a:srgbClr val="202124"/>
                </a:solidFill>
                <a:latin typeface="Arial" pitchFamily="34" charset="0"/>
                <a:ea typeface="Arial" pitchFamily="34" charset="-122"/>
                <a:cs typeface="Arial" pitchFamily="34" charset="-120"/>
              </a:rPr>
              <a:t>Optimize the wrong axis, or compare against a traditional rewrite.</a:t>
            </a:r>
            <a:endParaRPr lang="en-US" sz="1200" dirty="0"/>
          </a:p>
        </p:txBody>
      </p:sp>
      <p:sp>
        <p:nvSpPr>
          <p:cNvPr id="20" name="Shape 16"/>
          <p:cNvSpPr/>
          <p:nvPr/>
        </p:nvSpPr>
        <p:spPr>
          <a:xfrm>
            <a:off x="640080" y="6419088"/>
            <a:ext cx="10908792" cy="0"/>
          </a:xfrm>
          <a:prstGeom prst="line">
            <a:avLst/>
          </a:prstGeom>
          <a:noFill/>
          <a:ln w="12700">
            <a:solidFill>
              <a:srgbClr val="DADCE0"/>
            </a:solidFill>
            <a:prstDash val="solid"/>
          </a:ln>
        </p:spPr>
      </p:sp>
      <p:sp>
        <p:nvSpPr>
          <p:cNvPr id="21" name="Text 17"/>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22" name="Text 18"/>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INSIDER TIPS</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Tricks that move the needle</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Shape 6"/>
          <p:cNvSpPr/>
          <p:nvPr/>
        </p:nvSpPr>
        <p:spPr>
          <a:xfrm>
            <a:off x="640080" y="1783080"/>
            <a:ext cx="3520440" cy="1874520"/>
          </a:xfrm>
          <a:prstGeom prst="roundRect">
            <a:avLst>
              <a:gd name="adj" fmla="val 3902"/>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9" name="Shape 7"/>
          <p:cNvSpPr/>
          <p:nvPr/>
        </p:nvSpPr>
        <p:spPr>
          <a:xfrm>
            <a:off x="868680" y="2011680"/>
            <a:ext cx="603504" cy="603504"/>
          </a:xfrm>
          <a:prstGeom prst="ellipse">
            <a:avLst/>
          </a:prstGeom>
          <a:solidFill>
            <a:srgbClr val="E8F0FE"/>
          </a:solidFill>
          <a:ln/>
        </p:spPr>
      </p:sp>
      <p:pic>
        <p:nvPicPr>
          <p:cNvPr id="10" name="Image 0" descr="preencoded.png">    </p:cNvPr>
          <p:cNvPicPr>
            <a:picLocks noChangeAspect="1"/>
          </p:cNvPicPr>
          <p:nvPr/>
        </p:nvPicPr>
        <p:blipFill>
          <a:blip r:embed="rId1"/>
          <a:stretch>
            <a:fillRect/>
          </a:stretch>
        </p:blipFill>
        <p:spPr>
          <a:xfrm>
            <a:off x="1031626" y="2174626"/>
            <a:ext cx="277612" cy="277612"/>
          </a:xfrm>
          <a:prstGeom prst="rect">
            <a:avLst/>
          </a:prstGeom>
        </p:spPr>
      </p:pic>
      <p:sp>
        <p:nvSpPr>
          <p:cNvPr id="11" name="Text 8"/>
          <p:cNvSpPr/>
          <p:nvPr/>
        </p:nvSpPr>
        <p:spPr>
          <a:xfrm>
            <a:off x="868680" y="2715768"/>
            <a:ext cx="3063240" cy="384048"/>
          </a:xfrm>
          <a:prstGeom prst="rect">
            <a:avLst/>
          </a:prstGeom>
          <a:noFill/>
          <a:ln/>
        </p:spPr>
        <p:txBody>
          <a:bodyPr wrap="square" rtlCol="0" anchor="t"/>
          <a:lstStyle/>
          <a:p>
            <a:pPr indent="0" marL="0">
              <a:buNone/>
            </a:pPr>
            <a:r>
              <a:rPr lang="en-US" sz="1300" b="1" dirty="0">
                <a:solidFill>
                  <a:srgbClr val="202124"/>
                </a:solidFill>
                <a:latin typeface="Arial" pitchFamily="34" charset="0"/>
                <a:ea typeface="Arial" pitchFamily="34" charset="-122"/>
                <a:cs typeface="Arial" pitchFamily="34" charset="-120"/>
              </a:rPr>
              <a:t>Understand before you modify</a:t>
            </a:r>
            <a:endParaRPr lang="en-US" sz="1300" dirty="0"/>
          </a:p>
        </p:txBody>
      </p:sp>
      <p:sp>
        <p:nvSpPr>
          <p:cNvPr id="12" name="Text 9"/>
          <p:cNvSpPr/>
          <p:nvPr/>
        </p:nvSpPr>
        <p:spPr>
          <a:xfrm>
            <a:off x="868680" y="3081528"/>
            <a:ext cx="3063240" cy="5486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AI's highest-value, lowest-risk win is comprehension — dependency maps, plain-English explanations, risk-ranking. Do this first.</a:t>
            </a:r>
            <a:endParaRPr lang="en-US" sz="1050" dirty="0"/>
          </a:p>
        </p:txBody>
      </p:sp>
      <p:sp>
        <p:nvSpPr>
          <p:cNvPr id="13" name="Shape 10"/>
          <p:cNvSpPr/>
          <p:nvPr/>
        </p:nvSpPr>
        <p:spPr>
          <a:xfrm>
            <a:off x="4325112" y="1783080"/>
            <a:ext cx="3520440" cy="1874520"/>
          </a:xfrm>
          <a:prstGeom prst="roundRect">
            <a:avLst>
              <a:gd name="adj" fmla="val 3902"/>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4" name="Shape 11"/>
          <p:cNvSpPr/>
          <p:nvPr/>
        </p:nvSpPr>
        <p:spPr>
          <a:xfrm>
            <a:off x="4553712" y="2011680"/>
            <a:ext cx="603504" cy="603504"/>
          </a:xfrm>
          <a:prstGeom prst="ellipse">
            <a:avLst/>
          </a:prstGeom>
          <a:solidFill>
            <a:srgbClr val="FCE8E6"/>
          </a:solidFill>
          <a:ln/>
        </p:spPr>
      </p:sp>
      <p:pic>
        <p:nvPicPr>
          <p:cNvPr id="15" name="Image 1" descr="preencoded.png">    </p:cNvPr>
          <p:cNvPicPr>
            <a:picLocks noChangeAspect="1"/>
          </p:cNvPicPr>
          <p:nvPr/>
        </p:nvPicPr>
        <p:blipFill>
          <a:blip r:embed="rId2"/>
          <a:stretch>
            <a:fillRect/>
          </a:stretch>
        </p:blipFill>
        <p:spPr>
          <a:xfrm>
            <a:off x="4716658" y="2174626"/>
            <a:ext cx="277612" cy="277612"/>
          </a:xfrm>
          <a:prstGeom prst="rect">
            <a:avLst/>
          </a:prstGeom>
        </p:spPr>
      </p:pic>
      <p:sp>
        <p:nvSpPr>
          <p:cNvPr id="16" name="Text 12"/>
          <p:cNvSpPr/>
          <p:nvPr/>
        </p:nvSpPr>
        <p:spPr>
          <a:xfrm>
            <a:off x="4553712" y="2715768"/>
            <a:ext cx="3063240" cy="384048"/>
          </a:xfrm>
          <a:prstGeom prst="rect">
            <a:avLst/>
          </a:prstGeom>
          <a:noFill/>
          <a:ln/>
        </p:spPr>
        <p:txBody>
          <a:bodyPr wrap="square" rtlCol="0" anchor="t"/>
          <a:lstStyle/>
          <a:p>
            <a:pPr indent="0" marL="0">
              <a:buNone/>
            </a:pPr>
            <a:r>
              <a:rPr lang="en-US" sz="1300" b="1" dirty="0">
                <a:solidFill>
                  <a:srgbClr val="202124"/>
                </a:solidFill>
                <a:latin typeface="Arial" pitchFamily="34" charset="0"/>
                <a:ea typeface="Arial" pitchFamily="34" charset="-122"/>
                <a:cs typeface="Arial" pitchFamily="34" charset="-120"/>
              </a:rPr>
              <a:t>Feed it a dependency graph</a:t>
            </a:r>
            <a:endParaRPr lang="en-US" sz="1300" dirty="0"/>
          </a:p>
        </p:txBody>
      </p:sp>
      <p:sp>
        <p:nvSpPr>
          <p:cNvPr id="17" name="Text 13"/>
          <p:cNvSpPr/>
          <p:nvPr/>
        </p:nvSpPr>
        <p:spPr>
          <a:xfrm>
            <a:off x="4553712" y="3081528"/>
            <a:ext cx="3063240" cy="5486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Grounding agents in how the system actually connects measurably reduces hallucination on modernization tasks.</a:t>
            </a:r>
            <a:endParaRPr lang="en-US" sz="1050" dirty="0"/>
          </a:p>
        </p:txBody>
      </p:sp>
      <p:sp>
        <p:nvSpPr>
          <p:cNvPr id="18" name="Shape 14"/>
          <p:cNvSpPr/>
          <p:nvPr/>
        </p:nvSpPr>
        <p:spPr>
          <a:xfrm>
            <a:off x="8010144" y="1783080"/>
            <a:ext cx="3520440" cy="1874520"/>
          </a:xfrm>
          <a:prstGeom prst="roundRect">
            <a:avLst>
              <a:gd name="adj" fmla="val 3902"/>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9" name="Shape 15"/>
          <p:cNvSpPr/>
          <p:nvPr/>
        </p:nvSpPr>
        <p:spPr>
          <a:xfrm>
            <a:off x="8238744" y="2011680"/>
            <a:ext cx="603504" cy="603504"/>
          </a:xfrm>
          <a:prstGeom prst="ellipse">
            <a:avLst/>
          </a:prstGeom>
          <a:solidFill>
            <a:srgbClr val="FEF7E0"/>
          </a:solidFill>
          <a:ln/>
        </p:spPr>
      </p:sp>
      <p:pic>
        <p:nvPicPr>
          <p:cNvPr id="20" name="Image 2" descr="preencoded.png">    </p:cNvPr>
          <p:cNvPicPr>
            <a:picLocks noChangeAspect="1"/>
          </p:cNvPicPr>
          <p:nvPr/>
        </p:nvPicPr>
        <p:blipFill>
          <a:blip r:embed="rId3"/>
          <a:stretch>
            <a:fillRect/>
          </a:stretch>
        </p:blipFill>
        <p:spPr>
          <a:xfrm>
            <a:off x="8401690" y="2174626"/>
            <a:ext cx="277612" cy="277612"/>
          </a:xfrm>
          <a:prstGeom prst="rect">
            <a:avLst/>
          </a:prstGeom>
        </p:spPr>
      </p:pic>
      <p:sp>
        <p:nvSpPr>
          <p:cNvPr id="21" name="Text 16"/>
          <p:cNvSpPr/>
          <p:nvPr/>
        </p:nvSpPr>
        <p:spPr>
          <a:xfrm>
            <a:off x="8238744" y="2715768"/>
            <a:ext cx="3063240" cy="384048"/>
          </a:xfrm>
          <a:prstGeom prst="rect">
            <a:avLst/>
          </a:prstGeom>
          <a:noFill/>
          <a:ln/>
        </p:spPr>
        <p:txBody>
          <a:bodyPr wrap="square" rtlCol="0" anchor="t"/>
          <a:lstStyle/>
          <a:p>
            <a:pPr indent="0" marL="0">
              <a:buNone/>
            </a:pPr>
            <a:r>
              <a:rPr lang="en-US" sz="1300" b="1" dirty="0">
                <a:solidFill>
                  <a:srgbClr val="202124"/>
                </a:solidFill>
                <a:latin typeface="Arial" pitchFamily="34" charset="0"/>
                <a:ea typeface="Arial" pitchFamily="34" charset="-122"/>
                <a:cs typeface="Arial" pitchFamily="34" charset="-120"/>
              </a:rPr>
              <a:t>Parallelize with sub-agents</a:t>
            </a:r>
            <a:endParaRPr lang="en-US" sz="1300" dirty="0"/>
          </a:p>
        </p:txBody>
      </p:sp>
      <p:sp>
        <p:nvSpPr>
          <p:cNvPr id="22" name="Text 17"/>
          <p:cNvSpPr/>
          <p:nvPr/>
        </p:nvSpPr>
        <p:spPr>
          <a:xfrm>
            <a:off x="8238744" y="3081528"/>
            <a:ext cx="3063240" cy="5486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One sub-agent per module, each with focused context, when the codebase is too big for a single session.</a:t>
            </a:r>
            <a:endParaRPr lang="en-US" sz="1050" dirty="0"/>
          </a:p>
        </p:txBody>
      </p:sp>
      <p:sp>
        <p:nvSpPr>
          <p:cNvPr id="23" name="Shape 18"/>
          <p:cNvSpPr/>
          <p:nvPr/>
        </p:nvSpPr>
        <p:spPr>
          <a:xfrm>
            <a:off x="640080" y="3840480"/>
            <a:ext cx="3520440" cy="1874520"/>
          </a:xfrm>
          <a:prstGeom prst="roundRect">
            <a:avLst>
              <a:gd name="adj" fmla="val 3902"/>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4" name="Shape 19"/>
          <p:cNvSpPr/>
          <p:nvPr/>
        </p:nvSpPr>
        <p:spPr>
          <a:xfrm>
            <a:off x="868680" y="4069080"/>
            <a:ext cx="603504" cy="603504"/>
          </a:xfrm>
          <a:prstGeom prst="ellipse">
            <a:avLst/>
          </a:prstGeom>
          <a:solidFill>
            <a:srgbClr val="E6F4EA"/>
          </a:solidFill>
          <a:ln/>
        </p:spPr>
      </p:sp>
      <p:pic>
        <p:nvPicPr>
          <p:cNvPr id="25" name="Image 3" descr="preencoded.png">    </p:cNvPr>
          <p:cNvPicPr>
            <a:picLocks noChangeAspect="1"/>
          </p:cNvPicPr>
          <p:nvPr/>
        </p:nvPicPr>
        <p:blipFill>
          <a:blip r:embed="rId4"/>
          <a:stretch>
            <a:fillRect/>
          </a:stretch>
        </p:blipFill>
        <p:spPr>
          <a:xfrm>
            <a:off x="1031626" y="4232026"/>
            <a:ext cx="277612" cy="277612"/>
          </a:xfrm>
          <a:prstGeom prst="rect">
            <a:avLst/>
          </a:prstGeom>
        </p:spPr>
      </p:pic>
      <p:sp>
        <p:nvSpPr>
          <p:cNvPr id="26" name="Text 20"/>
          <p:cNvSpPr/>
          <p:nvPr/>
        </p:nvSpPr>
        <p:spPr>
          <a:xfrm>
            <a:off x="868680" y="4773168"/>
            <a:ext cx="3063240" cy="384048"/>
          </a:xfrm>
          <a:prstGeom prst="rect">
            <a:avLst/>
          </a:prstGeom>
          <a:noFill/>
          <a:ln/>
        </p:spPr>
        <p:txBody>
          <a:bodyPr wrap="square" rtlCol="0" anchor="t"/>
          <a:lstStyle/>
          <a:p>
            <a:pPr indent="0" marL="0">
              <a:buNone/>
            </a:pPr>
            <a:r>
              <a:rPr lang="en-US" sz="1300" b="1" dirty="0">
                <a:solidFill>
                  <a:srgbClr val="202124"/>
                </a:solidFill>
                <a:latin typeface="Arial" pitchFamily="34" charset="0"/>
                <a:ea typeface="Arial" pitchFamily="34" charset="-122"/>
                <a:cs typeface="Arial" pitchFamily="34" charset="-120"/>
              </a:rPr>
              <a:t>Write a failing test first</a:t>
            </a:r>
            <a:endParaRPr lang="en-US" sz="1300" dirty="0"/>
          </a:p>
        </p:txBody>
      </p:sp>
      <p:sp>
        <p:nvSpPr>
          <p:cNvPr id="27" name="Text 21"/>
          <p:cNvSpPr/>
          <p:nvPr/>
        </p:nvSpPr>
        <p:spPr>
          <a:xfrm>
            <a:off x="868680" y="5138928"/>
            <a:ext cx="3063240" cy="5486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Then let the loop satisfy it (TDD-style) — the cleanest possible success signal for self-correction.</a:t>
            </a:r>
            <a:endParaRPr lang="en-US" sz="1050" dirty="0"/>
          </a:p>
        </p:txBody>
      </p:sp>
      <p:sp>
        <p:nvSpPr>
          <p:cNvPr id="28" name="Shape 22"/>
          <p:cNvSpPr/>
          <p:nvPr/>
        </p:nvSpPr>
        <p:spPr>
          <a:xfrm>
            <a:off x="4325112" y="3840480"/>
            <a:ext cx="3520440" cy="1874520"/>
          </a:xfrm>
          <a:prstGeom prst="roundRect">
            <a:avLst>
              <a:gd name="adj" fmla="val 3902"/>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9" name="Shape 23"/>
          <p:cNvSpPr/>
          <p:nvPr/>
        </p:nvSpPr>
        <p:spPr>
          <a:xfrm>
            <a:off x="4553712" y="4069080"/>
            <a:ext cx="603504" cy="603504"/>
          </a:xfrm>
          <a:prstGeom prst="ellipse">
            <a:avLst/>
          </a:prstGeom>
          <a:solidFill>
            <a:srgbClr val="E8F0FE"/>
          </a:solidFill>
          <a:ln/>
        </p:spPr>
      </p:sp>
      <p:pic>
        <p:nvPicPr>
          <p:cNvPr id="30" name="Image 4" descr="preencoded.png">    </p:cNvPr>
          <p:cNvPicPr>
            <a:picLocks noChangeAspect="1"/>
          </p:cNvPicPr>
          <p:nvPr/>
        </p:nvPicPr>
        <p:blipFill>
          <a:blip r:embed="rId5"/>
          <a:stretch>
            <a:fillRect/>
          </a:stretch>
        </p:blipFill>
        <p:spPr>
          <a:xfrm>
            <a:off x="4716658" y="4232026"/>
            <a:ext cx="277612" cy="277612"/>
          </a:xfrm>
          <a:prstGeom prst="rect">
            <a:avLst/>
          </a:prstGeom>
        </p:spPr>
      </p:pic>
      <p:sp>
        <p:nvSpPr>
          <p:cNvPr id="31" name="Text 24"/>
          <p:cNvSpPr/>
          <p:nvPr/>
        </p:nvSpPr>
        <p:spPr>
          <a:xfrm>
            <a:off x="4553712" y="4773168"/>
            <a:ext cx="3063240" cy="384048"/>
          </a:xfrm>
          <a:prstGeom prst="rect">
            <a:avLst/>
          </a:prstGeom>
          <a:noFill/>
          <a:ln/>
        </p:spPr>
        <p:txBody>
          <a:bodyPr wrap="square" rtlCol="0" anchor="t"/>
          <a:lstStyle/>
          <a:p>
            <a:pPr indent="0" marL="0">
              <a:buNone/>
            </a:pPr>
            <a:r>
              <a:rPr lang="en-US" sz="1300" b="1" dirty="0">
                <a:solidFill>
                  <a:srgbClr val="202124"/>
                </a:solidFill>
                <a:latin typeface="Arial" pitchFamily="34" charset="0"/>
                <a:ea typeface="Arial" pitchFamily="34" charset="-122"/>
                <a:cs typeface="Arial" pitchFamily="34" charset="-120"/>
              </a:rPr>
              <a:t>Capture the iteration trail</a:t>
            </a:r>
            <a:endParaRPr lang="en-US" sz="1300" dirty="0"/>
          </a:p>
        </p:txBody>
      </p:sp>
      <p:sp>
        <p:nvSpPr>
          <p:cNvPr id="32" name="Text 25"/>
          <p:cNvSpPr/>
          <p:nvPr/>
        </p:nvSpPr>
        <p:spPr>
          <a:xfrm>
            <a:off x="4553712" y="5138928"/>
            <a:ext cx="3063240" cy="5486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Keep the agent's attempts as a debug / audit log. Transparency is a feature, not exhaust.</a:t>
            </a:r>
            <a:endParaRPr lang="en-US" sz="1050" dirty="0"/>
          </a:p>
        </p:txBody>
      </p:sp>
      <p:sp>
        <p:nvSpPr>
          <p:cNvPr id="33" name="Shape 26"/>
          <p:cNvSpPr/>
          <p:nvPr/>
        </p:nvSpPr>
        <p:spPr>
          <a:xfrm>
            <a:off x="8010144" y="3840480"/>
            <a:ext cx="3520440" cy="1874520"/>
          </a:xfrm>
          <a:prstGeom prst="roundRect">
            <a:avLst>
              <a:gd name="adj" fmla="val 3902"/>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34" name="Shape 27"/>
          <p:cNvSpPr/>
          <p:nvPr/>
        </p:nvSpPr>
        <p:spPr>
          <a:xfrm>
            <a:off x="8238744" y="4069080"/>
            <a:ext cx="603504" cy="603504"/>
          </a:xfrm>
          <a:prstGeom prst="ellipse">
            <a:avLst/>
          </a:prstGeom>
          <a:solidFill>
            <a:srgbClr val="E6F4EA"/>
          </a:solidFill>
          <a:ln/>
        </p:spPr>
      </p:sp>
      <p:pic>
        <p:nvPicPr>
          <p:cNvPr id="35" name="Image 5" descr="preencoded.png">    </p:cNvPr>
          <p:cNvPicPr>
            <a:picLocks noChangeAspect="1"/>
          </p:cNvPicPr>
          <p:nvPr/>
        </p:nvPicPr>
        <p:blipFill>
          <a:blip r:embed="rId6"/>
          <a:stretch>
            <a:fillRect/>
          </a:stretch>
        </p:blipFill>
        <p:spPr>
          <a:xfrm>
            <a:off x="8401690" y="4232026"/>
            <a:ext cx="277612" cy="277612"/>
          </a:xfrm>
          <a:prstGeom prst="rect">
            <a:avLst/>
          </a:prstGeom>
        </p:spPr>
      </p:pic>
      <p:sp>
        <p:nvSpPr>
          <p:cNvPr id="36" name="Text 28"/>
          <p:cNvSpPr/>
          <p:nvPr/>
        </p:nvSpPr>
        <p:spPr>
          <a:xfrm>
            <a:off x="8238744" y="4773168"/>
            <a:ext cx="3063240" cy="384048"/>
          </a:xfrm>
          <a:prstGeom prst="rect">
            <a:avLst/>
          </a:prstGeom>
          <a:noFill/>
          <a:ln/>
        </p:spPr>
        <p:txBody>
          <a:bodyPr wrap="square" rtlCol="0" anchor="t"/>
          <a:lstStyle/>
          <a:p>
            <a:pPr indent="0" marL="0">
              <a:buNone/>
            </a:pPr>
            <a:r>
              <a:rPr lang="en-US" sz="1300" b="1" dirty="0">
                <a:solidFill>
                  <a:srgbClr val="202124"/>
                </a:solidFill>
                <a:latin typeface="Arial" pitchFamily="34" charset="0"/>
                <a:ea typeface="Arial" pitchFamily="34" charset="-122"/>
                <a:cs typeface="Arial" pitchFamily="34" charset="-120"/>
              </a:rPr>
              <a:t>AI first pass, human gate</a:t>
            </a:r>
            <a:endParaRPr lang="en-US" sz="1300" dirty="0"/>
          </a:p>
        </p:txBody>
      </p:sp>
      <p:sp>
        <p:nvSpPr>
          <p:cNvPr id="37" name="Text 29"/>
          <p:cNvSpPr/>
          <p:nvPr/>
        </p:nvSpPr>
        <p:spPr>
          <a:xfrm>
            <a:off x="8238744" y="5138928"/>
            <a:ext cx="3063240" cy="548640"/>
          </a:xfrm>
          <a:prstGeom prst="rect">
            <a:avLst/>
          </a:prstGeom>
          <a:noFill/>
          <a:ln/>
        </p:spPr>
        <p:txBody>
          <a:bodyPr wrap="square" rtlCol="0" anchor="t"/>
          <a:lstStyle/>
          <a:p>
            <a:pPr indent="0" marL="0">
              <a:lnSpc>
                <a:spcPct val="108000"/>
              </a:lnSpc>
              <a:buNone/>
            </a:pPr>
            <a:r>
              <a:rPr lang="en-US" sz="1050" dirty="0">
                <a:solidFill>
                  <a:srgbClr val="5F6368"/>
                </a:solidFill>
                <a:latin typeface="Arial" pitchFamily="34" charset="0"/>
                <a:ea typeface="Arial" pitchFamily="34" charset="-122"/>
                <a:cs typeface="Arial" pitchFamily="34" charset="-120"/>
              </a:rPr>
              <a:t>Use AI analysis as a first pass that humans review — never as a replacement for them.</a:t>
            </a:r>
            <a:endParaRPr lang="en-US" sz="1050" dirty="0"/>
          </a:p>
        </p:txBody>
      </p:sp>
      <p:sp>
        <p:nvSpPr>
          <p:cNvPr id="38" name="Shape 30"/>
          <p:cNvSpPr/>
          <p:nvPr/>
        </p:nvSpPr>
        <p:spPr>
          <a:xfrm>
            <a:off x="640080" y="6419088"/>
            <a:ext cx="10908792" cy="0"/>
          </a:xfrm>
          <a:prstGeom prst="line">
            <a:avLst/>
          </a:prstGeom>
          <a:noFill/>
          <a:ln w="12700">
            <a:solidFill>
              <a:srgbClr val="DADCE0"/>
            </a:solidFill>
            <a:prstDash val="solid"/>
          </a:ln>
        </p:spPr>
      </p:sp>
      <p:sp>
        <p:nvSpPr>
          <p:cNvPr id="39" name="Text 31"/>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40" name="Text 32"/>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INDUSTRY-LEADING PRACTICE</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Context engineering — the 2026 shift</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Text 6"/>
          <p:cNvSpPr/>
          <p:nvPr/>
        </p:nvSpPr>
        <p:spPr>
          <a:xfrm>
            <a:off x="640080" y="1536192"/>
            <a:ext cx="10881360" cy="457200"/>
          </a:xfrm>
          <a:prstGeom prst="rect">
            <a:avLst/>
          </a:prstGeom>
          <a:noFill/>
          <a:ln/>
        </p:spPr>
        <p:txBody>
          <a:bodyPr wrap="square" rtlCol="0" anchor="t"/>
          <a:lstStyle/>
          <a:p>
            <a:pPr indent="0" marL="0">
              <a:lnSpc>
                <a:spcPct val="110000"/>
              </a:lnSpc>
              <a:buNone/>
            </a:pPr>
            <a:r>
              <a:rPr lang="en-US" sz="1400" dirty="0">
                <a:solidFill>
                  <a:srgbClr val="5F6368"/>
                </a:solidFill>
                <a:latin typeface="Arial" pitchFamily="34" charset="0"/>
                <a:ea typeface="Arial" pitchFamily="34" charset="-122"/>
                <a:cs typeface="Arial" pitchFamily="34" charset="-120"/>
              </a:rPr>
              <a:t>The bottleneck moved from the prompt to the context. Teams shipping reliable AI code curate what the agent sees, when it sees it, and how it's structured.</a:t>
            </a:r>
            <a:endParaRPr lang="en-US" sz="1400" dirty="0"/>
          </a:p>
        </p:txBody>
      </p:sp>
      <p:sp>
        <p:nvSpPr>
          <p:cNvPr id="9" name="Shape 7"/>
          <p:cNvSpPr/>
          <p:nvPr/>
        </p:nvSpPr>
        <p:spPr>
          <a:xfrm>
            <a:off x="640080" y="2103120"/>
            <a:ext cx="10881360" cy="1051560"/>
          </a:xfrm>
          <a:prstGeom prst="roundRect">
            <a:avLst>
              <a:gd name="adj" fmla="val 6957"/>
            </a:avLst>
          </a:prstGeom>
          <a:solidFill>
            <a:srgbClr val="202124"/>
          </a:solidFill>
          <a:ln w="12700">
            <a:solidFill>
              <a:srgbClr val="202124"/>
            </a:solidFill>
            <a:prstDash val="solid"/>
          </a:ln>
        </p:spPr>
      </p:sp>
      <p:sp>
        <p:nvSpPr>
          <p:cNvPr id="10" name="Shape 8"/>
          <p:cNvSpPr/>
          <p:nvPr/>
        </p:nvSpPr>
        <p:spPr>
          <a:xfrm>
            <a:off x="914400" y="2350008"/>
            <a:ext cx="566928" cy="566928"/>
          </a:xfrm>
          <a:prstGeom prst="ellipse">
            <a:avLst/>
          </a:prstGeom>
          <a:solidFill>
            <a:srgbClr val="3C3C00"/>
          </a:solidFill>
          <a:ln/>
        </p:spPr>
      </p:sp>
      <p:pic>
        <p:nvPicPr>
          <p:cNvPr id="11" name="Image 0" descr="preencoded.png">    </p:cNvPr>
          <p:cNvPicPr>
            <a:picLocks noChangeAspect="1"/>
          </p:cNvPicPr>
          <p:nvPr/>
        </p:nvPicPr>
        <p:blipFill>
          <a:blip r:embed="rId1"/>
          <a:stretch>
            <a:fillRect/>
          </a:stretch>
        </p:blipFill>
        <p:spPr>
          <a:xfrm>
            <a:off x="1067471" y="2503079"/>
            <a:ext cx="260787" cy="260787"/>
          </a:xfrm>
          <a:prstGeom prst="rect">
            <a:avLst/>
          </a:prstGeom>
        </p:spPr>
      </p:pic>
      <p:sp>
        <p:nvSpPr>
          <p:cNvPr id="12" name="Text 9"/>
          <p:cNvSpPr/>
          <p:nvPr/>
        </p:nvSpPr>
        <p:spPr>
          <a:xfrm>
            <a:off x="1737360" y="2194560"/>
            <a:ext cx="9601200" cy="868680"/>
          </a:xfrm>
          <a:prstGeom prst="rect">
            <a:avLst/>
          </a:prstGeom>
          <a:noFill/>
          <a:ln/>
        </p:spPr>
        <p:txBody>
          <a:bodyPr wrap="square" rtlCol="0" anchor="ctr"/>
          <a:lstStyle/>
          <a:p>
            <a:pPr indent="0" marL="0">
              <a:lnSpc>
                <a:spcPct val="110000"/>
              </a:lnSpc>
              <a:buNone/>
            </a:pPr>
            <a:r>
              <a:rPr lang="en-US" sz="1250" b="1" dirty="0">
                <a:solidFill>
                  <a:srgbClr val="FBBC04"/>
                </a:solidFill>
                <a:latin typeface="Arial" pitchFamily="34" charset="0"/>
                <a:ea typeface="Arial" pitchFamily="34" charset="-122"/>
                <a:cs typeface="Arial" pitchFamily="34" charset="-120"/>
              </a:rPr>
              <a:t>Beware “context rot.”  </a:t>
            </a:r>
            <a:pPr indent="0" marL="0">
              <a:lnSpc>
                <a:spcPct val="110000"/>
              </a:lnSpc>
              <a:buNone/>
            </a:pPr>
            <a:r>
              <a:rPr lang="en-US" sz="1250" dirty="0">
                <a:solidFill>
                  <a:srgbClr val="E8EAED"/>
                </a:solidFill>
                <a:latin typeface="Arial" pitchFamily="34" charset="0"/>
                <a:ea typeface="Arial" pitchFamily="34" charset="-122"/>
                <a:cs typeface="Arial" pitchFamily="34" charset="-120"/>
              </a:rPr>
              <a:t>Every frontier model degrades as its window fills — research found correctness starts dropping after ~32K tokens. Context fragmentation is the #1 reason AI coding productivity stalls on teams.</a:t>
            </a:r>
            <a:endParaRPr lang="en-US" sz="1250" dirty="0"/>
          </a:p>
        </p:txBody>
      </p:sp>
      <p:sp>
        <p:nvSpPr>
          <p:cNvPr id="13" name="Text 10"/>
          <p:cNvSpPr/>
          <p:nvPr/>
        </p:nvSpPr>
        <p:spPr>
          <a:xfrm>
            <a:off x="640080" y="3346704"/>
            <a:ext cx="10881360" cy="274320"/>
          </a:xfrm>
          <a:prstGeom prst="rect">
            <a:avLst/>
          </a:prstGeom>
          <a:noFill/>
          <a:ln/>
        </p:spPr>
        <p:txBody>
          <a:bodyPr wrap="square" rtlCol="0" anchor="ctr"/>
          <a:lstStyle/>
          <a:p>
            <a:pPr indent="0" marL="0">
              <a:buNone/>
            </a:pPr>
            <a:r>
              <a:rPr lang="en-US" sz="1150" b="1" spc="150" kern="0" dirty="0">
                <a:solidFill>
                  <a:srgbClr val="4285F4"/>
                </a:solidFill>
                <a:latin typeface="Arial" pitchFamily="34" charset="0"/>
                <a:ea typeface="Arial" pitchFamily="34" charset="-122"/>
                <a:cs typeface="Arial" pitchFamily="34" charset="-120"/>
              </a:rPr>
              <a:t>FOUR REMEDIES TEAMS ARE STANDARDIZING ON</a:t>
            </a:r>
            <a:endParaRPr lang="en-US" sz="1150" dirty="0"/>
          </a:p>
        </p:txBody>
      </p:sp>
      <p:sp>
        <p:nvSpPr>
          <p:cNvPr id="14" name="Shape 11"/>
          <p:cNvSpPr/>
          <p:nvPr/>
        </p:nvSpPr>
        <p:spPr>
          <a:xfrm>
            <a:off x="640080" y="3675888"/>
            <a:ext cx="2660904" cy="2331720"/>
          </a:xfrm>
          <a:prstGeom prst="roundRect">
            <a:avLst>
              <a:gd name="adj" fmla="val 3137"/>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5" name="Shape 12"/>
          <p:cNvSpPr/>
          <p:nvPr/>
        </p:nvSpPr>
        <p:spPr>
          <a:xfrm>
            <a:off x="640080" y="3675888"/>
            <a:ext cx="2660904" cy="73152"/>
          </a:xfrm>
          <a:prstGeom prst="rect">
            <a:avLst/>
          </a:prstGeom>
          <a:solidFill>
            <a:srgbClr val="4285F4"/>
          </a:solidFill>
          <a:ln/>
        </p:spPr>
      </p:sp>
      <p:sp>
        <p:nvSpPr>
          <p:cNvPr id="16" name="Shape 13"/>
          <p:cNvSpPr/>
          <p:nvPr/>
        </p:nvSpPr>
        <p:spPr>
          <a:xfrm>
            <a:off x="868680" y="3931920"/>
            <a:ext cx="566928" cy="566928"/>
          </a:xfrm>
          <a:prstGeom prst="ellipse">
            <a:avLst/>
          </a:prstGeom>
          <a:solidFill>
            <a:srgbClr val="E8F0FE"/>
          </a:solidFill>
          <a:ln/>
        </p:spPr>
      </p:sp>
      <p:pic>
        <p:nvPicPr>
          <p:cNvPr id="17" name="Image 1" descr="preencoded.png">    </p:cNvPr>
          <p:cNvPicPr>
            <a:picLocks noChangeAspect="1"/>
          </p:cNvPicPr>
          <p:nvPr/>
        </p:nvPicPr>
        <p:blipFill>
          <a:blip r:embed="rId2"/>
          <a:stretch>
            <a:fillRect/>
          </a:stretch>
        </p:blipFill>
        <p:spPr>
          <a:xfrm>
            <a:off x="1021751" y="4084991"/>
            <a:ext cx="260787" cy="260787"/>
          </a:xfrm>
          <a:prstGeom prst="rect">
            <a:avLst/>
          </a:prstGeom>
        </p:spPr>
      </p:pic>
      <p:sp>
        <p:nvSpPr>
          <p:cNvPr id="18" name="Text 14"/>
          <p:cNvSpPr/>
          <p:nvPr/>
        </p:nvSpPr>
        <p:spPr>
          <a:xfrm>
            <a:off x="841248" y="4626864"/>
            <a:ext cx="2258568" cy="365760"/>
          </a:xfrm>
          <a:prstGeom prst="rect">
            <a:avLst/>
          </a:prstGeom>
          <a:noFill/>
          <a:ln/>
        </p:spPr>
        <p:txBody>
          <a:bodyPr wrap="square" rtlCol="0" anchor="t"/>
          <a:lstStyle/>
          <a:p>
            <a:pPr indent="0" marL="0">
              <a:buNone/>
            </a:pPr>
            <a:r>
              <a:rPr lang="en-US" sz="1250" b="1" dirty="0">
                <a:solidFill>
                  <a:srgbClr val="202124"/>
                </a:solidFill>
                <a:latin typeface="Arial" pitchFamily="34" charset="0"/>
                <a:ea typeface="Arial" pitchFamily="34" charset="-122"/>
                <a:cs typeface="Arial" pitchFamily="34" charset="-120"/>
              </a:rPr>
              <a:t>AGENTS.md / CLAUDE.md</a:t>
            </a:r>
            <a:endParaRPr lang="en-US" sz="1250" dirty="0"/>
          </a:p>
        </p:txBody>
      </p:sp>
      <p:sp>
        <p:nvSpPr>
          <p:cNvPr id="19" name="Text 15"/>
          <p:cNvSpPr/>
          <p:nvPr/>
        </p:nvSpPr>
        <p:spPr>
          <a:xfrm>
            <a:off x="841248" y="4992624"/>
            <a:ext cx="2258568" cy="960120"/>
          </a:xfrm>
          <a:prstGeom prst="rect">
            <a:avLst/>
          </a:prstGeom>
          <a:noFill/>
          <a:ln/>
        </p:spPr>
        <p:txBody>
          <a:bodyPr wrap="square" rtlCol="0" anchor="t"/>
          <a:lstStyle/>
          <a:p>
            <a:pPr indent="0" marL="0">
              <a:lnSpc>
                <a:spcPct val="106000"/>
              </a:lnSpc>
              <a:buNone/>
            </a:pPr>
            <a:r>
              <a:rPr lang="en-US" sz="1000" dirty="0">
                <a:solidFill>
                  <a:srgbClr val="5F6368"/>
                </a:solidFill>
                <a:latin typeface="Arial" pitchFamily="34" charset="0"/>
                <a:ea typeface="Arial" pitchFamily="34" charset="-122"/>
                <a:cs typeface="Arial" pitchFamily="34" charset="-120"/>
              </a:rPr>
              <a:t>A persistent project-context file: conventions, architecture, anti-patterns. The de-facto 2026 standard — read natively by Claude Code, Codex, Cursor &amp; Copilot.</a:t>
            </a:r>
            <a:endParaRPr lang="en-US" sz="1000" dirty="0"/>
          </a:p>
        </p:txBody>
      </p:sp>
      <p:sp>
        <p:nvSpPr>
          <p:cNvPr id="20" name="Shape 16"/>
          <p:cNvSpPr/>
          <p:nvPr/>
        </p:nvSpPr>
        <p:spPr>
          <a:xfrm>
            <a:off x="3410712" y="3675888"/>
            <a:ext cx="2660904" cy="2331720"/>
          </a:xfrm>
          <a:prstGeom prst="roundRect">
            <a:avLst>
              <a:gd name="adj" fmla="val 3137"/>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1" name="Shape 17"/>
          <p:cNvSpPr/>
          <p:nvPr/>
        </p:nvSpPr>
        <p:spPr>
          <a:xfrm>
            <a:off x="3410712" y="3675888"/>
            <a:ext cx="2660904" cy="73152"/>
          </a:xfrm>
          <a:prstGeom prst="rect">
            <a:avLst/>
          </a:prstGeom>
          <a:solidFill>
            <a:srgbClr val="34A853"/>
          </a:solidFill>
          <a:ln/>
        </p:spPr>
      </p:sp>
      <p:sp>
        <p:nvSpPr>
          <p:cNvPr id="22" name="Shape 18"/>
          <p:cNvSpPr/>
          <p:nvPr/>
        </p:nvSpPr>
        <p:spPr>
          <a:xfrm>
            <a:off x="3639312" y="3931920"/>
            <a:ext cx="566928" cy="566928"/>
          </a:xfrm>
          <a:prstGeom prst="ellipse">
            <a:avLst/>
          </a:prstGeom>
          <a:solidFill>
            <a:srgbClr val="E6F4EA"/>
          </a:solidFill>
          <a:ln/>
        </p:spPr>
      </p:sp>
      <p:pic>
        <p:nvPicPr>
          <p:cNvPr id="23" name="Image 2" descr="preencoded.png">    </p:cNvPr>
          <p:cNvPicPr>
            <a:picLocks noChangeAspect="1"/>
          </p:cNvPicPr>
          <p:nvPr/>
        </p:nvPicPr>
        <p:blipFill>
          <a:blip r:embed="rId3"/>
          <a:stretch>
            <a:fillRect/>
          </a:stretch>
        </p:blipFill>
        <p:spPr>
          <a:xfrm>
            <a:off x="3792383" y="4084991"/>
            <a:ext cx="260787" cy="260787"/>
          </a:xfrm>
          <a:prstGeom prst="rect">
            <a:avLst/>
          </a:prstGeom>
        </p:spPr>
      </p:pic>
      <p:sp>
        <p:nvSpPr>
          <p:cNvPr id="24" name="Text 19"/>
          <p:cNvSpPr/>
          <p:nvPr/>
        </p:nvSpPr>
        <p:spPr>
          <a:xfrm>
            <a:off x="3611880" y="4626864"/>
            <a:ext cx="2258568" cy="365760"/>
          </a:xfrm>
          <a:prstGeom prst="rect">
            <a:avLst/>
          </a:prstGeom>
          <a:noFill/>
          <a:ln/>
        </p:spPr>
        <p:txBody>
          <a:bodyPr wrap="square" rtlCol="0" anchor="t"/>
          <a:lstStyle/>
          <a:p>
            <a:pPr indent="0" marL="0">
              <a:buNone/>
            </a:pPr>
            <a:r>
              <a:rPr lang="en-US" sz="1250" b="1" dirty="0">
                <a:solidFill>
                  <a:srgbClr val="202124"/>
                </a:solidFill>
                <a:latin typeface="Arial" pitchFamily="34" charset="0"/>
                <a:ea typeface="Arial" pitchFamily="34" charset="-122"/>
                <a:cs typeface="Arial" pitchFamily="34" charset="-120"/>
              </a:rPr>
              <a:t>Sub-agents</a:t>
            </a:r>
            <a:endParaRPr lang="en-US" sz="1250" dirty="0"/>
          </a:p>
        </p:txBody>
      </p:sp>
      <p:sp>
        <p:nvSpPr>
          <p:cNvPr id="25" name="Text 20"/>
          <p:cNvSpPr/>
          <p:nvPr/>
        </p:nvSpPr>
        <p:spPr>
          <a:xfrm>
            <a:off x="3611880" y="4992624"/>
            <a:ext cx="2258568" cy="960120"/>
          </a:xfrm>
          <a:prstGeom prst="rect">
            <a:avLst/>
          </a:prstGeom>
          <a:noFill/>
          <a:ln/>
        </p:spPr>
        <p:txBody>
          <a:bodyPr wrap="square" rtlCol="0" anchor="t"/>
          <a:lstStyle/>
          <a:p>
            <a:pPr indent="0" marL="0">
              <a:lnSpc>
                <a:spcPct val="106000"/>
              </a:lnSpc>
              <a:buNone/>
            </a:pPr>
            <a:r>
              <a:rPr lang="en-US" sz="1000" dirty="0">
                <a:solidFill>
                  <a:srgbClr val="5F6368"/>
                </a:solidFill>
                <a:latin typeface="Arial" pitchFamily="34" charset="0"/>
                <a:ea typeface="Arial" pitchFamily="34" charset="-122"/>
                <a:cs typeface="Arial" pitchFamily="34" charset="-120"/>
              </a:rPr>
              <a:t>“Multiplication of context windows” — isolate exploration from editing; the parent gets a distilled summary, not the noisy trail.</a:t>
            </a:r>
            <a:endParaRPr lang="en-US" sz="1000" dirty="0"/>
          </a:p>
        </p:txBody>
      </p:sp>
      <p:sp>
        <p:nvSpPr>
          <p:cNvPr id="26" name="Shape 21"/>
          <p:cNvSpPr/>
          <p:nvPr/>
        </p:nvSpPr>
        <p:spPr>
          <a:xfrm>
            <a:off x="6181344" y="3675888"/>
            <a:ext cx="2660904" cy="2331720"/>
          </a:xfrm>
          <a:prstGeom prst="roundRect">
            <a:avLst>
              <a:gd name="adj" fmla="val 3137"/>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7" name="Shape 22"/>
          <p:cNvSpPr/>
          <p:nvPr/>
        </p:nvSpPr>
        <p:spPr>
          <a:xfrm>
            <a:off x="6181344" y="3675888"/>
            <a:ext cx="2660904" cy="73152"/>
          </a:xfrm>
          <a:prstGeom prst="rect">
            <a:avLst/>
          </a:prstGeom>
          <a:solidFill>
            <a:srgbClr val="EA4335"/>
          </a:solidFill>
          <a:ln/>
        </p:spPr>
      </p:sp>
      <p:sp>
        <p:nvSpPr>
          <p:cNvPr id="28" name="Shape 23"/>
          <p:cNvSpPr/>
          <p:nvPr/>
        </p:nvSpPr>
        <p:spPr>
          <a:xfrm>
            <a:off x="6409944" y="3931920"/>
            <a:ext cx="566928" cy="566928"/>
          </a:xfrm>
          <a:prstGeom prst="ellipse">
            <a:avLst/>
          </a:prstGeom>
          <a:solidFill>
            <a:srgbClr val="FCE8E6"/>
          </a:solidFill>
          <a:ln/>
        </p:spPr>
      </p:sp>
      <p:pic>
        <p:nvPicPr>
          <p:cNvPr id="29" name="Image 3" descr="preencoded.png">    </p:cNvPr>
          <p:cNvPicPr>
            <a:picLocks noChangeAspect="1"/>
          </p:cNvPicPr>
          <p:nvPr/>
        </p:nvPicPr>
        <p:blipFill>
          <a:blip r:embed="rId4"/>
          <a:stretch>
            <a:fillRect/>
          </a:stretch>
        </p:blipFill>
        <p:spPr>
          <a:xfrm>
            <a:off x="6563015" y="4084991"/>
            <a:ext cx="260787" cy="260787"/>
          </a:xfrm>
          <a:prstGeom prst="rect">
            <a:avLst/>
          </a:prstGeom>
        </p:spPr>
      </p:pic>
      <p:sp>
        <p:nvSpPr>
          <p:cNvPr id="30" name="Text 24"/>
          <p:cNvSpPr/>
          <p:nvPr/>
        </p:nvSpPr>
        <p:spPr>
          <a:xfrm>
            <a:off x="6382512" y="4626864"/>
            <a:ext cx="2258568" cy="365760"/>
          </a:xfrm>
          <a:prstGeom prst="rect">
            <a:avLst/>
          </a:prstGeom>
          <a:noFill/>
          <a:ln/>
        </p:spPr>
        <p:txBody>
          <a:bodyPr wrap="square" rtlCol="0" anchor="t"/>
          <a:lstStyle/>
          <a:p>
            <a:pPr indent="0" marL="0">
              <a:buNone/>
            </a:pPr>
            <a:r>
              <a:rPr lang="en-US" sz="1250" b="1" dirty="0">
                <a:solidFill>
                  <a:srgbClr val="202124"/>
                </a:solidFill>
                <a:latin typeface="Arial" pitchFamily="34" charset="0"/>
                <a:ea typeface="Arial" pitchFamily="34" charset="-122"/>
                <a:cs typeface="Arial" pitchFamily="34" charset="-120"/>
              </a:rPr>
              <a:t>Compact proactively</a:t>
            </a:r>
            <a:endParaRPr lang="en-US" sz="1250" dirty="0"/>
          </a:p>
        </p:txBody>
      </p:sp>
      <p:sp>
        <p:nvSpPr>
          <p:cNvPr id="31" name="Text 25"/>
          <p:cNvSpPr/>
          <p:nvPr/>
        </p:nvSpPr>
        <p:spPr>
          <a:xfrm>
            <a:off x="6382512" y="4992624"/>
            <a:ext cx="2258568" cy="960120"/>
          </a:xfrm>
          <a:prstGeom prst="rect">
            <a:avLst/>
          </a:prstGeom>
          <a:noFill/>
          <a:ln/>
        </p:spPr>
        <p:txBody>
          <a:bodyPr wrap="square" rtlCol="0" anchor="t"/>
          <a:lstStyle/>
          <a:p>
            <a:pPr indent="0" marL="0">
              <a:lnSpc>
                <a:spcPct val="106000"/>
              </a:lnSpc>
              <a:buNone/>
            </a:pPr>
            <a:r>
              <a:rPr lang="en-US" sz="1000" dirty="0">
                <a:solidFill>
                  <a:srgbClr val="5F6368"/>
                </a:solidFill>
                <a:latin typeface="Arial" pitchFamily="34" charset="0"/>
                <a:ea typeface="Arial" pitchFamily="34" charset="-122"/>
                <a:cs typeface="Arial" pitchFamily="34" charset="-120"/>
              </a:rPr>
              <a:t>Budget by % fill, not token count. Compact past ~60% — before degradation shows, not after.</a:t>
            </a:r>
            <a:endParaRPr lang="en-US" sz="1000" dirty="0"/>
          </a:p>
        </p:txBody>
      </p:sp>
      <p:sp>
        <p:nvSpPr>
          <p:cNvPr id="32" name="Shape 26"/>
          <p:cNvSpPr/>
          <p:nvPr/>
        </p:nvSpPr>
        <p:spPr>
          <a:xfrm>
            <a:off x="8951976" y="3675888"/>
            <a:ext cx="2660904" cy="2331720"/>
          </a:xfrm>
          <a:prstGeom prst="roundRect">
            <a:avLst>
              <a:gd name="adj" fmla="val 3137"/>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33" name="Shape 27"/>
          <p:cNvSpPr/>
          <p:nvPr/>
        </p:nvSpPr>
        <p:spPr>
          <a:xfrm>
            <a:off x="8951976" y="3675888"/>
            <a:ext cx="2660904" cy="73152"/>
          </a:xfrm>
          <a:prstGeom prst="rect">
            <a:avLst/>
          </a:prstGeom>
          <a:solidFill>
            <a:srgbClr val="8A6D00"/>
          </a:solidFill>
          <a:ln/>
        </p:spPr>
      </p:sp>
      <p:sp>
        <p:nvSpPr>
          <p:cNvPr id="34" name="Shape 28"/>
          <p:cNvSpPr/>
          <p:nvPr/>
        </p:nvSpPr>
        <p:spPr>
          <a:xfrm>
            <a:off x="9180576" y="3931920"/>
            <a:ext cx="566928" cy="566928"/>
          </a:xfrm>
          <a:prstGeom prst="ellipse">
            <a:avLst/>
          </a:prstGeom>
          <a:solidFill>
            <a:srgbClr val="FEF7E0"/>
          </a:solidFill>
          <a:ln/>
        </p:spPr>
      </p:sp>
      <p:pic>
        <p:nvPicPr>
          <p:cNvPr id="35" name="Image 4" descr="preencoded.png">    </p:cNvPr>
          <p:cNvPicPr>
            <a:picLocks noChangeAspect="1"/>
          </p:cNvPicPr>
          <p:nvPr/>
        </p:nvPicPr>
        <p:blipFill>
          <a:blip r:embed="rId5"/>
          <a:stretch>
            <a:fillRect/>
          </a:stretch>
        </p:blipFill>
        <p:spPr>
          <a:xfrm>
            <a:off x="9333647" y="4084991"/>
            <a:ext cx="260787" cy="260787"/>
          </a:xfrm>
          <a:prstGeom prst="rect">
            <a:avLst/>
          </a:prstGeom>
        </p:spPr>
      </p:pic>
      <p:sp>
        <p:nvSpPr>
          <p:cNvPr id="36" name="Text 29"/>
          <p:cNvSpPr/>
          <p:nvPr/>
        </p:nvSpPr>
        <p:spPr>
          <a:xfrm>
            <a:off x="9153144" y="4626864"/>
            <a:ext cx="2258568" cy="365760"/>
          </a:xfrm>
          <a:prstGeom prst="rect">
            <a:avLst/>
          </a:prstGeom>
          <a:noFill/>
          <a:ln/>
        </p:spPr>
        <p:txBody>
          <a:bodyPr wrap="square" rtlCol="0" anchor="t"/>
          <a:lstStyle/>
          <a:p>
            <a:pPr indent="0" marL="0">
              <a:buNone/>
            </a:pPr>
            <a:r>
              <a:rPr lang="en-US" sz="1250" b="1" dirty="0">
                <a:solidFill>
                  <a:srgbClr val="202124"/>
                </a:solidFill>
                <a:latin typeface="Arial" pitchFamily="34" charset="0"/>
                <a:ea typeface="Arial" pitchFamily="34" charset="-122"/>
                <a:cs typeface="Arial" pitchFamily="34" charset="-120"/>
              </a:rPr>
              <a:t>File-based memory</a:t>
            </a:r>
            <a:endParaRPr lang="en-US" sz="1250" dirty="0"/>
          </a:p>
        </p:txBody>
      </p:sp>
      <p:sp>
        <p:nvSpPr>
          <p:cNvPr id="37" name="Text 30"/>
          <p:cNvSpPr/>
          <p:nvPr/>
        </p:nvSpPr>
        <p:spPr>
          <a:xfrm>
            <a:off x="9153144" y="4992624"/>
            <a:ext cx="2258568" cy="960120"/>
          </a:xfrm>
          <a:prstGeom prst="rect">
            <a:avLst/>
          </a:prstGeom>
          <a:noFill/>
          <a:ln/>
        </p:spPr>
        <p:txBody>
          <a:bodyPr wrap="square" rtlCol="0" anchor="t"/>
          <a:lstStyle/>
          <a:p>
            <a:pPr indent="0" marL="0">
              <a:lnSpc>
                <a:spcPct val="106000"/>
              </a:lnSpc>
              <a:buNone/>
            </a:pPr>
            <a:r>
              <a:rPr lang="en-US" sz="1000" dirty="0">
                <a:solidFill>
                  <a:srgbClr val="5F6368"/>
                </a:solidFill>
                <a:latin typeface="Arial" pitchFamily="34" charset="0"/>
                <a:ea typeface="Arial" pitchFamily="34" charset="-122"/>
                <a:cs typeface="Arial" pitchFamily="34" charset="-120"/>
              </a:rPr>
              <a:t>Persist knowledge to files so session boundaries are cheap and context can't accumulate.</a:t>
            </a:r>
            <a:endParaRPr lang="en-US" sz="1000" dirty="0"/>
          </a:p>
        </p:txBody>
      </p:sp>
      <p:sp>
        <p:nvSpPr>
          <p:cNvPr id="38" name="Shape 31"/>
          <p:cNvSpPr/>
          <p:nvPr/>
        </p:nvSpPr>
        <p:spPr>
          <a:xfrm>
            <a:off x="640080" y="6419088"/>
            <a:ext cx="10908792" cy="0"/>
          </a:xfrm>
          <a:prstGeom prst="line">
            <a:avLst/>
          </a:prstGeom>
          <a:noFill/>
          <a:ln w="12700">
            <a:solidFill>
              <a:srgbClr val="DADCE0"/>
            </a:solidFill>
            <a:prstDash val="solid"/>
          </a:ln>
        </p:spPr>
      </p:sp>
      <p:sp>
        <p:nvSpPr>
          <p:cNvPr id="39" name="Text 32"/>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40" name="Text 33"/>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INDUSTRY-LEADING PRACTICE</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The modern AI-coding playbook</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Shape 6"/>
          <p:cNvSpPr/>
          <p:nvPr/>
        </p:nvSpPr>
        <p:spPr>
          <a:xfrm>
            <a:off x="640080" y="1627632"/>
            <a:ext cx="3520440" cy="1572768"/>
          </a:xfrm>
          <a:prstGeom prst="roundRect">
            <a:avLst>
              <a:gd name="adj" fmla="val 4651"/>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9" name="Shape 7"/>
          <p:cNvSpPr/>
          <p:nvPr/>
        </p:nvSpPr>
        <p:spPr>
          <a:xfrm>
            <a:off x="841248" y="1828800"/>
            <a:ext cx="493776" cy="493776"/>
          </a:xfrm>
          <a:prstGeom prst="ellipse">
            <a:avLst/>
          </a:prstGeom>
          <a:solidFill>
            <a:srgbClr val="E8F0FE"/>
          </a:solidFill>
          <a:ln/>
        </p:spPr>
      </p:sp>
      <p:pic>
        <p:nvPicPr>
          <p:cNvPr id="10" name="Image 0" descr="preencoded.png">    </p:cNvPr>
          <p:cNvPicPr>
            <a:picLocks noChangeAspect="1"/>
          </p:cNvPicPr>
          <p:nvPr/>
        </p:nvPicPr>
        <p:blipFill>
          <a:blip r:embed="rId1"/>
          <a:stretch>
            <a:fillRect/>
          </a:stretch>
        </p:blipFill>
        <p:spPr>
          <a:xfrm>
            <a:off x="974568" y="1962120"/>
            <a:ext cx="227137" cy="227137"/>
          </a:xfrm>
          <a:prstGeom prst="rect">
            <a:avLst/>
          </a:prstGeom>
        </p:spPr>
      </p:pic>
      <p:sp>
        <p:nvSpPr>
          <p:cNvPr id="11" name="Text 8"/>
          <p:cNvSpPr/>
          <p:nvPr/>
        </p:nvSpPr>
        <p:spPr>
          <a:xfrm>
            <a:off x="1426464" y="1810512"/>
            <a:ext cx="2560320" cy="457200"/>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Context engineering</a:t>
            </a:r>
            <a:endParaRPr lang="en-US" sz="1250" dirty="0"/>
          </a:p>
        </p:txBody>
      </p:sp>
      <p:sp>
        <p:nvSpPr>
          <p:cNvPr id="12" name="Text 9"/>
          <p:cNvSpPr/>
          <p:nvPr/>
        </p:nvSpPr>
        <p:spPr>
          <a:xfrm>
            <a:off x="841248" y="2377440"/>
            <a:ext cx="3118104" cy="749808"/>
          </a:xfrm>
          <a:prstGeom prst="rect">
            <a:avLst/>
          </a:prstGeom>
          <a:noFill/>
          <a:ln/>
        </p:spPr>
        <p:txBody>
          <a:bodyPr wrap="square" rtlCol="0" anchor="t"/>
          <a:lstStyle/>
          <a:p>
            <a:pPr indent="0" marL="0">
              <a:lnSpc>
                <a:spcPct val="106000"/>
              </a:lnSpc>
              <a:buNone/>
            </a:pPr>
            <a:r>
              <a:rPr lang="en-US" sz="1050" dirty="0">
                <a:solidFill>
                  <a:srgbClr val="5F6368"/>
                </a:solidFill>
                <a:latin typeface="Arial" pitchFamily="34" charset="0"/>
                <a:ea typeface="Arial" pitchFamily="34" charset="-122"/>
                <a:cs typeface="Arial" pitchFamily="34" charset="-120"/>
              </a:rPr>
              <a:t>Curate the smallest high-signal token set the agent sees. Beat context rot before it starts.</a:t>
            </a:r>
            <a:endParaRPr lang="en-US" sz="1050" dirty="0"/>
          </a:p>
        </p:txBody>
      </p:sp>
      <p:sp>
        <p:nvSpPr>
          <p:cNvPr id="13" name="Shape 10"/>
          <p:cNvSpPr/>
          <p:nvPr/>
        </p:nvSpPr>
        <p:spPr>
          <a:xfrm>
            <a:off x="4325112" y="1627632"/>
            <a:ext cx="3520440" cy="1572768"/>
          </a:xfrm>
          <a:prstGeom prst="roundRect">
            <a:avLst>
              <a:gd name="adj" fmla="val 4651"/>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4" name="Shape 11"/>
          <p:cNvSpPr/>
          <p:nvPr/>
        </p:nvSpPr>
        <p:spPr>
          <a:xfrm>
            <a:off x="4526280" y="1828800"/>
            <a:ext cx="493776" cy="493776"/>
          </a:xfrm>
          <a:prstGeom prst="ellipse">
            <a:avLst/>
          </a:prstGeom>
          <a:solidFill>
            <a:srgbClr val="E6F4EA"/>
          </a:solidFill>
          <a:ln/>
        </p:spPr>
      </p:sp>
      <p:pic>
        <p:nvPicPr>
          <p:cNvPr id="15" name="Image 1" descr="preencoded.png">    </p:cNvPr>
          <p:cNvPicPr>
            <a:picLocks noChangeAspect="1"/>
          </p:cNvPicPr>
          <p:nvPr/>
        </p:nvPicPr>
        <p:blipFill>
          <a:blip r:embed="rId2"/>
          <a:stretch>
            <a:fillRect/>
          </a:stretch>
        </p:blipFill>
        <p:spPr>
          <a:xfrm>
            <a:off x="4659600" y="1962120"/>
            <a:ext cx="227137" cy="227137"/>
          </a:xfrm>
          <a:prstGeom prst="rect">
            <a:avLst/>
          </a:prstGeom>
        </p:spPr>
      </p:pic>
      <p:sp>
        <p:nvSpPr>
          <p:cNvPr id="16" name="Text 12"/>
          <p:cNvSpPr/>
          <p:nvPr/>
        </p:nvSpPr>
        <p:spPr>
          <a:xfrm>
            <a:off x="5111496" y="1810512"/>
            <a:ext cx="2560320" cy="457200"/>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Spec-driven development</a:t>
            </a:r>
            <a:endParaRPr lang="en-US" sz="1250" dirty="0"/>
          </a:p>
        </p:txBody>
      </p:sp>
      <p:sp>
        <p:nvSpPr>
          <p:cNvPr id="17" name="Text 13"/>
          <p:cNvSpPr/>
          <p:nvPr/>
        </p:nvSpPr>
        <p:spPr>
          <a:xfrm>
            <a:off x="4526280" y="2377440"/>
            <a:ext cx="3118104" cy="749808"/>
          </a:xfrm>
          <a:prstGeom prst="rect">
            <a:avLst/>
          </a:prstGeom>
          <a:noFill/>
          <a:ln/>
        </p:spPr>
        <p:txBody>
          <a:bodyPr wrap="square" rtlCol="0" anchor="t"/>
          <a:lstStyle/>
          <a:p>
            <a:pPr indent="0" marL="0">
              <a:lnSpc>
                <a:spcPct val="106000"/>
              </a:lnSpc>
              <a:buNone/>
            </a:pPr>
            <a:r>
              <a:rPr lang="en-US" sz="1050" dirty="0">
                <a:solidFill>
                  <a:srgbClr val="5F6368"/>
                </a:solidFill>
                <a:latin typeface="Arial" pitchFamily="34" charset="0"/>
                <a:ea typeface="Arial" pitchFamily="34" charset="-122"/>
                <a:cs typeface="Arial" pitchFamily="34" charset="-120"/>
              </a:rPr>
              <a:t>Specs as executable contracts that constrain what the agent generates — not passive docs.</a:t>
            </a:r>
            <a:endParaRPr lang="en-US" sz="1050" dirty="0"/>
          </a:p>
        </p:txBody>
      </p:sp>
      <p:sp>
        <p:nvSpPr>
          <p:cNvPr id="18" name="Shape 14"/>
          <p:cNvSpPr/>
          <p:nvPr/>
        </p:nvSpPr>
        <p:spPr>
          <a:xfrm>
            <a:off x="8010144" y="1627632"/>
            <a:ext cx="3520440" cy="1572768"/>
          </a:xfrm>
          <a:prstGeom prst="roundRect">
            <a:avLst>
              <a:gd name="adj" fmla="val 4651"/>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9" name="Shape 15"/>
          <p:cNvSpPr/>
          <p:nvPr/>
        </p:nvSpPr>
        <p:spPr>
          <a:xfrm>
            <a:off x="8211312" y="1828800"/>
            <a:ext cx="493776" cy="493776"/>
          </a:xfrm>
          <a:prstGeom prst="ellipse">
            <a:avLst/>
          </a:prstGeom>
          <a:solidFill>
            <a:srgbClr val="FCE8E6"/>
          </a:solidFill>
          <a:ln/>
        </p:spPr>
      </p:sp>
      <p:pic>
        <p:nvPicPr>
          <p:cNvPr id="20" name="Image 2" descr="preencoded.png">    </p:cNvPr>
          <p:cNvPicPr>
            <a:picLocks noChangeAspect="1"/>
          </p:cNvPicPr>
          <p:nvPr/>
        </p:nvPicPr>
        <p:blipFill>
          <a:blip r:embed="rId3"/>
          <a:stretch>
            <a:fillRect/>
          </a:stretch>
        </p:blipFill>
        <p:spPr>
          <a:xfrm>
            <a:off x="8344632" y="1962120"/>
            <a:ext cx="227137" cy="227137"/>
          </a:xfrm>
          <a:prstGeom prst="rect">
            <a:avLst/>
          </a:prstGeom>
        </p:spPr>
      </p:pic>
      <p:sp>
        <p:nvSpPr>
          <p:cNvPr id="21" name="Text 16"/>
          <p:cNvSpPr/>
          <p:nvPr/>
        </p:nvSpPr>
        <p:spPr>
          <a:xfrm>
            <a:off x="8796528" y="1810512"/>
            <a:ext cx="2560320" cy="457200"/>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Test-driven agents (TDAD)</a:t>
            </a:r>
            <a:endParaRPr lang="en-US" sz="1250" dirty="0"/>
          </a:p>
        </p:txBody>
      </p:sp>
      <p:sp>
        <p:nvSpPr>
          <p:cNvPr id="22" name="Text 17"/>
          <p:cNvSpPr/>
          <p:nvPr/>
        </p:nvSpPr>
        <p:spPr>
          <a:xfrm>
            <a:off x="8211312" y="2377440"/>
            <a:ext cx="3118104" cy="749808"/>
          </a:xfrm>
          <a:prstGeom prst="rect">
            <a:avLst/>
          </a:prstGeom>
          <a:noFill/>
          <a:ln/>
        </p:spPr>
        <p:txBody>
          <a:bodyPr wrap="square" rtlCol="0" anchor="t"/>
          <a:lstStyle/>
          <a:p>
            <a:pPr indent="0" marL="0">
              <a:lnSpc>
                <a:spcPct val="106000"/>
              </a:lnSpc>
              <a:buNone/>
            </a:pPr>
            <a:r>
              <a:rPr lang="en-US" sz="1050" dirty="0">
                <a:solidFill>
                  <a:srgbClr val="5F6368"/>
                </a:solidFill>
                <a:latin typeface="Arial" pitchFamily="34" charset="0"/>
                <a:ea typeface="Arial" pitchFamily="34" charset="-122"/>
                <a:cs typeface="Arial" pitchFamily="34" charset="-120"/>
              </a:rPr>
              <a:t>Behavioral specs compiled into tests; the agent iterates until green. Tests are the success signal.</a:t>
            </a:r>
            <a:endParaRPr lang="en-US" sz="1050" dirty="0"/>
          </a:p>
        </p:txBody>
      </p:sp>
      <p:sp>
        <p:nvSpPr>
          <p:cNvPr id="23" name="Shape 18"/>
          <p:cNvSpPr/>
          <p:nvPr/>
        </p:nvSpPr>
        <p:spPr>
          <a:xfrm>
            <a:off x="640080" y="3346704"/>
            <a:ext cx="3520440" cy="1572768"/>
          </a:xfrm>
          <a:prstGeom prst="roundRect">
            <a:avLst>
              <a:gd name="adj" fmla="val 4651"/>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4" name="Shape 19"/>
          <p:cNvSpPr/>
          <p:nvPr/>
        </p:nvSpPr>
        <p:spPr>
          <a:xfrm>
            <a:off x="841248" y="3547872"/>
            <a:ext cx="493776" cy="493776"/>
          </a:xfrm>
          <a:prstGeom prst="ellipse">
            <a:avLst/>
          </a:prstGeom>
          <a:solidFill>
            <a:srgbClr val="FEF7E0"/>
          </a:solidFill>
          <a:ln/>
        </p:spPr>
      </p:sp>
      <p:pic>
        <p:nvPicPr>
          <p:cNvPr id="25" name="Image 3" descr="preencoded.png">    </p:cNvPr>
          <p:cNvPicPr>
            <a:picLocks noChangeAspect="1"/>
          </p:cNvPicPr>
          <p:nvPr/>
        </p:nvPicPr>
        <p:blipFill>
          <a:blip r:embed="rId4"/>
          <a:stretch>
            <a:fillRect/>
          </a:stretch>
        </p:blipFill>
        <p:spPr>
          <a:xfrm>
            <a:off x="974568" y="3681192"/>
            <a:ext cx="227137" cy="227137"/>
          </a:xfrm>
          <a:prstGeom prst="rect">
            <a:avLst/>
          </a:prstGeom>
        </p:spPr>
      </p:pic>
      <p:sp>
        <p:nvSpPr>
          <p:cNvPr id="26" name="Text 20"/>
          <p:cNvSpPr/>
          <p:nvPr/>
        </p:nvSpPr>
        <p:spPr>
          <a:xfrm>
            <a:off x="1426464" y="3529584"/>
            <a:ext cx="2560320" cy="457200"/>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Sub-agents</a:t>
            </a:r>
            <a:endParaRPr lang="en-US" sz="1250" dirty="0"/>
          </a:p>
        </p:txBody>
      </p:sp>
      <p:sp>
        <p:nvSpPr>
          <p:cNvPr id="27" name="Text 21"/>
          <p:cNvSpPr/>
          <p:nvPr/>
        </p:nvSpPr>
        <p:spPr>
          <a:xfrm>
            <a:off x="841248" y="4096512"/>
            <a:ext cx="3118104" cy="749808"/>
          </a:xfrm>
          <a:prstGeom prst="rect">
            <a:avLst/>
          </a:prstGeom>
          <a:noFill/>
          <a:ln/>
        </p:spPr>
        <p:txBody>
          <a:bodyPr wrap="square" rtlCol="0" anchor="t"/>
          <a:lstStyle/>
          <a:p>
            <a:pPr indent="0" marL="0">
              <a:lnSpc>
                <a:spcPct val="106000"/>
              </a:lnSpc>
              <a:buNone/>
            </a:pPr>
            <a:r>
              <a:rPr lang="en-US" sz="1050" dirty="0">
                <a:solidFill>
                  <a:srgbClr val="5F6368"/>
                </a:solidFill>
                <a:latin typeface="Arial" pitchFamily="34" charset="0"/>
                <a:ea typeface="Arial" pitchFamily="34" charset="-122"/>
                <a:cs typeface="Arial" pitchFamily="34" charset="-120"/>
              </a:rPr>
              <a:t>Split exploration from editing; each gets its own window and returns only its result.</a:t>
            </a:r>
            <a:endParaRPr lang="en-US" sz="1050" dirty="0"/>
          </a:p>
        </p:txBody>
      </p:sp>
      <p:sp>
        <p:nvSpPr>
          <p:cNvPr id="28" name="Shape 22"/>
          <p:cNvSpPr/>
          <p:nvPr/>
        </p:nvSpPr>
        <p:spPr>
          <a:xfrm>
            <a:off x="4325112" y="3346704"/>
            <a:ext cx="3520440" cy="1572768"/>
          </a:xfrm>
          <a:prstGeom prst="roundRect">
            <a:avLst>
              <a:gd name="adj" fmla="val 4651"/>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9" name="Shape 23"/>
          <p:cNvSpPr/>
          <p:nvPr/>
        </p:nvSpPr>
        <p:spPr>
          <a:xfrm>
            <a:off x="4526280" y="3547872"/>
            <a:ext cx="493776" cy="493776"/>
          </a:xfrm>
          <a:prstGeom prst="ellipse">
            <a:avLst/>
          </a:prstGeom>
          <a:solidFill>
            <a:srgbClr val="E8F0FE"/>
          </a:solidFill>
          <a:ln/>
        </p:spPr>
      </p:sp>
      <p:pic>
        <p:nvPicPr>
          <p:cNvPr id="30" name="Image 4" descr="preencoded.png">    </p:cNvPr>
          <p:cNvPicPr>
            <a:picLocks noChangeAspect="1"/>
          </p:cNvPicPr>
          <p:nvPr/>
        </p:nvPicPr>
        <p:blipFill>
          <a:blip r:embed="rId5"/>
          <a:stretch>
            <a:fillRect/>
          </a:stretch>
        </p:blipFill>
        <p:spPr>
          <a:xfrm>
            <a:off x="4659600" y="3681192"/>
            <a:ext cx="227137" cy="227137"/>
          </a:xfrm>
          <a:prstGeom prst="rect">
            <a:avLst/>
          </a:prstGeom>
        </p:spPr>
      </p:pic>
      <p:sp>
        <p:nvSpPr>
          <p:cNvPr id="31" name="Text 24"/>
          <p:cNvSpPr/>
          <p:nvPr/>
        </p:nvSpPr>
        <p:spPr>
          <a:xfrm>
            <a:off x="5111496" y="3529584"/>
            <a:ext cx="2560320" cy="457200"/>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Verification-first review</a:t>
            </a:r>
            <a:endParaRPr lang="en-US" sz="1250" dirty="0"/>
          </a:p>
        </p:txBody>
      </p:sp>
      <p:sp>
        <p:nvSpPr>
          <p:cNvPr id="32" name="Text 25"/>
          <p:cNvSpPr/>
          <p:nvPr/>
        </p:nvSpPr>
        <p:spPr>
          <a:xfrm>
            <a:off x="4526280" y="4096512"/>
            <a:ext cx="3118104" cy="749808"/>
          </a:xfrm>
          <a:prstGeom prst="rect">
            <a:avLst/>
          </a:prstGeom>
          <a:noFill/>
          <a:ln/>
        </p:spPr>
        <p:txBody>
          <a:bodyPr wrap="square" rtlCol="0" anchor="t"/>
          <a:lstStyle/>
          <a:p>
            <a:pPr indent="0" marL="0">
              <a:lnSpc>
                <a:spcPct val="106000"/>
              </a:lnSpc>
              <a:buNone/>
            </a:pPr>
            <a:r>
              <a:rPr lang="en-US" sz="1050" dirty="0">
                <a:solidFill>
                  <a:srgbClr val="5F6368"/>
                </a:solidFill>
                <a:latin typeface="Arial" pitchFamily="34" charset="0"/>
                <a:ea typeface="Arial" pitchFamily="34" charset="-122"/>
                <a:cs typeface="Arial" pitchFamily="34" charset="-120"/>
              </a:rPr>
              <a:t>Empirical tests &amp; agentic code-review over the model's own self-judgment.</a:t>
            </a:r>
            <a:endParaRPr lang="en-US" sz="1050" dirty="0"/>
          </a:p>
        </p:txBody>
      </p:sp>
      <p:sp>
        <p:nvSpPr>
          <p:cNvPr id="33" name="Shape 26"/>
          <p:cNvSpPr/>
          <p:nvPr/>
        </p:nvSpPr>
        <p:spPr>
          <a:xfrm>
            <a:off x="8010144" y="3346704"/>
            <a:ext cx="3520440" cy="1572768"/>
          </a:xfrm>
          <a:prstGeom prst="roundRect">
            <a:avLst>
              <a:gd name="adj" fmla="val 4651"/>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34" name="Shape 27"/>
          <p:cNvSpPr/>
          <p:nvPr/>
        </p:nvSpPr>
        <p:spPr>
          <a:xfrm>
            <a:off x="8211312" y="3547872"/>
            <a:ext cx="493776" cy="493776"/>
          </a:xfrm>
          <a:prstGeom prst="ellipse">
            <a:avLst/>
          </a:prstGeom>
          <a:solidFill>
            <a:srgbClr val="E6F4EA"/>
          </a:solidFill>
          <a:ln/>
        </p:spPr>
      </p:sp>
      <p:pic>
        <p:nvPicPr>
          <p:cNvPr id="35" name="Image 5" descr="preencoded.png">    </p:cNvPr>
          <p:cNvPicPr>
            <a:picLocks noChangeAspect="1"/>
          </p:cNvPicPr>
          <p:nvPr/>
        </p:nvPicPr>
        <p:blipFill>
          <a:blip r:embed="rId6"/>
          <a:stretch>
            <a:fillRect/>
          </a:stretch>
        </p:blipFill>
        <p:spPr>
          <a:xfrm>
            <a:off x="8344632" y="3681192"/>
            <a:ext cx="227137" cy="227137"/>
          </a:xfrm>
          <a:prstGeom prst="rect">
            <a:avLst/>
          </a:prstGeom>
        </p:spPr>
      </p:pic>
      <p:sp>
        <p:nvSpPr>
          <p:cNvPr id="36" name="Text 28"/>
          <p:cNvSpPr/>
          <p:nvPr/>
        </p:nvSpPr>
        <p:spPr>
          <a:xfrm>
            <a:off x="8796528" y="3529584"/>
            <a:ext cx="2560320" cy="457200"/>
          </a:xfrm>
          <a:prstGeom prst="rect">
            <a:avLst/>
          </a:prstGeom>
          <a:noFill/>
          <a:ln/>
        </p:spPr>
        <p:txBody>
          <a:bodyPr wrap="square" rtlCol="0" anchor="ctr"/>
          <a:lstStyle/>
          <a:p>
            <a:pPr indent="0" marL="0">
              <a:buNone/>
            </a:pPr>
            <a:r>
              <a:rPr lang="en-US" sz="1250" b="1" dirty="0">
                <a:solidFill>
                  <a:srgbClr val="202124"/>
                </a:solidFill>
                <a:latin typeface="Arial" pitchFamily="34" charset="0"/>
                <a:ea typeface="Arial" pitchFamily="34" charset="-122"/>
                <a:cs typeface="Arial" pitchFamily="34" charset="-120"/>
              </a:rPr>
              <a:t>Codebase grounding</a:t>
            </a:r>
            <a:endParaRPr lang="en-US" sz="1250" dirty="0"/>
          </a:p>
        </p:txBody>
      </p:sp>
      <p:sp>
        <p:nvSpPr>
          <p:cNvPr id="37" name="Text 29"/>
          <p:cNvSpPr/>
          <p:nvPr/>
        </p:nvSpPr>
        <p:spPr>
          <a:xfrm>
            <a:off x="8211312" y="4096512"/>
            <a:ext cx="3118104" cy="749808"/>
          </a:xfrm>
          <a:prstGeom prst="rect">
            <a:avLst/>
          </a:prstGeom>
          <a:noFill/>
          <a:ln/>
        </p:spPr>
        <p:txBody>
          <a:bodyPr wrap="square" rtlCol="0" anchor="t"/>
          <a:lstStyle/>
          <a:p>
            <a:pPr indent="0" marL="0">
              <a:lnSpc>
                <a:spcPct val="106000"/>
              </a:lnSpc>
              <a:buNone/>
            </a:pPr>
            <a:r>
              <a:rPr lang="en-US" sz="1050" dirty="0">
                <a:solidFill>
                  <a:srgbClr val="5F6368"/>
                </a:solidFill>
                <a:latin typeface="Arial" pitchFamily="34" charset="0"/>
                <a:ea typeface="Arial" pitchFamily="34" charset="-122"/>
                <a:cs typeface="Arial" pitchFamily="34" charset="-120"/>
              </a:rPr>
              <a:t>Graph / AST / retrieval context so agents reason about the repo — not isolated snippets.</a:t>
            </a:r>
            <a:endParaRPr lang="en-US" sz="1050" dirty="0"/>
          </a:p>
        </p:txBody>
      </p:sp>
      <p:sp>
        <p:nvSpPr>
          <p:cNvPr id="38" name="Shape 30"/>
          <p:cNvSpPr/>
          <p:nvPr/>
        </p:nvSpPr>
        <p:spPr>
          <a:xfrm>
            <a:off x="640080" y="5413248"/>
            <a:ext cx="10881360" cy="777240"/>
          </a:xfrm>
          <a:prstGeom prst="roundRect">
            <a:avLst>
              <a:gd name="adj" fmla="val 9412"/>
            </a:avLst>
          </a:prstGeom>
          <a:solidFill>
            <a:srgbClr val="E8F0FE"/>
          </a:solidFill>
          <a:ln w="12700">
            <a:solidFill>
              <a:srgbClr val="E8F0FE"/>
            </a:solidFill>
            <a:prstDash val="solid"/>
          </a:ln>
        </p:spPr>
      </p:sp>
      <p:sp>
        <p:nvSpPr>
          <p:cNvPr id="39" name="Text 31"/>
          <p:cNvSpPr/>
          <p:nvPr/>
        </p:nvSpPr>
        <p:spPr>
          <a:xfrm>
            <a:off x="914400" y="5413248"/>
            <a:ext cx="10332720" cy="777240"/>
          </a:xfrm>
          <a:prstGeom prst="rect">
            <a:avLst/>
          </a:prstGeom>
          <a:noFill/>
          <a:ln/>
        </p:spPr>
        <p:txBody>
          <a:bodyPr wrap="square" rtlCol="0" anchor="ctr"/>
          <a:lstStyle/>
          <a:p>
            <a:pPr indent="0" marL="0">
              <a:lnSpc>
                <a:spcPct val="108000"/>
              </a:lnSpc>
              <a:buNone/>
            </a:pPr>
            <a:r>
              <a:rPr lang="en-US" sz="1150" b="1" dirty="0">
                <a:solidFill>
                  <a:srgbClr val="4285F4"/>
                </a:solidFill>
                <a:latin typeface="Arial" pitchFamily="34" charset="0"/>
                <a:ea typeface="Arial" pitchFamily="34" charset="-122"/>
                <a:cs typeface="Arial" pitchFamily="34" charset="-120"/>
              </a:rPr>
              <a:t>Pros don't vibe — they control.  </a:t>
            </a:r>
            <a:pPr indent="0" marL="0">
              <a:lnSpc>
                <a:spcPct val="108000"/>
              </a:lnSpc>
              <a:buNone/>
            </a:pPr>
            <a:r>
              <a:rPr lang="en-US" sz="1150" dirty="0">
                <a:solidFill>
                  <a:srgbClr val="202124"/>
                </a:solidFill>
                <a:latin typeface="Arial" pitchFamily="34" charset="0"/>
                <a:ea typeface="Arial" pitchFamily="34" charset="-122"/>
                <a:cs typeface="Arial" pitchFamily="34" charset="-120"/>
              </a:rPr>
              <a:t>A 2025 field study (13 observed, 99 surveyed) found experienced devs keep agency through plan files + supervision — and that agents still struggle with large / modular codebases, legacy integration, and one-shotting.</a:t>
            </a:r>
            <a:endParaRPr lang="en-US" sz="1150" dirty="0"/>
          </a:p>
        </p:txBody>
      </p:sp>
      <p:sp>
        <p:nvSpPr>
          <p:cNvPr id="40" name="Shape 32"/>
          <p:cNvSpPr/>
          <p:nvPr/>
        </p:nvSpPr>
        <p:spPr>
          <a:xfrm>
            <a:off x="640080" y="6419088"/>
            <a:ext cx="10908792" cy="0"/>
          </a:xfrm>
          <a:prstGeom prst="line">
            <a:avLst/>
          </a:prstGeom>
          <a:noFill/>
          <a:ln w="12700">
            <a:solidFill>
              <a:srgbClr val="DADCE0"/>
            </a:solidFill>
            <a:prstDash val="solid"/>
          </a:ln>
        </p:spPr>
      </p:sp>
      <p:sp>
        <p:nvSpPr>
          <p:cNvPr id="41" name="Text 33"/>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42" name="Text 34"/>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74320"/>
          </a:xfrm>
          <a:prstGeom prst="rect">
            <a:avLst/>
          </a:prstGeom>
          <a:noFill/>
          <a:ln/>
        </p:spPr>
        <p:txBody>
          <a:bodyPr wrap="square" rtlCol="0" anchor="ctr"/>
          <a:lstStyle/>
          <a:p>
            <a:pPr algn="l" indent="0" marL="0">
              <a:buNone/>
            </a:pPr>
            <a:r>
              <a:rPr lang="en-US" sz="1150" b="1" spc="200" kern="0" dirty="0">
                <a:solidFill>
                  <a:srgbClr val="4285F4"/>
                </a:solidFill>
                <a:latin typeface="Arial" pitchFamily="34" charset="0"/>
                <a:ea typeface="Arial" pitchFamily="34" charset="-122"/>
                <a:cs typeface="Arial" pitchFamily="34" charset="-120"/>
              </a:rPr>
              <a:t>ROUND IT OUT</a:t>
            </a:r>
            <a:endParaRPr lang="en-US" sz="1150" dirty="0"/>
          </a:p>
        </p:txBody>
      </p:sp>
      <p:sp>
        <p:nvSpPr>
          <p:cNvPr id="3" name="Text 1"/>
          <p:cNvSpPr/>
          <p:nvPr/>
        </p:nvSpPr>
        <p:spPr>
          <a:xfrm>
            <a:off x="640080" y="658368"/>
            <a:ext cx="10607040" cy="777240"/>
          </a:xfrm>
          <a:prstGeom prst="rect">
            <a:avLst/>
          </a:prstGeom>
          <a:noFill/>
          <a:ln/>
        </p:spPr>
        <p:txBody>
          <a:bodyPr wrap="square" rtlCol="0" anchor="t"/>
          <a:lstStyle/>
          <a:p>
            <a:pPr algn="l" indent="0" marL="0">
              <a:buNone/>
            </a:pPr>
            <a:r>
              <a:rPr lang="en-US" sz="3000" b="1" dirty="0">
                <a:solidFill>
                  <a:srgbClr val="202124"/>
                </a:solidFill>
                <a:latin typeface="Arial" pitchFamily="34" charset="0"/>
                <a:ea typeface="Arial" pitchFamily="34" charset="-122"/>
                <a:cs typeface="Arial" pitchFamily="34" charset="-120"/>
              </a:rPr>
              <a:t>Topics that surface in every Q&amp;A</a:t>
            </a:r>
            <a:endParaRPr lang="en-US" sz="3000" dirty="0"/>
          </a:p>
        </p:txBody>
      </p:sp>
      <p:sp>
        <p:nvSpPr>
          <p:cNvPr id="4" name="Shape 2"/>
          <p:cNvSpPr/>
          <p:nvPr/>
        </p:nvSpPr>
        <p:spPr>
          <a:xfrm>
            <a:off x="10927080" y="457200"/>
            <a:ext cx="155448" cy="155448"/>
          </a:xfrm>
          <a:prstGeom prst="ellipse">
            <a:avLst/>
          </a:prstGeom>
          <a:solidFill>
            <a:srgbClr val="4285F4"/>
          </a:solidFill>
          <a:ln/>
        </p:spPr>
      </p:sp>
      <p:sp>
        <p:nvSpPr>
          <p:cNvPr id="5" name="Shape 3"/>
          <p:cNvSpPr/>
          <p:nvPr/>
        </p:nvSpPr>
        <p:spPr>
          <a:xfrm>
            <a:off x="11164824" y="457200"/>
            <a:ext cx="155448" cy="155448"/>
          </a:xfrm>
          <a:prstGeom prst="ellipse">
            <a:avLst/>
          </a:prstGeom>
          <a:solidFill>
            <a:srgbClr val="EA4335"/>
          </a:solidFill>
          <a:ln/>
        </p:spPr>
      </p:sp>
      <p:sp>
        <p:nvSpPr>
          <p:cNvPr id="6" name="Shape 4"/>
          <p:cNvSpPr/>
          <p:nvPr/>
        </p:nvSpPr>
        <p:spPr>
          <a:xfrm>
            <a:off x="11402568" y="457200"/>
            <a:ext cx="155448" cy="155448"/>
          </a:xfrm>
          <a:prstGeom prst="ellipse">
            <a:avLst/>
          </a:prstGeom>
          <a:solidFill>
            <a:srgbClr val="FBBC04"/>
          </a:solidFill>
          <a:ln/>
        </p:spPr>
      </p:sp>
      <p:sp>
        <p:nvSpPr>
          <p:cNvPr id="7" name="Shape 5"/>
          <p:cNvSpPr/>
          <p:nvPr/>
        </p:nvSpPr>
        <p:spPr>
          <a:xfrm>
            <a:off x="11640312" y="457200"/>
            <a:ext cx="155448" cy="155448"/>
          </a:xfrm>
          <a:prstGeom prst="ellipse">
            <a:avLst/>
          </a:prstGeom>
          <a:solidFill>
            <a:srgbClr val="34A853"/>
          </a:solidFill>
          <a:ln/>
        </p:spPr>
      </p:sp>
      <p:sp>
        <p:nvSpPr>
          <p:cNvPr id="8" name="Shape 6"/>
          <p:cNvSpPr/>
          <p:nvPr/>
        </p:nvSpPr>
        <p:spPr>
          <a:xfrm>
            <a:off x="640080" y="1691640"/>
            <a:ext cx="5394960" cy="2121408"/>
          </a:xfrm>
          <a:prstGeom prst="roundRect">
            <a:avLst>
              <a:gd name="adj" fmla="val 3448"/>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9" name="Shape 7"/>
          <p:cNvSpPr/>
          <p:nvPr/>
        </p:nvSpPr>
        <p:spPr>
          <a:xfrm>
            <a:off x="640080" y="1691640"/>
            <a:ext cx="82296" cy="2121408"/>
          </a:xfrm>
          <a:prstGeom prst="rect">
            <a:avLst/>
          </a:prstGeom>
          <a:solidFill>
            <a:srgbClr val="4285F4"/>
          </a:solidFill>
          <a:ln/>
        </p:spPr>
      </p:sp>
      <p:sp>
        <p:nvSpPr>
          <p:cNvPr id="10" name="Shape 8"/>
          <p:cNvSpPr/>
          <p:nvPr/>
        </p:nvSpPr>
        <p:spPr>
          <a:xfrm>
            <a:off x="914400" y="1965960"/>
            <a:ext cx="658368" cy="658368"/>
          </a:xfrm>
          <a:prstGeom prst="ellipse">
            <a:avLst/>
          </a:prstGeom>
          <a:solidFill>
            <a:srgbClr val="E8F0FE"/>
          </a:solidFill>
          <a:ln/>
        </p:spPr>
      </p:sp>
      <p:pic>
        <p:nvPicPr>
          <p:cNvPr id="11" name="Image 0" descr="preencoded.png">    </p:cNvPr>
          <p:cNvPicPr>
            <a:picLocks noChangeAspect="1"/>
          </p:cNvPicPr>
          <p:nvPr/>
        </p:nvPicPr>
        <p:blipFill>
          <a:blip r:embed="rId1"/>
          <a:stretch>
            <a:fillRect/>
          </a:stretch>
        </p:blipFill>
        <p:spPr>
          <a:xfrm>
            <a:off x="1092159" y="2143719"/>
            <a:ext cx="302849" cy="302849"/>
          </a:xfrm>
          <a:prstGeom prst="rect">
            <a:avLst/>
          </a:prstGeom>
        </p:spPr>
      </p:pic>
      <p:sp>
        <p:nvSpPr>
          <p:cNvPr id="12" name="Text 9"/>
          <p:cNvSpPr/>
          <p:nvPr/>
        </p:nvSpPr>
        <p:spPr>
          <a:xfrm>
            <a:off x="1737360" y="2039112"/>
            <a:ext cx="4114800" cy="502920"/>
          </a:xfrm>
          <a:prstGeom prst="rect">
            <a:avLst/>
          </a:prstGeom>
          <a:noFill/>
          <a:ln/>
        </p:spPr>
        <p:txBody>
          <a:bodyPr wrap="square" rtlCol="0" anchor="ctr"/>
          <a:lstStyle/>
          <a:p>
            <a:pPr indent="0" marL="0">
              <a:buNone/>
            </a:pPr>
            <a:r>
              <a:rPr lang="en-US" sz="1550" b="1" dirty="0">
                <a:solidFill>
                  <a:srgbClr val="202124"/>
                </a:solidFill>
                <a:latin typeface="Arial" pitchFamily="34" charset="0"/>
                <a:ea typeface="Arial" pitchFamily="34" charset="-122"/>
                <a:cs typeface="Arial" pitchFamily="34" charset="-120"/>
              </a:rPr>
              <a:t>Governance &amp; access</a:t>
            </a:r>
            <a:endParaRPr lang="en-US" sz="1550" dirty="0"/>
          </a:p>
        </p:txBody>
      </p:sp>
      <p:sp>
        <p:nvSpPr>
          <p:cNvPr id="13" name="Text 10"/>
          <p:cNvSpPr/>
          <p:nvPr/>
        </p:nvSpPr>
        <p:spPr>
          <a:xfrm>
            <a:off x="932688" y="2788920"/>
            <a:ext cx="4846320" cy="914400"/>
          </a:xfrm>
          <a:prstGeom prst="rect">
            <a:avLst/>
          </a:prstGeom>
          <a:noFill/>
          <a:ln/>
        </p:spPr>
        <p:txBody>
          <a:bodyPr wrap="square" rtlCol="0" anchor="t"/>
          <a:lstStyle/>
          <a:p>
            <a:pPr indent="0" marL="0">
              <a:lnSpc>
                <a:spcPct val="112000"/>
              </a:lnSpc>
              <a:buNone/>
            </a:pPr>
            <a:r>
              <a:rPr lang="en-US" sz="1200" dirty="0">
                <a:solidFill>
                  <a:srgbClr val="5F6368"/>
                </a:solidFill>
                <a:latin typeface="Arial" pitchFamily="34" charset="0"/>
                <a:ea typeface="Arial" pitchFamily="34" charset="-122"/>
                <a:cs typeface="Arial" pitchFamily="34" charset="-120"/>
              </a:rPr>
              <a:t>Agents add no value if they can't securely reach the systems where business happens — governed connectors, orchestration, zero-trust.</a:t>
            </a:r>
            <a:endParaRPr lang="en-US" sz="1200" dirty="0"/>
          </a:p>
        </p:txBody>
      </p:sp>
      <p:sp>
        <p:nvSpPr>
          <p:cNvPr id="14" name="Shape 11"/>
          <p:cNvSpPr/>
          <p:nvPr/>
        </p:nvSpPr>
        <p:spPr>
          <a:xfrm>
            <a:off x="6153912" y="1691640"/>
            <a:ext cx="5394960" cy="2121408"/>
          </a:xfrm>
          <a:prstGeom prst="roundRect">
            <a:avLst>
              <a:gd name="adj" fmla="val 3448"/>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15" name="Shape 12"/>
          <p:cNvSpPr/>
          <p:nvPr/>
        </p:nvSpPr>
        <p:spPr>
          <a:xfrm>
            <a:off x="6153912" y="1691640"/>
            <a:ext cx="82296" cy="2121408"/>
          </a:xfrm>
          <a:prstGeom prst="rect">
            <a:avLst/>
          </a:prstGeom>
          <a:solidFill>
            <a:srgbClr val="34A853"/>
          </a:solidFill>
          <a:ln/>
        </p:spPr>
      </p:sp>
      <p:sp>
        <p:nvSpPr>
          <p:cNvPr id="16" name="Shape 13"/>
          <p:cNvSpPr/>
          <p:nvPr/>
        </p:nvSpPr>
        <p:spPr>
          <a:xfrm>
            <a:off x="6428232" y="1965960"/>
            <a:ext cx="658368" cy="658368"/>
          </a:xfrm>
          <a:prstGeom prst="ellipse">
            <a:avLst/>
          </a:prstGeom>
          <a:solidFill>
            <a:srgbClr val="E6F4EA"/>
          </a:solidFill>
          <a:ln/>
        </p:spPr>
      </p:sp>
      <p:pic>
        <p:nvPicPr>
          <p:cNvPr id="17" name="Image 1" descr="preencoded.png">    </p:cNvPr>
          <p:cNvPicPr>
            <a:picLocks noChangeAspect="1"/>
          </p:cNvPicPr>
          <p:nvPr/>
        </p:nvPicPr>
        <p:blipFill>
          <a:blip r:embed="rId2"/>
          <a:stretch>
            <a:fillRect/>
          </a:stretch>
        </p:blipFill>
        <p:spPr>
          <a:xfrm>
            <a:off x="6605991" y="2143719"/>
            <a:ext cx="302849" cy="302849"/>
          </a:xfrm>
          <a:prstGeom prst="rect">
            <a:avLst/>
          </a:prstGeom>
        </p:spPr>
      </p:pic>
      <p:sp>
        <p:nvSpPr>
          <p:cNvPr id="18" name="Text 14"/>
          <p:cNvSpPr/>
          <p:nvPr/>
        </p:nvSpPr>
        <p:spPr>
          <a:xfrm>
            <a:off x="7251192" y="2039112"/>
            <a:ext cx="4114800" cy="502920"/>
          </a:xfrm>
          <a:prstGeom prst="rect">
            <a:avLst/>
          </a:prstGeom>
          <a:noFill/>
          <a:ln/>
        </p:spPr>
        <p:txBody>
          <a:bodyPr wrap="square" rtlCol="0" anchor="ctr"/>
          <a:lstStyle/>
          <a:p>
            <a:pPr indent="0" marL="0">
              <a:buNone/>
            </a:pPr>
            <a:r>
              <a:rPr lang="en-US" sz="1550" b="1" dirty="0">
                <a:solidFill>
                  <a:srgbClr val="202124"/>
                </a:solidFill>
                <a:latin typeface="Arial" pitchFamily="34" charset="0"/>
                <a:ea typeface="Arial" pitchFamily="34" charset="-122"/>
                <a:cs typeface="Arial" pitchFamily="34" charset="-120"/>
              </a:rPr>
              <a:t>Metrics &amp; KPIs</a:t>
            </a:r>
            <a:endParaRPr lang="en-US" sz="1550" dirty="0"/>
          </a:p>
        </p:txBody>
      </p:sp>
      <p:sp>
        <p:nvSpPr>
          <p:cNvPr id="19" name="Text 15"/>
          <p:cNvSpPr/>
          <p:nvPr/>
        </p:nvSpPr>
        <p:spPr>
          <a:xfrm>
            <a:off x="6446520" y="2788920"/>
            <a:ext cx="4846320" cy="914400"/>
          </a:xfrm>
          <a:prstGeom prst="rect">
            <a:avLst/>
          </a:prstGeom>
          <a:noFill/>
          <a:ln/>
        </p:spPr>
        <p:txBody>
          <a:bodyPr wrap="square" rtlCol="0" anchor="t"/>
          <a:lstStyle/>
          <a:p>
            <a:pPr indent="0" marL="0">
              <a:lnSpc>
                <a:spcPct val="112000"/>
              </a:lnSpc>
              <a:buNone/>
            </a:pPr>
            <a:r>
              <a:rPr lang="en-US" sz="1200" dirty="0">
                <a:solidFill>
                  <a:srgbClr val="5F6368"/>
                </a:solidFill>
                <a:latin typeface="Arial" pitchFamily="34" charset="0"/>
                <a:ea typeface="Arial" pitchFamily="34" charset="-122"/>
                <a:cs typeface="Arial" pitchFamily="34" charset="-120"/>
              </a:rPr>
              <a:t>Change-failure rate, MTTR, lead time, critical-path test coverage, functional-parity %. Gives leadership something concrete.</a:t>
            </a:r>
            <a:endParaRPr lang="en-US" sz="1200" dirty="0"/>
          </a:p>
        </p:txBody>
      </p:sp>
      <p:sp>
        <p:nvSpPr>
          <p:cNvPr id="20" name="Shape 16"/>
          <p:cNvSpPr/>
          <p:nvPr/>
        </p:nvSpPr>
        <p:spPr>
          <a:xfrm>
            <a:off x="640080" y="3959352"/>
            <a:ext cx="5394960" cy="2121408"/>
          </a:xfrm>
          <a:prstGeom prst="roundRect">
            <a:avLst>
              <a:gd name="adj" fmla="val 3448"/>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1" name="Shape 17"/>
          <p:cNvSpPr/>
          <p:nvPr/>
        </p:nvSpPr>
        <p:spPr>
          <a:xfrm>
            <a:off x="640080" y="3959352"/>
            <a:ext cx="82296" cy="2121408"/>
          </a:xfrm>
          <a:prstGeom prst="rect">
            <a:avLst/>
          </a:prstGeom>
          <a:solidFill>
            <a:srgbClr val="EA4335"/>
          </a:solidFill>
          <a:ln/>
        </p:spPr>
      </p:sp>
      <p:sp>
        <p:nvSpPr>
          <p:cNvPr id="22" name="Shape 18"/>
          <p:cNvSpPr/>
          <p:nvPr/>
        </p:nvSpPr>
        <p:spPr>
          <a:xfrm>
            <a:off x="914400" y="4233672"/>
            <a:ext cx="658368" cy="658368"/>
          </a:xfrm>
          <a:prstGeom prst="ellipse">
            <a:avLst/>
          </a:prstGeom>
          <a:solidFill>
            <a:srgbClr val="FCE8E6"/>
          </a:solidFill>
          <a:ln/>
        </p:spPr>
      </p:sp>
      <p:pic>
        <p:nvPicPr>
          <p:cNvPr id="23" name="Image 2" descr="preencoded.png">    </p:cNvPr>
          <p:cNvPicPr>
            <a:picLocks noChangeAspect="1"/>
          </p:cNvPicPr>
          <p:nvPr/>
        </p:nvPicPr>
        <p:blipFill>
          <a:blip r:embed="rId3"/>
          <a:stretch>
            <a:fillRect/>
          </a:stretch>
        </p:blipFill>
        <p:spPr>
          <a:xfrm>
            <a:off x="1092159" y="4411431"/>
            <a:ext cx="302849" cy="302849"/>
          </a:xfrm>
          <a:prstGeom prst="rect">
            <a:avLst/>
          </a:prstGeom>
        </p:spPr>
      </p:pic>
      <p:sp>
        <p:nvSpPr>
          <p:cNvPr id="24" name="Text 19"/>
          <p:cNvSpPr/>
          <p:nvPr/>
        </p:nvSpPr>
        <p:spPr>
          <a:xfrm>
            <a:off x="1737360" y="4306824"/>
            <a:ext cx="4114800" cy="502920"/>
          </a:xfrm>
          <a:prstGeom prst="rect">
            <a:avLst/>
          </a:prstGeom>
          <a:noFill/>
          <a:ln/>
        </p:spPr>
        <p:txBody>
          <a:bodyPr wrap="square" rtlCol="0" anchor="ctr"/>
          <a:lstStyle/>
          <a:p>
            <a:pPr indent="0" marL="0">
              <a:buNone/>
            </a:pPr>
            <a:r>
              <a:rPr lang="en-US" sz="1550" b="1" dirty="0">
                <a:solidFill>
                  <a:srgbClr val="202124"/>
                </a:solidFill>
                <a:latin typeface="Arial" pitchFamily="34" charset="0"/>
                <a:ea typeface="Arial" pitchFamily="34" charset="-122"/>
                <a:cs typeface="Arial" pitchFamily="34" charset="-120"/>
              </a:rPr>
              <a:t>Human-in-the-loop</a:t>
            </a:r>
            <a:endParaRPr lang="en-US" sz="1550" dirty="0"/>
          </a:p>
        </p:txBody>
      </p:sp>
      <p:sp>
        <p:nvSpPr>
          <p:cNvPr id="25" name="Text 20"/>
          <p:cNvSpPr/>
          <p:nvPr/>
        </p:nvSpPr>
        <p:spPr>
          <a:xfrm>
            <a:off x="932688" y="5056632"/>
            <a:ext cx="4846320" cy="914400"/>
          </a:xfrm>
          <a:prstGeom prst="rect">
            <a:avLst/>
          </a:prstGeom>
          <a:noFill/>
          <a:ln/>
        </p:spPr>
        <p:txBody>
          <a:bodyPr wrap="square" rtlCol="0" anchor="t"/>
          <a:lstStyle/>
          <a:p>
            <a:pPr indent="0" marL="0">
              <a:lnSpc>
                <a:spcPct val="112000"/>
              </a:lnSpc>
              <a:buNone/>
            </a:pPr>
            <a:r>
              <a:rPr lang="en-US" sz="1200" dirty="0">
                <a:solidFill>
                  <a:srgbClr val="5F6368"/>
                </a:solidFill>
                <a:latin typeface="Arial" pitchFamily="34" charset="0"/>
                <a:ea typeface="Arial" pitchFamily="34" charset="-122"/>
                <a:cs typeface="Arial" pitchFamily="34" charset="-120"/>
              </a:rPr>
              <a:t>When to escalate, who validates rule extraction, sign-off gates. Plus loop economics: token / tool budgets protect the budget.</a:t>
            </a:r>
            <a:endParaRPr lang="en-US" sz="1200" dirty="0"/>
          </a:p>
        </p:txBody>
      </p:sp>
      <p:sp>
        <p:nvSpPr>
          <p:cNvPr id="26" name="Shape 21"/>
          <p:cNvSpPr/>
          <p:nvPr/>
        </p:nvSpPr>
        <p:spPr>
          <a:xfrm>
            <a:off x="6153912" y="3959352"/>
            <a:ext cx="5394960" cy="2121408"/>
          </a:xfrm>
          <a:prstGeom prst="roundRect">
            <a:avLst>
              <a:gd name="adj" fmla="val 3448"/>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27" name="Shape 22"/>
          <p:cNvSpPr/>
          <p:nvPr/>
        </p:nvSpPr>
        <p:spPr>
          <a:xfrm>
            <a:off x="6153912" y="3959352"/>
            <a:ext cx="82296" cy="2121408"/>
          </a:xfrm>
          <a:prstGeom prst="rect">
            <a:avLst/>
          </a:prstGeom>
          <a:solidFill>
            <a:srgbClr val="8A6D00"/>
          </a:solidFill>
          <a:ln/>
        </p:spPr>
      </p:sp>
      <p:sp>
        <p:nvSpPr>
          <p:cNvPr id="28" name="Shape 23"/>
          <p:cNvSpPr/>
          <p:nvPr/>
        </p:nvSpPr>
        <p:spPr>
          <a:xfrm>
            <a:off x="6428232" y="4233672"/>
            <a:ext cx="658368" cy="658368"/>
          </a:xfrm>
          <a:prstGeom prst="ellipse">
            <a:avLst/>
          </a:prstGeom>
          <a:solidFill>
            <a:srgbClr val="FEF7E0"/>
          </a:solidFill>
          <a:ln/>
        </p:spPr>
      </p:sp>
      <p:pic>
        <p:nvPicPr>
          <p:cNvPr id="29" name="Image 3" descr="preencoded.png">    </p:cNvPr>
          <p:cNvPicPr>
            <a:picLocks noChangeAspect="1"/>
          </p:cNvPicPr>
          <p:nvPr/>
        </p:nvPicPr>
        <p:blipFill>
          <a:blip r:embed="rId4"/>
          <a:stretch>
            <a:fillRect/>
          </a:stretch>
        </p:blipFill>
        <p:spPr>
          <a:xfrm>
            <a:off x="6605991" y="4411431"/>
            <a:ext cx="302849" cy="302849"/>
          </a:xfrm>
          <a:prstGeom prst="rect">
            <a:avLst/>
          </a:prstGeom>
        </p:spPr>
      </p:pic>
      <p:sp>
        <p:nvSpPr>
          <p:cNvPr id="30" name="Text 24"/>
          <p:cNvSpPr/>
          <p:nvPr/>
        </p:nvSpPr>
        <p:spPr>
          <a:xfrm>
            <a:off x="7251192" y="4306824"/>
            <a:ext cx="4114800" cy="502920"/>
          </a:xfrm>
          <a:prstGeom prst="rect">
            <a:avLst/>
          </a:prstGeom>
          <a:noFill/>
          <a:ln/>
        </p:spPr>
        <p:txBody>
          <a:bodyPr wrap="square" rtlCol="0" anchor="ctr"/>
          <a:lstStyle/>
          <a:p>
            <a:pPr indent="0" marL="0">
              <a:buNone/>
            </a:pPr>
            <a:r>
              <a:rPr lang="en-US" sz="1550" b="1" dirty="0">
                <a:solidFill>
                  <a:srgbClr val="202124"/>
                </a:solidFill>
                <a:latin typeface="Arial" pitchFamily="34" charset="0"/>
                <a:ea typeface="Arial" pitchFamily="34" charset="-122"/>
                <a:cs typeface="Arial" pitchFamily="34" charset="-120"/>
              </a:rPr>
              <a:t>Knowledge preservation</a:t>
            </a:r>
            <a:endParaRPr lang="en-US" sz="1550" dirty="0"/>
          </a:p>
        </p:txBody>
      </p:sp>
      <p:sp>
        <p:nvSpPr>
          <p:cNvPr id="31" name="Text 25"/>
          <p:cNvSpPr/>
          <p:nvPr/>
        </p:nvSpPr>
        <p:spPr>
          <a:xfrm>
            <a:off x="6446520" y="5056632"/>
            <a:ext cx="4846320" cy="914400"/>
          </a:xfrm>
          <a:prstGeom prst="rect">
            <a:avLst/>
          </a:prstGeom>
          <a:noFill/>
          <a:ln/>
        </p:spPr>
        <p:txBody>
          <a:bodyPr wrap="square" rtlCol="0" anchor="t"/>
          <a:lstStyle/>
          <a:p>
            <a:pPr indent="0" marL="0">
              <a:lnSpc>
                <a:spcPct val="112000"/>
              </a:lnSpc>
              <a:buNone/>
            </a:pPr>
            <a:r>
              <a:rPr lang="en-US" sz="1200" dirty="0">
                <a:solidFill>
                  <a:srgbClr val="5F6368"/>
                </a:solidFill>
                <a:latin typeface="Arial" pitchFamily="34" charset="0"/>
                <a:ea typeface="Arial" pitchFamily="34" charset="-122"/>
                <a:cs typeface="Arial" pitchFamily="34" charset="-120"/>
              </a:rPr>
              <a:t>Veterans retire; AI-generated specs become a permanent, person-independent knowledge base. A strong business-continuity story.</a:t>
            </a:r>
            <a:endParaRPr lang="en-US" sz="1200" dirty="0"/>
          </a:p>
        </p:txBody>
      </p:sp>
      <p:sp>
        <p:nvSpPr>
          <p:cNvPr id="32" name="Shape 26"/>
          <p:cNvSpPr/>
          <p:nvPr/>
        </p:nvSpPr>
        <p:spPr>
          <a:xfrm>
            <a:off x="640080" y="6419088"/>
            <a:ext cx="10908792" cy="0"/>
          </a:xfrm>
          <a:prstGeom prst="line">
            <a:avLst/>
          </a:prstGeom>
          <a:noFill/>
          <a:ln w="12700">
            <a:solidFill>
              <a:srgbClr val="DADCE0"/>
            </a:solidFill>
            <a:prstDash val="solid"/>
          </a:ln>
        </p:spPr>
      </p:sp>
      <p:sp>
        <p:nvSpPr>
          <p:cNvPr id="33" name="Text 27"/>
          <p:cNvSpPr/>
          <p:nvPr/>
        </p:nvSpPr>
        <p:spPr>
          <a:xfrm>
            <a:off x="640080" y="6473952"/>
            <a:ext cx="6400800" cy="274320"/>
          </a:xfrm>
          <a:prstGeom prst="rect">
            <a:avLst/>
          </a:prstGeom>
          <a:noFill/>
          <a:ln/>
        </p:spPr>
        <p:txBody>
          <a:bodyPr wrap="square" rtlCol="0" anchor="ctr"/>
          <a:lstStyle/>
          <a:p>
            <a:pPr algn="l" indent="0" marL="0">
              <a:buNone/>
            </a:pPr>
            <a:r>
              <a:rPr lang="en-US" sz="900" dirty="0">
                <a:solidFill>
                  <a:srgbClr val="5F6368"/>
                </a:solidFill>
                <a:latin typeface="Arial" pitchFamily="34" charset="0"/>
                <a:ea typeface="Arial" pitchFamily="34" charset="-122"/>
                <a:cs typeface="Arial" pitchFamily="34" charset="-120"/>
              </a:rPr>
              <a:t>Legacy Modernization Using AI</a:t>
            </a:r>
            <a:endParaRPr lang="en-US" sz="900" dirty="0"/>
          </a:p>
        </p:txBody>
      </p:sp>
      <p:sp>
        <p:nvSpPr>
          <p:cNvPr id="34" name="Text 28"/>
          <p:cNvSpPr/>
          <p:nvPr/>
        </p:nvSpPr>
        <p:spPr>
          <a:xfrm>
            <a:off x="10881360" y="6473952"/>
            <a:ext cx="667512" cy="274320"/>
          </a:xfrm>
          <a:prstGeom prst="rect">
            <a:avLst/>
          </a:prstGeom>
          <a:noFill/>
          <a:ln/>
        </p:spPr>
        <p:txBody>
          <a:bodyPr wrap="square" rtlCol="0" anchor="ctr"/>
          <a:lstStyle/>
          <a:p>
            <a:pPr algn="r" indent="0" marL="0">
              <a:buNone/>
            </a:pPr>
            <a:r>
              <a:rPr lang="en-US" sz="900" dirty="0">
                <a:solidFill>
                  <a:srgbClr val="5F6368"/>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1463040" y="1874520"/>
            <a:ext cx="9262872" cy="3108960"/>
          </a:xfrm>
          <a:prstGeom prst="roundRect">
            <a:avLst>
              <a:gd name="adj" fmla="val 2353"/>
            </a:avLst>
          </a:prstGeom>
          <a:solidFill>
            <a:srgbClr val="FFFFFF"/>
          </a:solidFill>
          <a:ln w="12700">
            <a:solidFill>
              <a:srgbClr val="DADCE0"/>
            </a:solidFill>
            <a:prstDash val="solid"/>
          </a:ln>
          <a:effectLst>
            <a:outerShdw sx="100000" sy="100000" kx="0" ky="0" algn="bl" rotWithShape="0" blurRad="88900" dist="38100" dir="5400000">
              <a:srgbClr val="000000">
                <a:alpha val="8000"/>
              </a:srgbClr>
            </a:outerShdw>
          </a:effectLst>
        </p:spPr>
      </p:sp>
      <p:sp>
        <p:nvSpPr>
          <p:cNvPr id="3" name="Shape 1"/>
          <p:cNvSpPr/>
          <p:nvPr/>
        </p:nvSpPr>
        <p:spPr>
          <a:xfrm>
            <a:off x="1463040" y="1874520"/>
            <a:ext cx="109728" cy="3108960"/>
          </a:xfrm>
          <a:prstGeom prst="rect">
            <a:avLst/>
          </a:prstGeom>
          <a:solidFill>
            <a:srgbClr val="4285F4"/>
          </a:solidFill>
          <a:ln/>
        </p:spPr>
      </p:sp>
      <p:sp>
        <p:nvSpPr>
          <p:cNvPr id="4" name="Shape 2"/>
          <p:cNvSpPr/>
          <p:nvPr/>
        </p:nvSpPr>
        <p:spPr>
          <a:xfrm>
            <a:off x="1874520" y="2240280"/>
            <a:ext cx="868680" cy="868680"/>
          </a:xfrm>
          <a:prstGeom prst="ellipse">
            <a:avLst/>
          </a:prstGeom>
          <a:solidFill>
            <a:srgbClr val="E8F0FE"/>
          </a:solidFill>
          <a:ln/>
        </p:spPr>
      </p:sp>
      <p:pic>
        <p:nvPicPr>
          <p:cNvPr id="5" name="Image 0" descr="preencoded.png">    </p:cNvPr>
          <p:cNvPicPr>
            <a:picLocks noChangeAspect="1"/>
          </p:cNvPicPr>
          <p:nvPr/>
        </p:nvPicPr>
        <p:blipFill>
          <a:blip r:embed="rId1"/>
          <a:stretch>
            <a:fillRect/>
          </a:stretch>
        </p:blipFill>
        <p:spPr>
          <a:xfrm>
            <a:off x="2109064" y="2474824"/>
            <a:ext cx="399593" cy="399593"/>
          </a:xfrm>
          <a:prstGeom prst="rect">
            <a:avLst/>
          </a:prstGeom>
        </p:spPr>
      </p:pic>
      <p:sp>
        <p:nvSpPr>
          <p:cNvPr id="6" name="Text 3"/>
          <p:cNvSpPr/>
          <p:nvPr/>
        </p:nvSpPr>
        <p:spPr>
          <a:xfrm>
            <a:off x="3017520" y="2286000"/>
            <a:ext cx="7315200" cy="320040"/>
          </a:xfrm>
          <a:prstGeom prst="rect">
            <a:avLst/>
          </a:prstGeom>
          <a:noFill/>
          <a:ln/>
        </p:spPr>
        <p:txBody>
          <a:bodyPr wrap="square" rtlCol="0" anchor="ctr"/>
          <a:lstStyle/>
          <a:p>
            <a:pPr indent="0" marL="0">
              <a:buNone/>
            </a:pPr>
            <a:r>
              <a:rPr lang="en-US" sz="1200" b="1" spc="200" kern="0" dirty="0">
                <a:solidFill>
                  <a:srgbClr val="4285F4"/>
                </a:solidFill>
                <a:latin typeface="Arial" pitchFamily="34" charset="0"/>
                <a:ea typeface="Arial" pitchFamily="34" charset="-122"/>
                <a:cs typeface="Arial" pitchFamily="34" charset="-120"/>
              </a:rPr>
              <a:t>NEXT SESSION</a:t>
            </a:r>
            <a:endParaRPr lang="en-US" sz="1200" dirty="0"/>
          </a:p>
        </p:txBody>
      </p:sp>
      <p:sp>
        <p:nvSpPr>
          <p:cNvPr id="7" name="Text 4"/>
          <p:cNvSpPr/>
          <p:nvPr/>
        </p:nvSpPr>
        <p:spPr>
          <a:xfrm>
            <a:off x="3017520" y="2606040"/>
            <a:ext cx="7406640" cy="640080"/>
          </a:xfrm>
          <a:prstGeom prst="rect">
            <a:avLst/>
          </a:prstGeom>
          <a:noFill/>
          <a:ln/>
        </p:spPr>
        <p:txBody>
          <a:bodyPr wrap="square" rtlCol="0" anchor="ctr"/>
          <a:lstStyle/>
          <a:p>
            <a:pPr indent="0" marL="0">
              <a:buNone/>
            </a:pPr>
            <a:r>
              <a:rPr lang="en-US" sz="2700" b="1" dirty="0">
                <a:solidFill>
                  <a:srgbClr val="202124"/>
                </a:solidFill>
                <a:latin typeface="Arial" pitchFamily="34" charset="0"/>
                <a:ea typeface="Arial" pitchFamily="34" charset="-122"/>
                <a:cs typeface="Arial" pitchFamily="34" charset="-120"/>
              </a:rPr>
              <a:t>Digit Code — features &amp; live demo</a:t>
            </a:r>
            <a:endParaRPr lang="en-US" sz="2700" dirty="0"/>
          </a:p>
        </p:txBody>
      </p:sp>
      <p:sp>
        <p:nvSpPr>
          <p:cNvPr id="8" name="Text 5"/>
          <p:cNvSpPr/>
          <p:nvPr/>
        </p:nvSpPr>
        <p:spPr>
          <a:xfrm>
            <a:off x="1874520" y="3611880"/>
            <a:ext cx="8503920" cy="1005840"/>
          </a:xfrm>
          <a:prstGeom prst="rect">
            <a:avLst/>
          </a:prstGeom>
          <a:noFill/>
          <a:ln/>
        </p:spPr>
        <p:txBody>
          <a:bodyPr wrap="square" rtlCol="0" anchor="t"/>
          <a:lstStyle/>
          <a:p>
            <a:pPr indent="0" marL="0">
              <a:lnSpc>
                <a:spcPct val="115000"/>
              </a:lnSpc>
              <a:buNone/>
            </a:pPr>
            <a:r>
              <a:rPr lang="en-US" sz="1450" dirty="0">
                <a:solidFill>
                  <a:srgbClr val="5F6368"/>
                </a:solidFill>
                <a:latin typeface="Arial" pitchFamily="34" charset="0"/>
                <a:ea typeface="Arial" pitchFamily="34" charset="-122"/>
                <a:cs typeface="Arial" pitchFamily="34" charset="-120"/>
              </a:rPr>
              <a:t>Tool-specific capabilities are covered in a dedicated session. Today is about the techniques and disciplines that make any tool reliable on legacy systems.</a:t>
            </a:r>
            <a:endParaRPr lang="en-US" sz="1450" dirty="0"/>
          </a:p>
        </p:txBody>
      </p:sp>
      <p:sp>
        <p:nvSpPr>
          <p:cNvPr id="9" name="Shape 6"/>
          <p:cNvSpPr/>
          <p:nvPr/>
        </p:nvSpPr>
        <p:spPr>
          <a:xfrm>
            <a:off x="1874520" y="4526280"/>
            <a:ext cx="182880" cy="182880"/>
          </a:xfrm>
          <a:prstGeom prst="ellipse">
            <a:avLst/>
          </a:prstGeom>
          <a:solidFill>
            <a:srgbClr val="4285F4"/>
          </a:solidFill>
          <a:ln/>
        </p:spPr>
      </p:sp>
      <p:sp>
        <p:nvSpPr>
          <p:cNvPr id="10" name="Shape 7"/>
          <p:cNvSpPr/>
          <p:nvPr/>
        </p:nvSpPr>
        <p:spPr>
          <a:xfrm>
            <a:off x="2167128" y="4526280"/>
            <a:ext cx="182880" cy="182880"/>
          </a:xfrm>
          <a:prstGeom prst="ellipse">
            <a:avLst/>
          </a:prstGeom>
          <a:solidFill>
            <a:srgbClr val="EA4335"/>
          </a:solidFill>
          <a:ln/>
        </p:spPr>
      </p:sp>
      <p:sp>
        <p:nvSpPr>
          <p:cNvPr id="11" name="Shape 8"/>
          <p:cNvSpPr/>
          <p:nvPr/>
        </p:nvSpPr>
        <p:spPr>
          <a:xfrm>
            <a:off x="2459736" y="4526280"/>
            <a:ext cx="182880" cy="182880"/>
          </a:xfrm>
          <a:prstGeom prst="ellipse">
            <a:avLst/>
          </a:prstGeom>
          <a:solidFill>
            <a:srgbClr val="FBBC04"/>
          </a:solidFill>
          <a:ln/>
        </p:spPr>
      </p:sp>
      <p:sp>
        <p:nvSpPr>
          <p:cNvPr id="12" name="Shape 9"/>
          <p:cNvSpPr/>
          <p:nvPr/>
        </p:nvSpPr>
        <p:spPr>
          <a:xfrm>
            <a:off x="2752344" y="4526280"/>
            <a:ext cx="182880" cy="182880"/>
          </a:xfrm>
          <a:prstGeom prst="ellipse">
            <a:avLst/>
          </a:prstGeom>
          <a:solidFill>
            <a:srgbClr val="34A853"/>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0" y="0"/>
            <a:ext cx="3047924" cy="292608"/>
          </a:xfrm>
          <a:prstGeom prst="rect">
            <a:avLst/>
          </a:prstGeom>
          <a:solidFill>
            <a:srgbClr val="4285F4"/>
          </a:solidFill>
          <a:ln/>
        </p:spPr>
      </p:sp>
      <p:sp>
        <p:nvSpPr>
          <p:cNvPr id="3" name="Shape 1"/>
          <p:cNvSpPr/>
          <p:nvPr/>
        </p:nvSpPr>
        <p:spPr>
          <a:xfrm>
            <a:off x="3047924" y="0"/>
            <a:ext cx="3047924" cy="292608"/>
          </a:xfrm>
          <a:prstGeom prst="rect">
            <a:avLst/>
          </a:prstGeom>
          <a:solidFill>
            <a:srgbClr val="EA4335"/>
          </a:solidFill>
          <a:ln/>
        </p:spPr>
      </p:sp>
      <p:sp>
        <p:nvSpPr>
          <p:cNvPr id="4" name="Shape 2"/>
          <p:cNvSpPr/>
          <p:nvPr/>
        </p:nvSpPr>
        <p:spPr>
          <a:xfrm>
            <a:off x="6095848" y="0"/>
            <a:ext cx="3047924" cy="292608"/>
          </a:xfrm>
          <a:prstGeom prst="rect">
            <a:avLst/>
          </a:prstGeom>
          <a:solidFill>
            <a:srgbClr val="FBBC04"/>
          </a:solidFill>
          <a:ln/>
        </p:spPr>
      </p:sp>
      <p:sp>
        <p:nvSpPr>
          <p:cNvPr id="5" name="Shape 3"/>
          <p:cNvSpPr/>
          <p:nvPr/>
        </p:nvSpPr>
        <p:spPr>
          <a:xfrm>
            <a:off x="9143771" y="0"/>
            <a:ext cx="3047924" cy="292608"/>
          </a:xfrm>
          <a:prstGeom prst="rect">
            <a:avLst/>
          </a:prstGeom>
          <a:solidFill>
            <a:srgbClr val="34A853"/>
          </a:solidFill>
          <a:ln/>
        </p:spPr>
      </p:sp>
      <p:sp>
        <p:nvSpPr>
          <p:cNvPr id="6" name="Text 4"/>
          <p:cNvSpPr/>
          <p:nvPr/>
        </p:nvSpPr>
        <p:spPr>
          <a:xfrm>
            <a:off x="822960" y="2057400"/>
            <a:ext cx="9144000" cy="365760"/>
          </a:xfrm>
          <a:prstGeom prst="rect">
            <a:avLst/>
          </a:prstGeom>
          <a:noFill/>
          <a:ln/>
        </p:spPr>
        <p:txBody>
          <a:bodyPr wrap="square" rtlCol="0" anchor="ctr"/>
          <a:lstStyle/>
          <a:p>
            <a:pPr indent="0" marL="0">
              <a:buNone/>
            </a:pPr>
            <a:r>
              <a:rPr lang="en-US" sz="1300" b="1" spc="300" kern="0" dirty="0">
                <a:solidFill>
                  <a:srgbClr val="9AA0A6"/>
                </a:solidFill>
                <a:latin typeface="Arial" pitchFamily="34" charset="0"/>
                <a:ea typeface="Arial" pitchFamily="34" charset="-122"/>
                <a:cs typeface="Arial" pitchFamily="34" charset="-120"/>
              </a:rPr>
              <a:t>IN ONE LINE</a:t>
            </a:r>
            <a:endParaRPr lang="en-US" sz="1300" dirty="0"/>
          </a:p>
        </p:txBody>
      </p:sp>
      <p:sp>
        <p:nvSpPr>
          <p:cNvPr id="7" name="Text 5"/>
          <p:cNvSpPr/>
          <p:nvPr/>
        </p:nvSpPr>
        <p:spPr>
          <a:xfrm>
            <a:off x="777240" y="2468880"/>
            <a:ext cx="10515600" cy="1828800"/>
          </a:xfrm>
          <a:prstGeom prst="rect">
            <a:avLst/>
          </a:prstGeom>
          <a:noFill/>
          <a:ln/>
        </p:spPr>
        <p:txBody>
          <a:bodyPr wrap="square" rtlCol="0" anchor="ctr"/>
          <a:lstStyle/>
          <a:p>
            <a:pPr indent="0" marL="0">
              <a:lnSpc>
                <a:spcPct val="105000"/>
              </a:lnSpc>
              <a:buNone/>
            </a:pPr>
            <a:r>
              <a:rPr lang="en-US" sz="4600" b="1" dirty="0">
                <a:solidFill>
                  <a:srgbClr val="FFFFFF"/>
                </a:solidFill>
                <a:latin typeface="Arial" pitchFamily="34" charset="0"/>
                <a:ea typeface="Arial" pitchFamily="34" charset="-122"/>
                <a:cs typeface="Arial" pitchFamily="34" charset="-120"/>
              </a:rPr>
              <a:t>AI is an accelerant.
</a:t>
            </a:r>
            <a:pPr indent="0" marL="0">
              <a:lnSpc>
                <a:spcPct val="105000"/>
              </a:lnSpc>
              <a:buNone/>
            </a:pPr>
            <a:r>
              <a:rPr lang="en-US" sz="4600" b="1" dirty="0">
                <a:solidFill>
                  <a:srgbClr val="4285F4"/>
                </a:solidFill>
                <a:latin typeface="Arial" pitchFamily="34" charset="0"/>
                <a:ea typeface="Arial" pitchFamily="34" charset="-122"/>
                <a:cs typeface="Arial" pitchFamily="34" charset="-120"/>
              </a:rPr>
              <a:t>Discipline is the engine.</a:t>
            </a:r>
            <a:endParaRPr lang="en-US" sz="4600" dirty="0"/>
          </a:p>
        </p:txBody>
      </p:sp>
      <p:sp>
        <p:nvSpPr>
          <p:cNvPr id="8" name="Text 6"/>
          <p:cNvSpPr/>
          <p:nvPr/>
        </p:nvSpPr>
        <p:spPr>
          <a:xfrm>
            <a:off x="822960" y="4434840"/>
            <a:ext cx="10058400" cy="457200"/>
          </a:xfrm>
          <a:prstGeom prst="rect">
            <a:avLst/>
          </a:prstGeom>
          <a:noFill/>
          <a:ln/>
        </p:spPr>
        <p:txBody>
          <a:bodyPr wrap="square" rtlCol="0" anchor="ctr"/>
          <a:lstStyle/>
          <a:p>
            <a:pPr indent="0" marL="0">
              <a:buNone/>
            </a:pPr>
            <a:r>
              <a:rPr lang="en-US" sz="1600" dirty="0">
                <a:solidFill>
                  <a:srgbClr val="C9CDD3"/>
                </a:solidFill>
                <a:latin typeface="Arial" pitchFamily="34" charset="0"/>
                <a:ea typeface="Arial" pitchFamily="34" charset="-122"/>
                <a:cs typeface="Arial" pitchFamily="34" charset="-120"/>
              </a:rPr>
              <a:t>Spec first  ·  verify against real signals  ·  preserve behavior  ·  keep humans as the final gate.</a:t>
            </a:r>
            <a:endParaRPr lang="en-US" sz="1600" dirty="0"/>
          </a:p>
        </p:txBody>
      </p:sp>
      <p:sp>
        <p:nvSpPr>
          <p:cNvPr id="9" name="Shape 7"/>
          <p:cNvSpPr/>
          <p:nvPr/>
        </p:nvSpPr>
        <p:spPr>
          <a:xfrm>
            <a:off x="822960" y="5074920"/>
            <a:ext cx="10515600" cy="0"/>
          </a:xfrm>
          <a:prstGeom prst="line">
            <a:avLst/>
          </a:prstGeom>
          <a:noFill/>
          <a:ln w="12700">
            <a:solidFill>
              <a:srgbClr val="3C4043"/>
            </a:solidFill>
            <a:prstDash val="solid"/>
          </a:ln>
        </p:spPr>
      </p:sp>
      <p:sp>
        <p:nvSpPr>
          <p:cNvPr id="10" name="Text 8"/>
          <p:cNvSpPr/>
          <p:nvPr/>
        </p:nvSpPr>
        <p:spPr>
          <a:xfrm>
            <a:off x="822960" y="5257800"/>
            <a:ext cx="1005840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Questions &amp; discussion</a:t>
            </a:r>
            <a:endParaRPr lang="en-US" sz="1800" dirty="0"/>
          </a:p>
        </p:txBody>
      </p:sp>
      <p:sp>
        <p:nvSpPr>
          <p:cNvPr id="11" name="Shape 9"/>
          <p:cNvSpPr/>
          <p:nvPr/>
        </p:nvSpPr>
        <p:spPr>
          <a:xfrm>
            <a:off x="822960" y="5897880"/>
            <a:ext cx="182880" cy="182880"/>
          </a:xfrm>
          <a:prstGeom prst="ellipse">
            <a:avLst/>
          </a:prstGeom>
          <a:solidFill>
            <a:srgbClr val="4285F4"/>
          </a:solidFill>
          <a:ln/>
        </p:spPr>
      </p:sp>
      <p:sp>
        <p:nvSpPr>
          <p:cNvPr id="12" name="Shape 10"/>
          <p:cNvSpPr/>
          <p:nvPr/>
        </p:nvSpPr>
        <p:spPr>
          <a:xfrm>
            <a:off x="1115568" y="5897880"/>
            <a:ext cx="182880" cy="182880"/>
          </a:xfrm>
          <a:prstGeom prst="ellipse">
            <a:avLst/>
          </a:prstGeom>
          <a:solidFill>
            <a:srgbClr val="EA4335"/>
          </a:solidFill>
          <a:ln/>
        </p:spPr>
      </p:sp>
      <p:sp>
        <p:nvSpPr>
          <p:cNvPr id="13" name="Shape 11"/>
          <p:cNvSpPr/>
          <p:nvPr/>
        </p:nvSpPr>
        <p:spPr>
          <a:xfrm>
            <a:off x="1408176" y="5897880"/>
            <a:ext cx="182880" cy="182880"/>
          </a:xfrm>
          <a:prstGeom prst="ellipse">
            <a:avLst/>
          </a:prstGeom>
          <a:solidFill>
            <a:srgbClr val="FBBC04"/>
          </a:solidFill>
          <a:ln/>
        </p:spPr>
      </p:sp>
      <p:sp>
        <p:nvSpPr>
          <p:cNvPr id="14" name="Shape 12"/>
          <p:cNvSpPr/>
          <p:nvPr/>
        </p:nvSpPr>
        <p:spPr>
          <a:xfrm>
            <a:off x="1700784" y="5897880"/>
            <a:ext cx="182880" cy="182880"/>
          </a:xfrm>
          <a:prstGeom prst="ellipse">
            <a:avLst/>
          </a:prstGeom>
          <a:solidFill>
            <a:srgbClr val="34A85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 Modernization Using AI</dc:title>
  <dc:subject>PptxGenJS Presentation</dc:subject>
  <dc:creator>Legacy Modernization Session</dc:creator>
  <cp:lastModifiedBy>Legacy Modernization Session</cp:lastModifiedBy>
  <cp:revision>1</cp:revision>
  <dcterms:created xsi:type="dcterms:W3CDTF">2026-06-16T21:02:33Z</dcterms:created>
  <dcterms:modified xsi:type="dcterms:W3CDTF">2026-06-16T21:02:33Z</dcterms:modified>
</cp:coreProperties>
</file>